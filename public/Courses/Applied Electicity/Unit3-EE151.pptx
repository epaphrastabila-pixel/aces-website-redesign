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41"/>
  </p:notesMasterIdLst>
  <p:sldIdLst>
    <p:sldId id="505" r:id="rId2"/>
    <p:sldId id="506" r:id="rId3"/>
    <p:sldId id="507" r:id="rId4"/>
    <p:sldId id="508" r:id="rId5"/>
    <p:sldId id="509" r:id="rId6"/>
    <p:sldId id="510" r:id="rId7"/>
    <p:sldId id="511" r:id="rId8"/>
    <p:sldId id="512" r:id="rId9"/>
    <p:sldId id="513" r:id="rId10"/>
    <p:sldId id="514" r:id="rId11"/>
    <p:sldId id="515" r:id="rId12"/>
    <p:sldId id="516" r:id="rId13"/>
    <p:sldId id="517" r:id="rId14"/>
    <p:sldId id="518" r:id="rId15"/>
    <p:sldId id="519" r:id="rId16"/>
    <p:sldId id="520" r:id="rId17"/>
    <p:sldId id="521" r:id="rId18"/>
    <p:sldId id="522" r:id="rId19"/>
    <p:sldId id="523" r:id="rId20"/>
    <p:sldId id="524" r:id="rId21"/>
    <p:sldId id="525" r:id="rId22"/>
    <p:sldId id="526" r:id="rId23"/>
    <p:sldId id="527" r:id="rId24"/>
    <p:sldId id="528" r:id="rId25"/>
    <p:sldId id="529" r:id="rId26"/>
    <p:sldId id="530" r:id="rId27"/>
    <p:sldId id="531" r:id="rId28"/>
    <p:sldId id="532" r:id="rId29"/>
    <p:sldId id="533" r:id="rId30"/>
    <p:sldId id="534" r:id="rId31"/>
    <p:sldId id="535" r:id="rId32"/>
    <p:sldId id="536" r:id="rId33"/>
    <p:sldId id="537" r:id="rId34"/>
    <p:sldId id="538" r:id="rId35"/>
    <p:sldId id="539" r:id="rId36"/>
    <p:sldId id="540" r:id="rId37"/>
    <p:sldId id="541" r:id="rId38"/>
    <p:sldId id="542" r:id="rId39"/>
    <p:sldId id="54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77" autoAdjust="0"/>
    <p:restoredTop sz="92190" autoAdjust="0"/>
  </p:normalViewPr>
  <p:slideViewPr>
    <p:cSldViewPr>
      <p:cViewPr varScale="1">
        <p:scale>
          <a:sx n="85" d="100"/>
          <a:sy n="85" d="100"/>
        </p:scale>
        <p:origin x="82" y="144"/>
      </p:cViewPr>
      <p:guideLst>
        <p:guide orient="horz" pos="2160"/>
        <p:guide pos="3840"/>
      </p:guideLst>
    </p:cSldViewPr>
  </p:slideViewPr>
  <p:notesTextViewPr>
    <p:cViewPr>
      <p:scale>
        <a:sx n="100" d="100"/>
        <a:sy n="100" d="100"/>
      </p:scale>
      <p:origin x="0" y="0"/>
    </p:cViewPr>
  </p:notesTextViewPr>
  <p:notesViewPr>
    <p:cSldViewPr>
      <p:cViewPr varScale="1">
        <p:scale>
          <a:sx n="49" d="100"/>
          <a:sy n="49" d="100"/>
        </p:scale>
        <p:origin x="-11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e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4" Type="http://schemas.openxmlformats.org/officeDocument/2006/relationships/image" Target="../media/image4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emf"/><Relationship Id="rId5" Type="http://schemas.openxmlformats.org/officeDocument/2006/relationships/image" Target="../media/image63.wmf"/><Relationship Id="rId4"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5" Type="http://schemas.openxmlformats.org/officeDocument/2006/relationships/image" Target="../media/image78.wmf"/><Relationship Id="rId4"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5" Type="http://schemas.openxmlformats.org/officeDocument/2006/relationships/image" Target="../media/image83.wmf"/><Relationship Id="rId4" Type="http://schemas.openxmlformats.org/officeDocument/2006/relationships/image" Target="../media/image8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5" Type="http://schemas.openxmlformats.org/officeDocument/2006/relationships/image" Target="../media/image91.wmf"/><Relationship Id="rId4" Type="http://schemas.openxmlformats.org/officeDocument/2006/relationships/image" Target="../media/image9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71800" cy="457200"/>
          </a:xfrm>
          <a:prstGeom prst="rect">
            <a:avLst/>
          </a:prstGeom>
        </p:spPr>
        <p:txBody>
          <a:bodyPr vert="horz" lIns="91436" tIns="45718" rIns="91436" bIns="45718" rtlCol="0"/>
          <a:lstStyle>
            <a:lvl1pPr algn="l">
              <a:defRPr sz="1200"/>
            </a:lvl1pPr>
          </a:lstStyle>
          <a:p>
            <a:endParaRPr lang="en-US"/>
          </a:p>
        </p:txBody>
      </p:sp>
      <p:sp>
        <p:nvSpPr>
          <p:cNvPr id="3" name="Date Placeholder 2"/>
          <p:cNvSpPr>
            <a:spLocks noGrp="1"/>
          </p:cNvSpPr>
          <p:nvPr>
            <p:ph type="dt" idx="1"/>
          </p:nvPr>
        </p:nvSpPr>
        <p:spPr>
          <a:xfrm>
            <a:off x="3884615" y="0"/>
            <a:ext cx="2971800" cy="457200"/>
          </a:xfrm>
          <a:prstGeom prst="rect">
            <a:avLst/>
          </a:prstGeom>
        </p:spPr>
        <p:txBody>
          <a:bodyPr vert="horz" lIns="91436" tIns="45718" rIns="91436" bIns="45718" rtlCol="0"/>
          <a:lstStyle>
            <a:lvl1pPr algn="r">
              <a:defRPr sz="1200"/>
            </a:lvl1pPr>
          </a:lstStyle>
          <a:p>
            <a:fld id="{C9075B04-F8B4-4231-9661-55128646DC08}" type="datetimeFigureOut">
              <a:rPr lang="en-US" smtClean="0"/>
              <a:pPr/>
              <a:t>3/18/2021</a:t>
            </a:fld>
            <a:endParaRPr lang="en-US"/>
          </a:p>
        </p:txBody>
      </p:sp>
      <p:sp>
        <p:nvSpPr>
          <p:cNvPr id="4" name="Slide Image Placeholder 3"/>
          <p:cNvSpPr>
            <a:spLocks noGrp="1" noRot="1" noChangeAspect="1"/>
          </p:cNvSpPr>
          <p:nvPr>
            <p:ph type="sldImg" idx="2"/>
          </p:nvPr>
        </p:nvSpPr>
        <p:spPr>
          <a:xfrm>
            <a:off x="382588" y="685800"/>
            <a:ext cx="6096000" cy="3429000"/>
          </a:xfrm>
          <a:prstGeom prst="rect">
            <a:avLst/>
          </a:prstGeom>
          <a:noFill/>
          <a:ln w="12700">
            <a:solidFill>
              <a:prstClr val="black"/>
            </a:solidFill>
          </a:ln>
        </p:spPr>
        <p:txBody>
          <a:bodyPr vert="horz" lIns="91436" tIns="45718" rIns="91436" bIns="45718"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36" tIns="45718" rIns="91436" bIns="457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2" y="8685213"/>
            <a:ext cx="2971800" cy="457200"/>
          </a:xfrm>
          <a:prstGeom prst="rect">
            <a:avLst/>
          </a:prstGeom>
        </p:spPr>
        <p:txBody>
          <a:bodyPr vert="horz" lIns="91436" tIns="45718" rIns="91436" bIns="45718" rtlCol="0" anchor="b"/>
          <a:lstStyle>
            <a:lvl1pPr algn="l">
              <a:defRPr sz="1200"/>
            </a:lvl1pPr>
          </a:lstStyle>
          <a:p>
            <a:endParaRPr lang="en-US"/>
          </a:p>
        </p:txBody>
      </p:sp>
      <p:sp>
        <p:nvSpPr>
          <p:cNvPr id="7" name="Slide Number Placeholder 6"/>
          <p:cNvSpPr>
            <a:spLocks noGrp="1"/>
          </p:cNvSpPr>
          <p:nvPr>
            <p:ph type="sldNum" sz="quarter" idx="5"/>
          </p:nvPr>
        </p:nvSpPr>
        <p:spPr>
          <a:xfrm>
            <a:off x="3884615" y="8685213"/>
            <a:ext cx="2971800" cy="457200"/>
          </a:xfrm>
          <a:prstGeom prst="rect">
            <a:avLst/>
          </a:prstGeom>
        </p:spPr>
        <p:txBody>
          <a:bodyPr vert="horz" lIns="91436" tIns="45718" rIns="91436" bIns="45718" rtlCol="0" anchor="b"/>
          <a:lstStyle>
            <a:lvl1pPr algn="r">
              <a:defRPr sz="1200"/>
            </a:lvl1pPr>
          </a:lstStyle>
          <a:p>
            <a:fld id="{2C95E41A-7867-4B6C-8DD9-F287DAB257E0}" type="slidenum">
              <a:rPr lang="en-US" smtClean="0"/>
              <a:pPr/>
              <a:t>‹#›</a:t>
            </a:fld>
            <a:endParaRPr lang="en-US"/>
          </a:p>
        </p:txBody>
      </p:sp>
    </p:spTree>
    <p:extLst>
      <p:ext uri="{BB962C8B-B14F-4D97-AF65-F5344CB8AC3E}">
        <p14:creationId xmlns:p14="http://schemas.microsoft.com/office/powerpoint/2010/main" val="493618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2588" y="685800"/>
            <a:ext cx="6096000" cy="3429000"/>
          </a:xfrm>
        </p:spPr>
      </p:sp>
      <p:sp>
        <p:nvSpPr>
          <p:cNvPr id="3" name="슬라이드 노트 개체 틀 2"/>
          <p:cNvSpPr>
            <a:spLocks noGrp="1"/>
          </p:cNvSpPr>
          <p:nvPr>
            <p:ph type="body" idx="1"/>
          </p:nvPr>
        </p:nvSpPr>
        <p:spPr/>
        <p:txBody>
          <a:bodyPr/>
          <a:lstStyle/>
          <a:p>
            <a:endParaRPr lang="en-US"/>
          </a:p>
        </p:txBody>
      </p:sp>
      <p:sp>
        <p:nvSpPr>
          <p:cNvPr id="4" name="슬라이드 번호 개체 틀 3"/>
          <p:cNvSpPr>
            <a:spLocks noGrp="1"/>
          </p:cNvSpPr>
          <p:nvPr>
            <p:ph type="sldNum" sz="quarter" idx="10"/>
          </p:nvPr>
        </p:nvSpPr>
        <p:spPr/>
        <p:txBody>
          <a:bodyPr/>
          <a:lstStyle/>
          <a:p>
            <a:pPr>
              <a:defRPr/>
            </a:pPr>
            <a:fld id="{A7B5DF85-C109-4F99-9C60-2DC78D1A5415}" type="slidenum">
              <a:rPr lang="ko-KR" altLang="en-US" smtClean="0">
                <a:solidFill>
                  <a:prstClr val="black"/>
                </a:solidFill>
                <a:latin typeface="맑은 고딕"/>
              </a:rPr>
              <a:pPr>
                <a:defRPr/>
              </a:pPr>
              <a:t>1</a:t>
            </a:fld>
            <a:endParaRPr lang="ko-KR" altLang="en-US" dirty="0">
              <a:solidFill>
                <a:prstClr val="black"/>
              </a:solidFill>
              <a:latin typeface="맑은 고딕"/>
            </a:endParaRPr>
          </a:p>
        </p:txBody>
      </p:sp>
    </p:spTree>
    <p:extLst>
      <p:ext uri="{BB962C8B-B14F-4D97-AF65-F5344CB8AC3E}">
        <p14:creationId xmlns:p14="http://schemas.microsoft.com/office/powerpoint/2010/main" val="1778174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1447801"/>
            <a:ext cx="10363200" cy="1470025"/>
          </a:xfrm>
        </p:spPr>
        <p:txBody>
          <a:bodyPr/>
          <a:lstStyle/>
          <a:p>
            <a:r>
              <a:rPr lang="en-US" altLang="ko-KR" smtClean="0"/>
              <a:t>Click to edit Master title style</a:t>
            </a:r>
            <a:endParaRPr lang="ko-KR" altLang="en-US"/>
          </a:p>
        </p:txBody>
      </p:sp>
      <p:sp>
        <p:nvSpPr>
          <p:cNvPr id="3" name="부제목 2"/>
          <p:cNvSpPr>
            <a:spLocks noGrp="1"/>
          </p:cNvSpPr>
          <p:nvPr>
            <p:ph type="subTitle" idx="1"/>
          </p:nvPr>
        </p:nvSpPr>
        <p:spPr>
          <a:xfrm>
            <a:off x="1828800" y="3200400"/>
            <a:ext cx="8534400" cy="9144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ko-KR" smtClean="0"/>
              <a:t>Click to edit Master subtitle style</a:t>
            </a:r>
            <a:endParaRPr lang="ko-KR" altLang="en-US"/>
          </a:p>
        </p:txBody>
      </p:sp>
      <p:sp>
        <p:nvSpPr>
          <p:cNvPr id="6" name="Rectangle 6"/>
          <p:cNvSpPr>
            <a:spLocks noGrp="1" noChangeArrowheads="1"/>
          </p:cNvSpPr>
          <p:nvPr>
            <p:ph type="sldNum" sz="quarter" idx="12"/>
          </p:nvPr>
        </p:nvSpPr>
        <p:spPr>
          <a:ln/>
        </p:spPr>
        <p:txBody>
          <a:bodyPr/>
          <a:lstStyle>
            <a:lvl1pPr>
              <a:defRPr/>
            </a:lvl1pPr>
          </a:lstStyle>
          <a:p>
            <a:pPr>
              <a:defRPr/>
            </a:pPr>
            <a:fld id="{D1AD3049-ED7B-4139-A9F3-1F5FC29486CF}" type="slidenum">
              <a:rPr lang="ko-KR" altLang="en-US">
                <a:solidFill>
                  <a:srgbClr val="000000"/>
                </a:solidFill>
              </a:rPr>
              <a:pPr>
                <a:defRPr/>
              </a:pPr>
              <a:t>‹#›</a:t>
            </a:fld>
            <a:endParaRPr lang="ko-KR" altLang="en-US" dirty="0">
              <a:solidFill>
                <a:srgbClr val="000000"/>
              </a:solidFill>
            </a:endParaRPr>
          </a:p>
        </p:txBody>
      </p:sp>
      <p:sp>
        <p:nvSpPr>
          <p:cNvPr id="7" name="부제목 2"/>
          <p:cNvSpPr txBox="1">
            <a:spLocks/>
          </p:cNvSpPr>
          <p:nvPr userDrawn="1"/>
        </p:nvSpPr>
        <p:spPr bwMode="auto">
          <a:xfrm>
            <a:off x="1930400" y="4648200"/>
            <a:ext cx="8534400"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1" fontAlgn="base" latinLnBrk="1" hangingPunct="1">
              <a:spcBef>
                <a:spcPct val="20000"/>
              </a:spcBef>
              <a:spcAft>
                <a:spcPct val="0"/>
              </a:spcAft>
              <a:buNone/>
              <a:defRPr kumimoji="1" sz="3200">
                <a:solidFill>
                  <a:schemeClr val="tx1"/>
                </a:solidFill>
                <a:latin typeface="+mn-lt"/>
                <a:ea typeface="+mn-ea"/>
                <a:cs typeface="+mn-cs"/>
              </a:defRPr>
            </a:lvl1pPr>
            <a:lvl2pPr marL="457200" indent="0" algn="ctr" rtl="0" eaLnBrk="1" fontAlgn="base" latinLnBrk="1" hangingPunct="1">
              <a:spcBef>
                <a:spcPct val="20000"/>
              </a:spcBef>
              <a:spcAft>
                <a:spcPct val="0"/>
              </a:spcAft>
              <a:buNone/>
              <a:defRPr kumimoji="1" sz="2800">
                <a:solidFill>
                  <a:schemeClr val="tx1"/>
                </a:solidFill>
                <a:latin typeface="+mn-lt"/>
                <a:ea typeface="+mn-ea"/>
              </a:defRPr>
            </a:lvl2pPr>
            <a:lvl3pPr marL="914400" indent="0" algn="ctr" rtl="0" eaLnBrk="1" fontAlgn="base" latinLnBrk="1" hangingPunct="1">
              <a:spcBef>
                <a:spcPct val="20000"/>
              </a:spcBef>
              <a:spcAft>
                <a:spcPct val="0"/>
              </a:spcAft>
              <a:buNone/>
              <a:defRPr kumimoji="1" sz="2400">
                <a:solidFill>
                  <a:schemeClr val="tx1"/>
                </a:solidFill>
                <a:latin typeface="+mn-lt"/>
                <a:ea typeface="+mn-ea"/>
              </a:defRPr>
            </a:lvl3pPr>
            <a:lvl4pPr marL="1371600" indent="0" algn="ctr" rtl="0" eaLnBrk="1" fontAlgn="base" latinLnBrk="1" hangingPunct="1">
              <a:spcBef>
                <a:spcPct val="20000"/>
              </a:spcBef>
              <a:spcAft>
                <a:spcPct val="0"/>
              </a:spcAft>
              <a:buNone/>
              <a:defRPr kumimoji="1" sz="2000">
                <a:solidFill>
                  <a:schemeClr val="tx1"/>
                </a:solidFill>
                <a:latin typeface="+mn-lt"/>
                <a:ea typeface="+mn-ea"/>
              </a:defRPr>
            </a:lvl4pPr>
            <a:lvl5pPr marL="1828800" indent="0" algn="ctr" rtl="0" eaLnBrk="1" fontAlgn="base" latinLnBrk="1" hangingPunct="1">
              <a:spcBef>
                <a:spcPct val="20000"/>
              </a:spcBef>
              <a:spcAft>
                <a:spcPct val="0"/>
              </a:spcAft>
              <a:buNone/>
              <a:defRPr kumimoji="1" sz="2000">
                <a:solidFill>
                  <a:schemeClr val="tx1"/>
                </a:solidFill>
                <a:latin typeface="+mn-lt"/>
                <a:ea typeface="+mn-ea"/>
              </a:defRPr>
            </a:lvl5pPr>
            <a:lvl6pPr marL="2286000" indent="0" algn="ctr" rtl="0" eaLnBrk="1" fontAlgn="base" latinLnBrk="1" hangingPunct="1">
              <a:spcBef>
                <a:spcPct val="20000"/>
              </a:spcBef>
              <a:spcAft>
                <a:spcPct val="0"/>
              </a:spcAft>
              <a:buNone/>
              <a:defRPr kumimoji="1" sz="2000">
                <a:solidFill>
                  <a:schemeClr val="tx1"/>
                </a:solidFill>
                <a:latin typeface="+mn-lt"/>
                <a:ea typeface="+mn-ea"/>
              </a:defRPr>
            </a:lvl6pPr>
            <a:lvl7pPr marL="2743200" indent="0" algn="ctr" rtl="0" eaLnBrk="1" fontAlgn="base" latinLnBrk="1" hangingPunct="1">
              <a:spcBef>
                <a:spcPct val="20000"/>
              </a:spcBef>
              <a:spcAft>
                <a:spcPct val="0"/>
              </a:spcAft>
              <a:buNone/>
              <a:defRPr kumimoji="1" sz="2000">
                <a:solidFill>
                  <a:schemeClr val="tx1"/>
                </a:solidFill>
                <a:latin typeface="+mn-lt"/>
                <a:ea typeface="+mn-ea"/>
              </a:defRPr>
            </a:lvl7pPr>
            <a:lvl8pPr marL="3200400" indent="0" algn="ctr" rtl="0" eaLnBrk="1" fontAlgn="base" latinLnBrk="1" hangingPunct="1">
              <a:spcBef>
                <a:spcPct val="20000"/>
              </a:spcBef>
              <a:spcAft>
                <a:spcPct val="0"/>
              </a:spcAft>
              <a:buNone/>
              <a:defRPr kumimoji="1" sz="2000">
                <a:solidFill>
                  <a:schemeClr val="tx1"/>
                </a:solidFill>
                <a:latin typeface="+mn-lt"/>
                <a:ea typeface="+mn-ea"/>
              </a:defRPr>
            </a:lvl8pPr>
            <a:lvl9pPr marL="3657600" indent="0" algn="ctr" rtl="0" eaLnBrk="1" fontAlgn="base" latinLnBrk="1" hangingPunct="1">
              <a:spcBef>
                <a:spcPct val="20000"/>
              </a:spcBef>
              <a:spcAft>
                <a:spcPct val="0"/>
              </a:spcAft>
              <a:buNone/>
              <a:defRPr kumimoji="1" sz="2000">
                <a:solidFill>
                  <a:schemeClr val="tx1"/>
                </a:solidFill>
                <a:latin typeface="+mn-lt"/>
                <a:ea typeface="+mn-ea"/>
              </a:defRPr>
            </a:lvl9pPr>
          </a:lstStyle>
          <a:p>
            <a:r>
              <a:rPr lang="en-US" altLang="ko-KR" sz="3200" kern="0" smtClean="0">
                <a:solidFill>
                  <a:srgbClr val="000000"/>
                </a:solidFill>
              </a:rPr>
              <a:t>Click to edit Master subtitle style</a:t>
            </a:r>
            <a:endParaRPr lang="ko-KR" altLang="en-US" sz="3200" kern="0">
              <a:solidFill>
                <a:srgbClr val="000000"/>
              </a:solidFill>
            </a:endParaRPr>
          </a:p>
        </p:txBody>
      </p:sp>
    </p:spTree>
    <p:extLst>
      <p:ext uri="{BB962C8B-B14F-4D97-AF65-F5344CB8AC3E}">
        <p14:creationId xmlns:p14="http://schemas.microsoft.com/office/powerpoint/2010/main" val="705413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876301" y="152400"/>
            <a:ext cx="8978900" cy="1143000"/>
          </a:xfrm>
        </p:spPr>
        <p:txBody>
          <a:bodyPr/>
          <a:lstStyle>
            <a:lvl1pPr>
              <a:defRPr>
                <a:latin typeface="Garamond" panose="02020404030301010803" pitchFamily="18" charset="0"/>
              </a:defRPr>
            </a:lvl1pPr>
          </a:lstStyle>
          <a:p>
            <a:r>
              <a:rPr lang="en-US" altLang="ko-KR" dirty="0" smtClean="0"/>
              <a:t>Click to edit Master title style</a:t>
            </a:r>
            <a:endParaRPr lang="ko-KR" altLang="en-US" dirty="0"/>
          </a:p>
        </p:txBody>
      </p:sp>
      <p:sp>
        <p:nvSpPr>
          <p:cNvPr id="3" name="내용 개체 틀 2"/>
          <p:cNvSpPr>
            <a:spLocks noGrp="1"/>
          </p:cNvSpPr>
          <p:nvPr>
            <p:ph idx="1"/>
          </p:nvPr>
        </p:nvSpPr>
        <p:spPr>
          <a:xfrm>
            <a:off x="914400" y="1403350"/>
            <a:ext cx="10363200" cy="4692650"/>
          </a:xfrm>
        </p:spPr>
        <p:txBody>
          <a:bodyPr/>
          <a:lstStyle>
            <a:lvl1pPr marL="342900" indent="-342900">
              <a:buFont typeface="Wingdings" panose="05000000000000000000" pitchFamily="2" charset="2"/>
              <a:buChar char="q"/>
              <a:defRPr>
                <a:latin typeface="Garamond" panose="02020404030301010803" pitchFamily="18" charset="0"/>
              </a:defRPr>
            </a:lvl1pPr>
            <a:lvl2pPr marL="742950" indent="-285750">
              <a:buFont typeface="Wingdings" panose="05000000000000000000" pitchFamily="2" charset="2"/>
              <a:buChar char="v"/>
              <a:defRPr>
                <a:latin typeface="Garamond" panose="02020404030301010803" pitchFamily="18" charset="0"/>
              </a:defRPr>
            </a:lvl2pPr>
            <a:lvl3pPr marL="1143000" indent="-228600">
              <a:buFont typeface="Wingdings" panose="05000000000000000000" pitchFamily="2" charset="2"/>
              <a:buChar char="Ø"/>
              <a:defRPr>
                <a:latin typeface="Garamond" panose="02020404030301010803" pitchFamily="18" charset="0"/>
              </a:defRPr>
            </a:lvl3pPr>
            <a:lvl4pPr marL="1600200" indent="-228600">
              <a:buFont typeface="Courier New" panose="02070309020205020404" pitchFamily="49" charset="0"/>
              <a:buChar char="o"/>
              <a:defRPr>
                <a:latin typeface="Garamond" panose="02020404030301010803" pitchFamily="18" charset="0"/>
              </a:defRPr>
            </a:lvl4pPr>
            <a:lvl5pPr marL="2057400" indent="-228600">
              <a:buFont typeface="Arial" panose="020B0604020202020204" pitchFamily="34" charset="0"/>
              <a:buChar char="•"/>
              <a:defRPr>
                <a:latin typeface="Garamond" panose="02020404030301010803" pitchFamily="18" charset="0"/>
              </a:defRPr>
            </a:lvl5pPr>
          </a:lstStyle>
          <a:p>
            <a:pPr lvl="0"/>
            <a:r>
              <a:rPr lang="en-US" altLang="ko-KR" dirty="0" smtClean="0"/>
              <a:t>Click to edit Master text styles</a:t>
            </a:r>
          </a:p>
          <a:p>
            <a:pPr lvl="1"/>
            <a:r>
              <a:rPr lang="en-US" altLang="ko-KR" dirty="0" smtClean="0"/>
              <a:t>Second level</a:t>
            </a:r>
          </a:p>
          <a:p>
            <a:pPr lvl="2"/>
            <a:r>
              <a:rPr lang="en-US" altLang="ko-KR" dirty="0" smtClean="0"/>
              <a:t>Third level</a:t>
            </a:r>
          </a:p>
          <a:p>
            <a:pPr lvl="3"/>
            <a:r>
              <a:rPr lang="en-US" altLang="ko-KR" dirty="0" smtClean="0"/>
              <a:t>Fourth level</a:t>
            </a:r>
          </a:p>
          <a:p>
            <a:pPr lvl="4"/>
            <a:r>
              <a:rPr lang="en-US" altLang="ko-KR" dirty="0" smtClean="0"/>
              <a:t>Fifth level</a:t>
            </a:r>
            <a:endParaRPr lang="ko-KR" altLang="en-US" dirty="0"/>
          </a:p>
        </p:txBody>
      </p:sp>
      <p:sp>
        <p:nvSpPr>
          <p:cNvPr id="6" name="Rectangle 6"/>
          <p:cNvSpPr>
            <a:spLocks noGrp="1" noChangeArrowheads="1"/>
          </p:cNvSpPr>
          <p:nvPr>
            <p:ph type="sldNum" sz="quarter" idx="12"/>
          </p:nvPr>
        </p:nvSpPr>
        <p:spPr>
          <a:ln/>
        </p:spPr>
        <p:txBody>
          <a:bodyPr/>
          <a:lstStyle>
            <a:lvl1pPr>
              <a:defRPr>
                <a:latin typeface="한컴돋움" pitchFamily="18" charset="2"/>
                <a:ea typeface="한컴돋움" pitchFamily="18" charset="2"/>
                <a:cs typeface="한컴돋움" pitchFamily="18" charset="2"/>
              </a:defRPr>
            </a:lvl1pPr>
          </a:lstStyle>
          <a:p>
            <a:pPr>
              <a:defRPr/>
            </a:pPr>
            <a:fld id="{5108976E-6AE4-44AB-8D6B-682B655BED09}" type="slidenum">
              <a:rPr lang="ko-KR" altLang="en-US" smtClean="0">
                <a:solidFill>
                  <a:srgbClr val="000000"/>
                </a:solidFill>
              </a:rPr>
              <a:pPr>
                <a:defRPr/>
              </a:pPr>
              <a:t>‹#›</a:t>
            </a:fld>
            <a:endParaRPr lang="ko-KR" altLang="en-US" dirty="0">
              <a:solidFill>
                <a:srgbClr val="000000"/>
              </a:solidFill>
            </a:endParaRPr>
          </a:p>
        </p:txBody>
      </p:sp>
    </p:spTree>
    <p:extLst>
      <p:ext uri="{BB962C8B-B14F-4D97-AF65-F5344CB8AC3E}">
        <p14:creationId xmlns:p14="http://schemas.microsoft.com/office/powerpoint/2010/main" val="217540332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bwMode="auto">
          <a:xfrm>
            <a:off x="876301" y="152400"/>
            <a:ext cx="901838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8196" name="Rectangle 3"/>
          <p:cNvSpPr>
            <a:spLocks noGrp="1" noChangeArrowheads="1"/>
          </p:cNvSpPr>
          <p:nvPr>
            <p:ph type="body" idx="1"/>
          </p:nvPr>
        </p:nvSpPr>
        <p:spPr bwMode="auto">
          <a:xfrm>
            <a:off x="914400" y="1418710"/>
            <a:ext cx="10363200" cy="46772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p>
        </p:txBody>
      </p:sp>
      <p:sp>
        <p:nvSpPr>
          <p:cNvPr id="95238"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kumimoji="0" sz="1400">
                <a:latin typeface="+mn-lt"/>
                <a:ea typeface="+mn-ea"/>
              </a:defRPr>
            </a:lvl1pPr>
          </a:lstStyle>
          <a:p>
            <a:pPr latinLnBrk="1">
              <a:defRPr/>
            </a:pPr>
            <a:fld id="{EDB87C7E-3D7E-436C-9FCA-C1D813413FB6}" type="slidenum">
              <a:rPr lang="ko-KR" altLang="en-US">
                <a:solidFill>
                  <a:srgbClr val="000000"/>
                </a:solidFill>
              </a:rPr>
              <a:pPr latinLnBrk="1">
                <a:defRPr/>
              </a:pPr>
              <a:t>‹#›</a:t>
            </a:fld>
            <a:endParaRPr lang="ko-KR" altLang="en-US" dirty="0">
              <a:solidFill>
                <a:srgbClr val="000000"/>
              </a:solidFill>
            </a:endParaRPr>
          </a:p>
        </p:txBody>
      </p:sp>
      <p:sp>
        <p:nvSpPr>
          <p:cNvPr id="95240" name="Line 8"/>
          <p:cNvSpPr>
            <a:spLocks noChangeShapeType="1"/>
          </p:cNvSpPr>
          <p:nvPr/>
        </p:nvSpPr>
        <p:spPr bwMode="auto">
          <a:xfrm>
            <a:off x="774700" y="1357313"/>
            <a:ext cx="10560051" cy="0"/>
          </a:xfrm>
          <a:prstGeom prst="line">
            <a:avLst/>
          </a:prstGeom>
          <a:noFill/>
          <a:ln w="76200">
            <a:solidFill>
              <a:srgbClr val="0099FF"/>
            </a:solidFill>
            <a:round/>
            <a:headEnd/>
            <a:tailEnd/>
          </a:ln>
          <a:effectLst/>
        </p:spPr>
        <p:txBody>
          <a:bodyPr/>
          <a:lstStyle/>
          <a:p>
            <a:pPr latinLnBrk="1">
              <a:defRPr/>
            </a:pPr>
            <a:endParaRPr lang="ko-KR" altLang="en-US" sz="1800" dirty="0">
              <a:solidFill>
                <a:srgbClr val="000000"/>
              </a:solidFill>
            </a:endParaRPr>
          </a:p>
        </p:txBody>
      </p:sp>
      <p:sp>
        <p:nvSpPr>
          <p:cNvPr id="95241" name="Line 9"/>
          <p:cNvSpPr>
            <a:spLocks noChangeShapeType="1"/>
          </p:cNvSpPr>
          <p:nvPr/>
        </p:nvSpPr>
        <p:spPr bwMode="auto">
          <a:xfrm>
            <a:off x="878418" y="6143625"/>
            <a:ext cx="10456333" cy="0"/>
          </a:xfrm>
          <a:prstGeom prst="line">
            <a:avLst/>
          </a:prstGeom>
          <a:noFill/>
          <a:ln w="57150">
            <a:solidFill>
              <a:srgbClr val="0099FF"/>
            </a:solidFill>
            <a:round/>
            <a:headEnd/>
            <a:tailEnd/>
          </a:ln>
          <a:effectLst/>
        </p:spPr>
        <p:txBody>
          <a:bodyPr/>
          <a:lstStyle/>
          <a:p>
            <a:pPr latinLnBrk="1">
              <a:defRPr/>
            </a:pPr>
            <a:endParaRPr lang="ko-KR" altLang="en-US" sz="1800" dirty="0">
              <a:solidFill>
                <a:srgbClr val="000000"/>
              </a:solidFill>
            </a:endParaRPr>
          </a:p>
        </p:txBody>
      </p:sp>
      <p:pic>
        <p:nvPicPr>
          <p:cNvPr id="8202" name="Picture 10" descr="1"/>
          <p:cNvPicPr>
            <a:picLocks noChangeAspect="1" noChangeArrowheads="1"/>
          </p:cNvPicPr>
          <p:nvPr/>
        </p:nvPicPr>
        <p:blipFill>
          <a:blip r:embed="rId4" cstate="print"/>
          <a:srcRect/>
          <a:stretch>
            <a:fillRect/>
          </a:stretch>
        </p:blipFill>
        <p:spPr bwMode="auto">
          <a:xfrm>
            <a:off x="1047751" y="6286501"/>
            <a:ext cx="2095500" cy="371475"/>
          </a:xfrm>
          <a:prstGeom prst="rect">
            <a:avLst/>
          </a:prstGeom>
          <a:noFill/>
          <a:ln w="9525">
            <a:noFill/>
            <a:miter lim="800000"/>
            <a:headEnd/>
            <a:tailEnd/>
          </a:ln>
        </p:spPr>
      </p:pic>
      <p:grpSp>
        <p:nvGrpSpPr>
          <p:cNvPr id="10" name="Group 9"/>
          <p:cNvGrpSpPr/>
          <p:nvPr userDrawn="1"/>
        </p:nvGrpSpPr>
        <p:grpSpPr>
          <a:xfrm>
            <a:off x="9894688" y="398980"/>
            <a:ext cx="2195712" cy="654095"/>
            <a:chOff x="7308304" y="11088"/>
            <a:chExt cx="1835696" cy="842466"/>
          </a:xfrm>
        </p:grpSpPr>
        <p:pic>
          <p:nvPicPr>
            <p:cNvPr id="11" name="Picture 10" descr="index.jpg"/>
            <p:cNvPicPr>
              <a:picLocks noChangeAspect="1"/>
            </p:cNvPicPr>
            <p:nvPr/>
          </p:nvPicPr>
          <p:blipFill>
            <a:blip r:embed="rId5" cstate="print"/>
            <a:stretch>
              <a:fillRect/>
            </a:stretch>
          </p:blipFill>
          <p:spPr>
            <a:xfrm>
              <a:off x="7308304" y="11088"/>
              <a:ext cx="685800" cy="762000"/>
            </a:xfrm>
            <a:prstGeom prst="rect">
              <a:avLst/>
            </a:prstGeom>
          </p:spPr>
        </p:pic>
        <p:sp>
          <p:nvSpPr>
            <p:cNvPr id="12" name="TextBox 11"/>
            <p:cNvSpPr txBox="1"/>
            <p:nvPr/>
          </p:nvSpPr>
          <p:spPr>
            <a:xfrm>
              <a:off x="7956376" y="140012"/>
              <a:ext cx="1187624" cy="713542"/>
            </a:xfrm>
            <a:prstGeom prst="rect">
              <a:avLst/>
            </a:prstGeom>
            <a:solidFill>
              <a:srgbClr val="FFFFFF"/>
            </a:solidFill>
          </p:spPr>
          <p:txBody>
            <a:bodyPr wrap="square" rtlCol="0">
              <a:spAutoFit/>
            </a:bodyPr>
            <a:lstStyle/>
            <a:p>
              <a:pPr>
                <a:defRPr/>
              </a:pPr>
              <a:r>
                <a:rPr lang="en-US" sz="1000" b="1" kern="0" dirty="0" smtClean="0">
                  <a:solidFill>
                    <a:srgbClr val="000000"/>
                  </a:solidFill>
                  <a:latin typeface="Americana XBd BT" pitchFamily="18" charset="0"/>
                </a:rPr>
                <a:t>KNUST</a:t>
              </a:r>
            </a:p>
            <a:p>
              <a:pPr>
                <a:defRPr/>
              </a:pPr>
              <a:r>
                <a:rPr lang="en-US" sz="1000" b="1" kern="0" dirty="0" smtClean="0">
                  <a:solidFill>
                    <a:srgbClr val="000000"/>
                  </a:solidFill>
                  <a:latin typeface="Americana XBd BT" pitchFamily="18" charset="0"/>
                </a:rPr>
                <a:t>Telecomm.</a:t>
              </a:r>
            </a:p>
            <a:p>
              <a:pPr>
                <a:defRPr/>
              </a:pPr>
              <a:r>
                <a:rPr lang="en-US" sz="1000" b="1" kern="0" dirty="0" smtClean="0">
                  <a:solidFill>
                    <a:srgbClr val="000000"/>
                  </a:solidFill>
                  <a:latin typeface="Americana XBd BT" pitchFamily="18" charset="0"/>
                </a:rPr>
                <a:t>Engineering</a:t>
              </a:r>
            </a:p>
          </p:txBody>
        </p:sp>
      </p:grpSp>
    </p:spTree>
    <p:extLst>
      <p:ext uri="{BB962C8B-B14F-4D97-AF65-F5344CB8AC3E}">
        <p14:creationId xmlns:p14="http://schemas.microsoft.com/office/powerpoint/2010/main" val="114272230"/>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ctr" rtl="0" eaLnBrk="1" fontAlgn="base" latinLnBrk="1" hangingPunct="1">
        <a:spcBef>
          <a:spcPct val="0"/>
        </a:spcBef>
        <a:spcAft>
          <a:spcPct val="0"/>
        </a:spcAft>
        <a:defRPr kumimoji="1" sz="4400">
          <a:solidFill>
            <a:schemeClr val="tx2"/>
          </a:solidFill>
          <a:latin typeface="+mj-lt"/>
          <a:ea typeface="+mj-ea"/>
          <a:cs typeface="+mj-cs"/>
        </a:defRPr>
      </a:lvl1pPr>
      <a:lvl2pPr algn="ctr" rtl="0" eaLnBrk="1" fontAlgn="base" latinLnBrk="1" hangingPunct="1">
        <a:spcBef>
          <a:spcPct val="0"/>
        </a:spcBef>
        <a:spcAft>
          <a:spcPct val="0"/>
        </a:spcAft>
        <a:defRPr kumimoji="1" sz="4400">
          <a:solidFill>
            <a:schemeClr val="tx2"/>
          </a:solidFill>
          <a:latin typeface="굴림" charset="-127"/>
          <a:ea typeface="굴림" charset="-127"/>
        </a:defRPr>
      </a:lvl2pPr>
      <a:lvl3pPr algn="ctr" rtl="0" eaLnBrk="1" fontAlgn="base" latinLnBrk="1" hangingPunct="1">
        <a:spcBef>
          <a:spcPct val="0"/>
        </a:spcBef>
        <a:spcAft>
          <a:spcPct val="0"/>
        </a:spcAft>
        <a:defRPr kumimoji="1" sz="4400">
          <a:solidFill>
            <a:schemeClr val="tx2"/>
          </a:solidFill>
          <a:latin typeface="굴림" charset="-127"/>
          <a:ea typeface="굴림" charset="-127"/>
        </a:defRPr>
      </a:lvl3pPr>
      <a:lvl4pPr algn="ctr" rtl="0" eaLnBrk="1" fontAlgn="base" latinLnBrk="1" hangingPunct="1">
        <a:spcBef>
          <a:spcPct val="0"/>
        </a:spcBef>
        <a:spcAft>
          <a:spcPct val="0"/>
        </a:spcAft>
        <a:defRPr kumimoji="1" sz="4400">
          <a:solidFill>
            <a:schemeClr val="tx2"/>
          </a:solidFill>
          <a:latin typeface="굴림" charset="-127"/>
          <a:ea typeface="굴림" charset="-127"/>
        </a:defRPr>
      </a:lvl4pPr>
      <a:lvl5pPr algn="ctr" rtl="0" eaLnBrk="1" fontAlgn="base" latinLnBrk="1" hangingPunct="1">
        <a:spcBef>
          <a:spcPct val="0"/>
        </a:spcBef>
        <a:spcAft>
          <a:spcPct val="0"/>
        </a:spcAft>
        <a:defRPr kumimoji="1" sz="4400">
          <a:solidFill>
            <a:schemeClr val="tx2"/>
          </a:solidFill>
          <a:latin typeface="굴림" charset="-127"/>
          <a:ea typeface="굴림" charset="-127"/>
        </a:defRPr>
      </a:lvl5pPr>
      <a:lvl6pPr marL="457200" algn="ctr" rtl="0" eaLnBrk="1" fontAlgn="base" latinLnBrk="1" hangingPunct="1">
        <a:spcBef>
          <a:spcPct val="0"/>
        </a:spcBef>
        <a:spcAft>
          <a:spcPct val="0"/>
        </a:spcAft>
        <a:defRPr kumimoji="1" sz="4400">
          <a:solidFill>
            <a:schemeClr val="tx2"/>
          </a:solidFill>
          <a:latin typeface="굴림" charset="-127"/>
          <a:ea typeface="굴림" charset="-127"/>
        </a:defRPr>
      </a:lvl6pPr>
      <a:lvl7pPr marL="914400" algn="ctr" rtl="0" eaLnBrk="1" fontAlgn="base" latinLnBrk="1" hangingPunct="1">
        <a:spcBef>
          <a:spcPct val="0"/>
        </a:spcBef>
        <a:spcAft>
          <a:spcPct val="0"/>
        </a:spcAft>
        <a:defRPr kumimoji="1" sz="4400">
          <a:solidFill>
            <a:schemeClr val="tx2"/>
          </a:solidFill>
          <a:latin typeface="굴림" charset="-127"/>
          <a:ea typeface="굴림" charset="-127"/>
        </a:defRPr>
      </a:lvl7pPr>
      <a:lvl8pPr marL="1371600" algn="ctr" rtl="0" eaLnBrk="1" fontAlgn="base" latinLnBrk="1" hangingPunct="1">
        <a:spcBef>
          <a:spcPct val="0"/>
        </a:spcBef>
        <a:spcAft>
          <a:spcPct val="0"/>
        </a:spcAft>
        <a:defRPr kumimoji="1" sz="4400">
          <a:solidFill>
            <a:schemeClr val="tx2"/>
          </a:solidFill>
          <a:latin typeface="굴림" charset="-127"/>
          <a:ea typeface="굴림" charset="-127"/>
        </a:defRPr>
      </a:lvl8pPr>
      <a:lvl9pPr marL="1828800" algn="ctr" rtl="0" eaLnBrk="1" fontAlgn="base" latinLnBrk="1" hangingPunct="1">
        <a:spcBef>
          <a:spcPct val="0"/>
        </a:spcBef>
        <a:spcAft>
          <a:spcPct val="0"/>
        </a:spcAft>
        <a:defRPr kumimoji="1" sz="4400">
          <a:solidFill>
            <a:schemeClr val="tx2"/>
          </a:solidFill>
          <a:latin typeface="굴림" charset="-127"/>
          <a:ea typeface="굴림" charset="-127"/>
        </a:defRPr>
      </a:lvl9pPr>
    </p:titleStyle>
    <p:bodyStyle>
      <a:lvl1pPr marL="342900" indent="-342900" algn="l" rtl="0" eaLnBrk="1" fontAlgn="base" latinLnBrk="1"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8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sz="2400">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20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20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4.bin"/><Relationship Id="rId10" Type="http://schemas.openxmlformats.org/officeDocument/2006/relationships/image" Target="../media/image12.wmf"/><Relationship Id="rId4" Type="http://schemas.openxmlformats.org/officeDocument/2006/relationships/image" Target="../media/image9.emf"/><Relationship Id="rId9"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5.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1.bin"/><Relationship Id="rId14" Type="http://schemas.openxmlformats.org/officeDocument/2006/relationships/image" Target="../media/image19.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3.emf"/><Relationship Id="rId5" Type="http://schemas.openxmlformats.org/officeDocument/2006/relationships/oleObject" Target="../embeddings/oleObject17.bin"/><Relationship Id="rId4" Type="http://schemas.openxmlformats.org/officeDocument/2006/relationships/image" Target="../media/image2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5.emf"/><Relationship Id="rId5" Type="http://schemas.openxmlformats.org/officeDocument/2006/relationships/oleObject" Target="../embeddings/oleObject19.bin"/><Relationship Id="rId4" Type="http://schemas.openxmlformats.org/officeDocument/2006/relationships/image" Target="../media/image24.wmf"/></Relationships>
</file>

<file path=ppt/slides/_rels/slide15.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0.wmf"/><Relationship Id="rId2" Type="http://schemas.openxmlformats.org/officeDocument/2006/relationships/slideLayout" Target="../slideLayouts/slideLayout2.xml"/><Relationship Id="rId16" Type="http://schemas.openxmlformats.org/officeDocument/2006/relationships/image" Target="../media/image32.emf"/><Relationship Id="rId1" Type="http://schemas.openxmlformats.org/officeDocument/2006/relationships/vmlDrawing" Target="../drawings/vmlDrawing9.vml"/><Relationship Id="rId6" Type="http://schemas.openxmlformats.org/officeDocument/2006/relationships/image" Target="../media/image27.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3.bin"/><Relationship Id="rId14" Type="http://schemas.openxmlformats.org/officeDocument/2006/relationships/image" Target="../media/image3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3.wmf"/><Relationship Id="rId5" Type="http://schemas.openxmlformats.org/officeDocument/2006/relationships/oleObject" Target="../embeddings/oleObject28.bin"/><Relationship Id="rId4" Type="http://schemas.openxmlformats.org/officeDocument/2006/relationships/image" Target="../media/image2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5.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32.bin"/><Relationship Id="rId14" Type="http://schemas.openxmlformats.org/officeDocument/2006/relationships/image" Target="../media/image39.wmf"/></Relationships>
</file>

<file path=ppt/slides/_rels/slide19.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1.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6.wmf"/><Relationship Id="rId5" Type="http://schemas.openxmlformats.org/officeDocument/2006/relationships/oleObject" Target="../embeddings/oleObject41.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3.bin"/></Relationships>
</file>

<file path=ppt/slides/_rels/slide21.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50.wmf"/><Relationship Id="rId5" Type="http://schemas.openxmlformats.org/officeDocument/2006/relationships/oleObject" Target="../embeddings/oleObject45.bin"/><Relationship Id="rId4" Type="http://schemas.openxmlformats.org/officeDocument/2006/relationships/image" Target="../media/image49.wmf"/></Relationships>
</file>

<file path=ppt/slides/_rels/slide22.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3.wmf"/><Relationship Id="rId5" Type="http://schemas.openxmlformats.org/officeDocument/2006/relationships/oleObject" Target="../embeddings/oleObject48.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50.bin"/></Relationships>
</file>

<file path=ppt/slides/_rels/slide23.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57.wmf"/><Relationship Id="rId5" Type="http://schemas.openxmlformats.org/officeDocument/2006/relationships/oleObject" Target="../embeddings/oleObject52.bin"/><Relationship Id="rId4" Type="http://schemas.openxmlformats.org/officeDocument/2006/relationships/image" Target="../media/image56.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0.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62.wmf"/><Relationship Id="rId4" Type="http://schemas.openxmlformats.org/officeDocument/2006/relationships/image" Target="../media/image59.wmf"/><Relationship Id="rId9" Type="http://schemas.openxmlformats.org/officeDocument/2006/relationships/oleObject" Target="../embeddings/oleObject57.bin"/><Relationship Id="rId14" Type="http://schemas.openxmlformats.org/officeDocument/2006/relationships/image" Target="../media/image64.emf"/></Relationships>
</file>

<file path=ppt/slides/_rels/slide27.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oleObject" Target="../embeddings/oleObject65.bin"/><Relationship Id="rId18" Type="http://schemas.openxmlformats.org/officeDocument/2006/relationships/image" Target="../media/image72.wmf"/><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69.wmf"/><Relationship Id="rId17" Type="http://schemas.openxmlformats.org/officeDocument/2006/relationships/oleObject" Target="../embeddings/oleObject67.bin"/><Relationship Id="rId2" Type="http://schemas.openxmlformats.org/officeDocument/2006/relationships/slideLayout" Target="../slideLayouts/slideLayout2.xml"/><Relationship Id="rId16" Type="http://schemas.openxmlformats.org/officeDocument/2006/relationships/image" Target="../media/image71.wmf"/><Relationship Id="rId1" Type="http://schemas.openxmlformats.org/officeDocument/2006/relationships/vmlDrawing" Target="../drawings/vmlDrawing18.vml"/><Relationship Id="rId6" Type="http://schemas.openxmlformats.org/officeDocument/2006/relationships/image" Target="../media/image66.wmf"/><Relationship Id="rId11" Type="http://schemas.openxmlformats.org/officeDocument/2006/relationships/oleObject" Target="../embeddings/oleObject64.bin"/><Relationship Id="rId5" Type="http://schemas.openxmlformats.org/officeDocument/2006/relationships/oleObject" Target="../embeddings/oleObject61.bin"/><Relationship Id="rId15" Type="http://schemas.openxmlformats.org/officeDocument/2006/relationships/oleObject" Target="../embeddings/oleObject66.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63.bin"/><Relationship Id="rId14" Type="http://schemas.openxmlformats.org/officeDocument/2006/relationships/image" Target="../media/image70.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73.wmf"/></Relationships>
</file>

<file path=ppt/slides/_rels/slide29.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78.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75.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77.wmf"/><Relationship Id="rId4" Type="http://schemas.openxmlformats.org/officeDocument/2006/relationships/image" Target="../media/image74.wmf"/><Relationship Id="rId9" Type="http://schemas.openxmlformats.org/officeDocument/2006/relationships/oleObject" Target="../embeddings/oleObject72.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79.wmf"/></Relationships>
</file>

<file path=ppt/slides/_rels/slide31.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0.wmf"/><Relationship Id="rId11" Type="http://schemas.openxmlformats.org/officeDocument/2006/relationships/oleObject" Target="../embeddings/oleObject79.bin"/><Relationship Id="rId5" Type="http://schemas.openxmlformats.org/officeDocument/2006/relationships/oleObject" Target="../embeddings/oleObject76.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8.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84.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85.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86.wmf"/></Relationships>
</file>

<file path=ppt/slides/_rels/slide35.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image" Target="../media/image91.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88.wmf"/><Relationship Id="rId11" Type="http://schemas.openxmlformats.org/officeDocument/2006/relationships/oleObject" Target="../embeddings/oleObject87.bin"/><Relationship Id="rId5" Type="http://schemas.openxmlformats.org/officeDocument/2006/relationships/oleObject" Target="../embeddings/oleObject84.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86.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92.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93.wmf"/></Relationships>
</file>

<file path=ppt/slides/_rels/slide38.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95.wmf"/><Relationship Id="rId5" Type="http://schemas.openxmlformats.org/officeDocument/2006/relationships/oleObject" Target="../embeddings/oleObject91.bin"/><Relationship Id="rId4" Type="http://schemas.openxmlformats.org/officeDocument/2006/relationships/image" Target="../media/image94.wmf"/></Relationships>
</file>

<file path=ppt/slides/_rels/slide39.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93.bin"/><Relationship Id="rId7"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98.wmf"/><Relationship Id="rId5" Type="http://schemas.openxmlformats.org/officeDocument/2006/relationships/oleObject" Target="../embeddings/oleObject94.bin"/><Relationship Id="rId4" Type="http://schemas.openxmlformats.org/officeDocument/2006/relationships/image" Target="../media/image9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내용 개체 틀 6"/>
          <p:cNvSpPr>
            <a:spLocks noGrp="1"/>
          </p:cNvSpPr>
          <p:nvPr>
            <p:ph idx="1"/>
          </p:nvPr>
        </p:nvSpPr>
        <p:spPr>
          <a:xfrm>
            <a:off x="1981200" y="1428736"/>
            <a:ext cx="8534400" cy="4643470"/>
          </a:xfrm>
        </p:spPr>
        <p:txBody>
          <a:bodyPr/>
          <a:lstStyle/>
          <a:p>
            <a:pPr algn="ctr">
              <a:buNone/>
            </a:pPr>
            <a:r>
              <a:rPr lang="en-US" sz="4400" dirty="0">
                <a:solidFill>
                  <a:schemeClr val="accent2"/>
                </a:solidFill>
              </a:rPr>
              <a:t>EE 151</a:t>
            </a:r>
          </a:p>
          <a:p>
            <a:pPr algn="ctr">
              <a:buNone/>
            </a:pPr>
            <a:r>
              <a:rPr lang="en-US" sz="4400" dirty="0" smtClean="0">
                <a:solidFill>
                  <a:schemeClr val="accent2"/>
                </a:solidFill>
              </a:rPr>
              <a:t>APPLIED ELECTRICITY</a:t>
            </a:r>
            <a:endParaRPr lang="en-US" sz="4400" dirty="0">
              <a:solidFill>
                <a:schemeClr val="accent2"/>
              </a:solidFill>
            </a:endParaRPr>
          </a:p>
          <a:p>
            <a:pPr algn="ctr">
              <a:buNone/>
            </a:pPr>
            <a:endParaRPr lang="en-US" altLang="ko-KR" sz="2800" dirty="0">
              <a:solidFill>
                <a:schemeClr val="accent2"/>
              </a:solidFill>
            </a:endParaRPr>
          </a:p>
          <a:p>
            <a:pPr algn="ctr">
              <a:buNone/>
            </a:pPr>
            <a:endParaRPr lang="en-US" altLang="ko-KR" sz="2800" dirty="0">
              <a:solidFill>
                <a:schemeClr val="accent2"/>
              </a:solidFill>
            </a:endParaRPr>
          </a:p>
          <a:p>
            <a:pPr algn="ctr">
              <a:buNone/>
            </a:pPr>
            <a:r>
              <a:rPr lang="en-US" altLang="ko-KR" sz="2800" dirty="0">
                <a:solidFill>
                  <a:schemeClr val="accent2"/>
                </a:solidFill>
              </a:rPr>
              <a:t>2016.09.06</a:t>
            </a:r>
          </a:p>
          <a:p>
            <a:pPr algn="ctr">
              <a:buNone/>
            </a:pPr>
            <a:endParaRPr lang="en-US" altLang="ko-KR" sz="2800" dirty="0">
              <a:solidFill>
                <a:schemeClr val="accent2"/>
              </a:solidFill>
            </a:endParaRPr>
          </a:p>
          <a:p>
            <a:pPr algn="ctr">
              <a:buNone/>
            </a:pPr>
            <a:r>
              <a:rPr lang="en-US" altLang="ko-KR" dirty="0" smtClean="0">
                <a:solidFill>
                  <a:schemeClr val="accent2"/>
                </a:solidFill>
                <a:latin typeface="Garamond" pitchFamily="18" charset="0"/>
              </a:rPr>
              <a:t>Ing. Dr. Abdul-Rahman Ahmed</a:t>
            </a:r>
            <a:endParaRPr lang="ko-KR" altLang="en-US" dirty="0">
              <a:solidFill>
                <a:schemeClr val="accent2"/>
              </a:solidFill>
              <a:latin typeface="Garamond" pitchFamily="18" charset="0"/>
            </a:endParaRPr>
          </a:p>
        </p:txBody>
      </p:sp>
    </p:spTree>
    <p:extLst>
      <p:ext uri="{BB962C8B-B14F-4D97-AF65-F5344CB8AC3E}">
        <p14:creationId xmlns:p14="http://schemas.microsoft.com/office/powerpoint/2010/main" val="30820211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457200"/>
            <a:ext cx="8978900" cy="1143000"/>
          </a:xfrm>
        </p:spPr>
        <p:txBody>
          <a:bodyPr/>
          <a:lstStyle/>
          <a:p>
            <a:r>
              <a:rPr lang="en-US" b="1" dirty="0" smtClean="0">
                <a:solidFill>
                  <a:srgbClr val="0000FF"/>
                </a:solidFill>
              </a:rPr>
              <a:t>Three-Phase Circuits</a:t>
            </a:r>
            <a:r>
              <a:rPr lang="en-US" dirty="0">
                <a:solidFill>
                  <a:srgbClr val="0070C0"/>
                </a:solidFill>
              </a:rPr>
              <a:t/>
            </a:r>
            <a:br>
              <a:rPr lang="en-US" dirty="0">
                <a:solidFill>
                  <a:srgbClr val="0070C0"/>
                </a:solidFill>
              </a:rPr>
            </a:br>
            <a:endParaRPr lang="en-US" dirty="0"/>
          </a:p>
        </p:txBody>
      </p:sp>
      <p:sp>
        <p:nvSpPr>
          <p:cNvPr id="3" name="Content Placeholder 2"/>
          <p:cNvSpPr>
            <a:spLocks noGrp="1"/>
          </p:cNvSpPr>
          <p:nvPr>
            <p:ph idx="1"/>
          </p:nvPr>
        </p:nvSpPr>
        <p:spPr>
          <a:xfrm>
            <a:off x="914400" y="1403350"/>
            <a:ext cx="10363200" cy="5226050"/>
          </a:xfrm>
        </p:spPr>
        <p:txBody>
          <a:bodyPr/>
          <a:lstStyle/>
          <a:p>
            <a:pPr marL="287338" indent="-287338" algn="just">
              <a:buFont typeface="Wingdings" pitchFamily="2" charset="2"/>
              <a:buChar char="v"/>
            </a:pPr>
            <a:r>
              <a:rPr lang="en-US" sz="2000" dirty="0">
                <a:solidFill>
                  <a:srgbClr val="0000FF"/>
                </a:solidFill>
              </a:rPr>
              <a:t>A single-phase generator produces a single sinusoidal voltage. </a:t>
            </a:r>
          </a:p>
          <a:p>
            <a:pPr marL="287338" indent="-287338" algn="just">
              <a:buFont typeface="Wingdings" pitchFamily="2" charset="2"/>
              <a:buChar char="v"/>
            </a:pPr>
            <a:r>
              <a:rPr lang="en-US" sz="2000" dirty="0">
                <a:solidFill>
                  <a:srgbClr val="0000FF"/>
                </a:solidFill>
              </a:rPr>
              <a:t>A 3-phase generator on the other hand produces three equal voltages which are out of phase with one another by 120</a:t>
            </a:r>
            <a:r>
              <a:rPr lang="en-US" sz="2000" baseline="30000" dirty="0">
                <a:solidFill>
                  <a:srgbClr val="0000FF"/>
                </a:solidFill>
              </a:rPr>
              <a:t>o</a:t>
            </a:r>
            <a:r>
              <a:rPr lang="en-US" sz="2000" dirty="0">
                <a:solidFill>
                  <a:srgbClr val="0000FF"/>
                </a:solidFill>
              </a:rPr>
              <a:t>. </a:t>
            </a:r>
          </a:p>
          <a:p>
            <a:pPr marL="287338" indent="-287338" algn="just">
              <a:buFont typeface="Wingdings" pitchFamily="2" charset="2"/>
              <a:buChar char="v"/>
            </a:pPr>
            <a:r>
              <a:rPr lang="en-US" sz="2000" dirty="0">
                <a:solidFill>
                  <a:srgbClr val="0000FF"/>
                </a:solidFill>
              </a:rPr>
              <a:t>The three voltages are generated in three separate windings arranged in a special way in the machine.</a:t>
            </a:r>
          </a:p>
          <a:p>
            <a:pPr marL="287338" indent="-287338" algn="just">
              <a:buFont typeface="Wingdings" pitchFamily="2" charset="2"/>
              <a:buChar char="v"/>
            </a:pPr>
            <a:r>
              <a:rPr lang="en-US" sz="2000" dirty="0">
                <a:solidFill>
                  <a:srgbClr val="0000FF"/>
                </a:solidFill>
              </a:rPr>
              <a:t>A  3-phase system is a power supply system consisting of three voltages which are 120</a:t>
            </a:r>
            <a:r>
              <a:rPr lang="en-US" sz="2000" baseline="30000" dirty="0">
                <a:solidFill>
                  <a:srgbClr val="0000FF"/>
                </a:solidFill>
              </a:rPr>
              <a:t>o</a:t>
            </a:r>
            <a:r>
              <a:rPr lang="en-US" sz="2000" dirty="0">
                <a:solidFill>
                  <a:srgbClr val="0000FF"/>
                </a:solidFill>
              </a:rPr>
              <a:t> </a:t>
            </a:r>
            <a:r>
              <a:rPr lang="en-US" sz="2000" dirty="0" smtClean="0">
                <a:solidFill>
                  <a:srgbClr val="0000FF"/>
                </a:solidFill>
              </a:rPr>
              <a:t>out  </a:t>
            </a:r>
            <a:r>
              <a:rPr lang="en-US" sz="2000" dirty="0">
                <a:solidFill>
                  <a:srgbClr val="0000FF"/>
                </a:solidFill>
              </a:rPr>
              <a:t>of phase with one another.</a:t>
            </a:r>
          </a:p>
          <a:p>
            <a:pPr marL="287338" indent="-287338" algn="just">
              <a:buFont typeface="Wingdings" pitchFamily="2" charset="2"/>
              <a:buChar char="v"/>
            </a:pPr>
            <a:r>
              <a:rPr lang="en-US" sz="2000" dirty="0">
                <a:solidFill>
                  <a:srgbClr val="0000FF"/>
                </a:solidFill>
              </a:rPr>
              <a:t>Three-phase systems have the following advantages </a:t>
            </a:r>
            <a:r>
              <a:rPr lang="en-US" sz="2000">
                <a:solidFill>
                  <a:srgbClr val="0000FF"/>
                </a:solidFill>
              </a:rPr>
              <a:t>over </a:t>
            </a:r>
            <a:r>
              <a:rPr lang="en-US" sz="2000" smtClean="0">
                <a:solidFill>
                  <a:srgbClr val="0000FF"/>
                </a:solidFill>
              </a:rPr>
              <a:t>single </a:t>
            </a:r>
            <a:r>
              <a:rPr lang="en-US" sz="2000" dirty="0">
                <a:solidFill>
                  <a:srgbClr val="0000FF"/>
                </a:solidFill>
              </a:rPr>
              <a:t>phase systems</a:t>
            </a:r>
          </a:p>
          <a:p>
            <a:pPr marL="566738" indent="-219075" algn="just"/>
            <a:r>
              <a:rPr lang="en-US" sz="2000" dirty="0">
                <a:solidFill>
                  <a:srgbClr val="0000FF"/>
                </a:solidFill>
              </a:rPr>
              <a:t>Three-phase motors, generators and transformers are simpler, cheaper and more efficient</a:t>
            </a:r>
          </a:p>
          <a:p>
            <a:pPr marL="512763" indent="-220663" algn="just"/>
            <a:r>
              <a:rPr lang="en-US" sz="2000" dirty="0">
                <a:solidFill>
                  <a:srgbClr val="0000FF"/>
                </a:solidFill>
              </a:rPr>
              <a:t>Three-phase transmission lines can deliver more power for a given weight and cost</a:t>
            </a:r>
          </a:p>
          <a:p>
            <a:pPr marL="512763" indent="-220663" algn="just"/>
            <a:r>
              <a:rPr lang="en-US" sz="2000" dirty="0">
                <a:solidFill>
                  <a:srgbClr val="0000FF"/>
                </a:solidFill>
              </a:rPr>
              <a:t>The voltage regulation of three-phase transmission lines is inherently better</a:t>
            </a:r>
          </a:p>
          <a:p>
            <a:pPr marL="287338" indent="-287338" algn="just">
              <a:buFont typeface="Wingdings" pitchFamily="2" charset="2"/>
              <a:buChar char="v"/>
            </a:pPr>
            <a:r>
              <a:rPr lang="en-US" sz="2000" dirty="0">
                <a:solidFill>
                  <a:srgbClr val="0000FF"/>
                </a:solidFill>
              </a:rPr>
              <a:t>A 1-phase supply can be obtained from a 3-phase one</a:t>
            </a:r>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a:t>
            </a:fld>
            <a:endParaRPr lang="ko-KR" altLang="en-US" dirty="0">
              <a:solidFill>
                <a:srgbClr val="000000"/>
              </a:solidFill>
            </a:endParaRPr>
          </a:p>
        </p:txBody>
      </p:sp>
    </p:spTree>
    <p:extLst>
      <p:ext uri="{BB962C8B-B14F-4D97-AF65-F5344CB8AC3E}">
        <p14:creationId xmlns:p14="http://schemas.microsoft.com/office/powerpoint/2010/main" val="36578132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solidFill>
              </a:rPr>
              <a:t>3-Phase Winding</a:t>
            </a:r>
            <a:endParaRPr lang="en-US" b="1"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a:t>
            </a:fld>
            <a:endParaRPr lang="ko-KR" altLang="en-US" dirty="0">
              <a:solidFill>
                <a:srgbClr val="000000"/>
              </a:solidFill>
            </a:endParaRPr>
          </a:p>
        </p:txBody>
      </p:sp>
      <p:pic>
        <p:nvPicPr>
          <p:cNvPr id="5" name="Picture 2"/>
          <p:cNvPicPr>
            <a:picLocks noChangeAspect="1" noChangeArrowheads="1"/>
          </p:cNvPicPr>
          <p:nvPr/>
        </p:nvPicPr>
        <p:blipFill>
          <a:blip r:embed="rId2"/>
          <a:srcRect/>
          <a:stretch>
            <a:fillRect/>
          </a:stretch>
        </p:blipFill>
        <p:spPr bwMode="auto">
          <a:xfrm>
            <a:off x="1738812" y="1403350"/>
            <a:ext cx="8153400" cy="4464050"/>
          </a:xfrm>
          <a:prstGeom prst="rect">
            <a:avLst/>
          </a:prstGeom>
          <a:noFill/>
          <a:ln w="9525">
            <a:noFill/>
            <a:miter lim="800000"/>
            <a:headEnd/>
            <a:tailEnd/>
          </a:ln>
          <a:effectLst/>
        </p:spPr>
      </p:pic>
    </p:spTree>
    <p:extLst>
      <p:ext uri="{BB962C8B-B14F-4D97-AF65-F5344CB8AC3E}">
        <p14:creationId xmlns:p14="http://schemas.microsoft.com/office/powerpoint/2010/main" val="28907150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solidFill>
              </a:rPr>
              <a:t>Examples: 33 kV Transmission </a:t>
            </a:r>
            <a:br>
              <a:rPr lang="en-US" b="1" dirty="0" smtClean="0">
                <a:solidFill>
                  <a:schemeClr val="accent2"/>
                </a:solidFill>
              </a:rPr>
            </a:br>
            <a:r>
              <a:rPr lang="en-US" b="1" dirty="0" smtClean="0">
                <a:solidFill>
                  <a:schemeClr val="accent2"/>
                </a:solidFill>
              </a:rPr>
              <a:t>(GRIDCO)</a:t>
            </a:r>
            <a:endParaRPr lang="en-US" b="1" dirty="0">
              <a:solidFill>
                <a:schemeClr val="accent2"/>
              </a:solidFill>
            </a:endParaRPr>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4</a:t>
            </a:fld>
            <a:endParaRPr lang="ko-KR" altLang="en-US" dirty="0">
              <a:solidFill>
                <a:srgbClr val="000000"/>
              </a:solidFill>
            </a:endParaRPr>
          </a:p>
        </p:txBody>
      </p:sp>
      <p:pic>
        <p:nvPicPr>
          <p:cNvPr id="5" name="Picture 2"/>
          <p:cNvPicPr>
            <a:picLocks noGrp="1" noChangeAspect="1" noChangeArrowheads="1"/>
          </p:cNvPicPr>
          <p:nvPr>
            <p:ph idx="1"/>
          </p:nvPr>
        </p:nvPicPr>
        <p:blipFill>
          <a:blip r:embed="rId2"/>
          <a:srcRect/>
          <a:stretch>
            <a:fillRect/>
          </a:stretch>
        </p:blipFill>
        <p:spPr bwMode="auto">
          <a:xfrm>
            <a:off x="1676400" y="1409863"/>
            <a:ext cx="8686800" cy="4609937"/>
          </a:xfrm>
          <a:prstGeom prst="rect">
            <a:avLst/>
          </a:prstGeom>
          <a:noFill/>
          <a:ln w="9525">
            <a:noFill/>
            <a:miter lim="800000"/>
            <a:headEnd/>
            <a:tailEnd/>
          </a:ln>
          <a:effectLst/>
        </p:spPr>
      </p:pic>
    </p:spTree>
    <p:extLst>
      <p:ext uri="{BB962C8B-B14F-4D97-AF65-F5344CB8AC3E}">
        <p14:creationId xmlns:p14="http://schemas.microsoft.com/office/powerpoint/2010/main" val="35908879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rPr>
              <a:t>Examples: </a:t>
            </a:r>
            <a:r>
              <a:rPr lang="en-US" b="1" smtClean="0">
                <a:solidFill>
                  <a:schemeClr val="accent2"/>
                </a:solidFill>
              </a:rPr>
              <a:t>11 kV </a:t>
            </a:r>
            <a:r>
              <a:rPr lang="en-US" b="1" dirty="0" smtClean="0">
                <a:solidFill>
                  <a:schemeClr val="accent2"/>
                </a:solidFill>
              </a:rPr>
              <a:t>Distribution </a:t>
            </a:r>
            <a:r>
              <a:rPr lang="en-US" b="1" dirty="0">
                <a:solidFill>
                  <a:schemeClr val="accent2"/>
                </a:solidFill>
              </a:rPr>
              <a:t/>
            </a:r>
            <a:br>
              <a:rPr lang="en-US" b="1" dirty="0">
                <a:solidFill>
                  <a:schemeClr val="accent2"/>
                </a:solidFill>
              </a:rPr>
            </a:br>
            <a:r>
              <a:rPr lang="en-US" b="1" dirty="0" smtClean="0">
                <a:solidFill>
                  <a:schemeClr val="accent2"/>
                </a:solidFill>
              </a:rPr>
              <a:t>(ECG)</a:t>
            </a:r>
            <a:endParaRPr lang="en-US" b="1"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5</a:t>
            </a:fld>
            <a:endParaRPr lang="ko-KR" altLang="en-US" dirty="0">
              <a:solidFill>
                <a:srgbClr val="000000"/>
              </a:solidFill>
            </a:endParaRPr>
          </a:p>
        </p:txBody>
      </p:sp>
      <p:pic>
        <p:nvPicPr>
          <p:cNvPr id="5" name="Picture 1" descr="C:\Users\Emmanuel Frimpong\Pictures\Applied electricity\image 1.jpg"/>
          <p:cNvPicPr>
            <a:picLocks noGrp="1" noChangeAspect="1" noChangeArrowheads="1"/>
          </p:cNvPicPr>
          <p:nvPr>
            <p:ph idx="1"/>
          </p:nvPr>
        </p:nvPicPr>
        <p:blipFill>
          <a:blip r:embed="rId2"/>
          <a:srcRect/>
          <a:stretch>
            <a:fillRect/>
          </a:stretch>
        </p:blipFill>
        <p:spPr bwMode="auto">
          <a:xfrm>
            <a:off x="1143000" y="1524000"/>
            <a:ext cx="9829800" cy="4571999"/>
          </a:xfrm>
          <a:prstGeom prst="rect">
            <a:avLst/>
          </a:prstGeom>
          <a:noFill/>
        </p:spPr>
      </p:pic>
    </p:spTree>
    <p:extLst>
      <p:ext uri="{BB962C8B-B14F-4D97-AF65-F5344CB8AC3E}">
        <p14:creationId xmlns:p14="http://schemas.microsoft.com/office/powerpoint/2010/main" val="3503193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2"/>
                </a:solidFill>
              </a:rPr>
              <a:t>Examples</a:t>
            </a:r>
            <a:r>
              <a:rPr lang="en-US" b="1">
                <a:solidFill>
                  <a:schemeClr val="accent2"/>
                </a:solidFill>
              </a:rPr>
              <a:t>: </a:t>
            </a:r>
            <a:r>
              <a:rPr lang="en-US" b="1" smtClean="0">
                <a:solidFill>
                  <a:schemeClr val="accent2"/>
                </a:solidFill>
              </a:rPr>
              <a:t>415 </a:t>
            </a:r>
            <a:r>
              <a:rPr lang="en-US" b="1" dirty="0" smtClean="0">
                <a:solidFill>
                  <a:schemeClr val="accent2"/>
                </a:solidFill>
              </a:rPr>
              <a:t>V to Customers</a:t>
            </a:r>
            <a:r>
              <a:rPr lang="en-US" b="1" dirty="0">
                <a:solidFill>
                  <a:schemeClr val="accent2"/>
                </a:solidFill>
              </a:rPr>
              <a:t/>
            </a:r>
            <a:br>
              <a:rPr lang="en-US" b="1" dirty="0">
                <a:solidFill>
                  <a:schemeClr val="accent2"/>
                </a:solidFill>
              </a:rPr>
            </a:br>
            <a:r>
              <a:rPr lang="en-US" b="1" dirty="0" smtClean="0">
                <a:solidFill>
                  <a:schemeClr val="accent2"/>
                </a:solidFill>
              </a:rPr>
              <a:t>(ECG)</a:t>
            </a:r>
            <a:endParaRPr lang="en-US" b="1"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6</a:t>
            </a:fld>
            <a:endParaRPr lang="ko-KR" altLang="en-US" dirty="0">
              <a:solidFill>
                <a:srgbClr val="000000"/>
              </a:solidFill>
            </a:endParaRPr>
          </a:p>
        </p:txBody>
      </p:sp>
      <p:pic>
        <p:nvPicPr>
          <p:cNvPr id="5" name="Content Placeholder 4"/>
          <p:cNvPicPr>
            <a:picLocks noGrp="1" noChangeAspect="1" noChangeArrowheads="1"/>
          </p:cNvPicPr>
          <p:nvPr>
            <p:ph idx="1"/>
          </p:nvPr>
        </p:nvPicPr>
        <p:blipFill>
          <a:blip r:embed="rId2"/>
          <a:srcRect/>
          <a:stretch>
            <a:fillRect/>
          </a:stretch>
        </p:blipFill>
        <p:spPr bwMode="auto">
          <a:xfrm>
            <a:off x="1447800" y="1600200"/>
            <a:ext cx="9143999" cy="4419600"/>
          </a:xfrm>
          <a:prstGeom prst="rect">
            <a:avLst/>
          </a:prstGeom>
          <a:noFill/>
          <a:ln w="9525">
            <a:noFill/>
            <a:miter lim="800000"/>
            <a:headEnd/>
            <a:tailEnd/>
          </a:ln>
          <a:effectLst/>
        </p:spPr>
      </p:pic>
    </p:spTree>
    <p:extLst>
      <p:ext uri="{BB962C8B-B14F-4D97-AF65-F5344CB8AC3E}">
        <p14:creationId xmlns:p14="http://schemas.microsoft.com/office/powerpoint/2010/main" val="11739364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400" dirty="0">
                <a:solidFill>
                  <a:srgbClr val="0000FF"/>
                </a:solidFill>
              </a:rPr>
              <a:t>The two main connections of three-phase windings</a:t>
            </a:r>
          </a:p>
          <a:p>
            <a:pPr marL="695325" indent="-349250" algn="just">
              <a:lnSpc>
                <a:spcPct val="120000"/>
              </a:lnSpc>
              <a:buFont typeface="+mj-lt"/>
              <a:buAutoNum type="arabicPeriod"/>
            </a:pPr>
            <a:r>
              <a:rPr lang="en-US" sz="2400" dirty="0">
                <a:solidFill>
                  <a:srgbClr val="0000FF"/>
                </a:solidFill>
              </a:rPr>
              <a:t>A star arrangement where all winding have a common point</a:t>
            </a:r>
          </a:p>
          <a:p>
            <a:pPr marL="622300" indent="-274638" algn="just">
              <a:lnSpc>
                <a:spcPct val="120000"/>
              </a:lnSpc>
            </a:pPr>
            <a:endParaRPr lang="en-US" sz="9600" b="1"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7</a:t>
            </a:fld>
            <a:endParaRPr lang="ko-KR" altLang="en-US" dirty="0">
              <a:solidFill>
                <a:srgbClr val="000000"/>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795685733"/>
              </p:ext>
            </p:extLst>
          </p:nvPr>
        </p:nvGraphicFramePr>
        <p:xfrm>
          <a:off x="2514600" y="2410493"/>
          <a:ext cx="6096000" cy="2514600"/>
        </p:xfrm>
        <a:graphic>
          <a:graphicData uri="http://schemas.openxmlformats.org/presentationml/2006/ole">
            <mc:AlternateContent xmlns:mc="http://schemas.openxmlformats.org/markup-compatibility/2006">
              <mc:Choice xmlns:v="urn:schemas-microsoft-com:vml" Requires="v">
                <p:oleObj spid="_x0000_s662540" name="Visio" r:id="rId3" imgW="3009841" imgH="2103592" progId="Visio.Drawing.11">
                  <p:embed/>
                </p:oleObj>
              </mc:Choice>
              <mc:Fallback>
                <p:oleObj name="Visio" r:id="rId3" imgW="3009841" imgH="2103592" progId="Visio.Drawing.11">
                  <p:embed/>
                  <p:pic>
                    <p:nvPicPr>
                      <p:cNvPr id="2990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410493"/>
                        <a:ext cx="6096000" cy="2514600"/>
                      </a:xfrm>
                      <a:prstGeom prst="rect">
                        <a:avLst/>
                      </a:prstGeom>
                      <a:noFill/>
                      <a:ln>
                        <a:noFill/>
                      </a:ln>
                      <a:effectLst/>
                      <a:extLst/>
                    </p:spPr>
                  </p:pic>
                </p:oleObj>
              </mc:Fallback>
            </mc:AlternateContent>
          </a:graphicData>
        </a:graphic>
      </p:graphicFrame>
      <p:sp>
        <p:nvSpPr>
          <p:cNvPr id="7" name="Rectangle 6"/>
          <p:cNvSpPr/>
          <p:nvPr/>
        </p:nvSpPr>
        <p:spPr>
          <a:xfrm>
            <a:off x="990600" y="5082671"/>
            <a:ext cx="10134600" cy="978729"/>
          </a:xfrm>
          <a:prstGeom prst="rect">
            <a:avLst/>
          </a:prstGeom>
        </p:spPr>
        <p:txBody>
          <a:bodyPr wrap="square">
            <a:spAutoFit/>
          </a:bodyPr>
          <a:lstStyle/>
          <a:p>
            <a:pPr marL="969963" indent="-274638">
              <a:lnSpc>
                <a:spcPct val="120000"/>
              </a:lnSpc>
              <a:buFont typeface="Wingdings" pitchFamily="2" charset="2"/>
              <a:buChar char="q"/>
            </a:pPr>
            <a:r>
              <a:rPr lang="en-US" sz="2400" dirty="0">
                <a:solidFill>
                  <a:srgbClr val="0000FF"/>
                </a:solidFill>
              </a:rPr>
              <a:t>Letters a, b and c , colours red (R), yellow(Y) </a:t>
            </a:r>
            <a:r>
              <a:rPr lang="en-US" sz="2400" dirty="0" smtClean="0">
                <a:solidFill>
                  <a:srgbClr val="0000FF"/>
                </a:solidFill>
              </a:rPr>
              <a:t>and </a:t>
            </a:r>
            <a:r>
              <a:rPr lang="en-US" sz="2400" dirty="0">
                <a:solidFill>
                  <a:srgbClr val="0000FF"/>
                </a:solidFill>
              </a:rPr>
              <a:t>blue (B) or numbers 1, 2 and 3  </a:t>
            </a:r>
            <a:r>
              <a:rPr lang="en-US" sz="2400" dirty="0" smtClean="0">
                <a:solidFill>
                  <a:srgbClr val="0000FF"/>
                </a:solidFill>
              </a:rPr>
              <a:t>are </a:t>
            </a:r>
            <a:r>
              <a:rPr lang="en-US" sz="2400" dirty="0">
                <a:solidFill>
                  <a:srgbClr val="0000FF"/>
                </a:solidFill>
              </a:rPr>
              <a:t>used to name the windings </a:t>
            </a:r>
          </a:p>
        </p:txBody>
      </p:sp>
    </p:spTree>
    <p:extLst>
      <p:ext uri="{BB962C8B-B14F-4D97-AF65-F5344CB8AC3E}">
        <p14:creationId xmlns:p14="http://schemas.microsoft.com/office/powerpoint/2010/main" val="237570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par>
                                <p:cTn id="16" presetID="6" presetClass="entr" presetSubtype="16" fill="hold"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circle(in)">
                                      <p:cBhvr>
                                        <p:cTn id="1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FF"/>
                </a:solidFill>
              </a:rPr>
              <a:t> Three-phase Circuits</a:t>
            </a:r>
            <a:endParaRPr lang="en-US" dirty="0"/>
          </a:p>
        </p:txBody>
      </p:sp>
      <p:sp>
        <p:nvSpPr>
          <p:cNvPr id="3" name="Content Placeholder 2"/>
          <p:cNvSpPr>
            <a:spLocks noGrp="1"/>
          </p:cNvSpPr>
          <p:nvPr>
            <p:ph idx="1"/>
          </p:nvPr>
        </p:nvSpPr>
        <p:spPr/>
        <p:txBody>
          <a:bodyPr/>
          <a:lstStyle/>
          <a:p>
            <a:pPr marL="0" indent="0">
              <a:buNone/>
            </a:pPr>
            <a:r>
              <a:rPr lang="en-US" sz="2800" dirty="0" smtClean="0">
                <a:solidFill>
                  <a:srgbClr val="0000FF"/>
                </a:solidFill>
              </a:rPr>
              <a:t>2. A </a:t>
            </a:r>
            <a:r>
              <a:rPr lang="en-US" sz="2800" dirty="0">
                <a:solidFill>
                  <a:srgbClr val="0000FF"/>
                </a:solidFill>
              </a:rPr>
              <a:t>delta arrangement where all winding are connected to each other</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8</a:t>
            </a:fld>
            <a:endParaRPr lang="ko-KR" altLang="en-US" dirty="0">
              <a:solidFill>
                <a:srgbClr val="000000"/>
              </a:solidFill>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3351061906"/>
              </p:ext>
            </p:extLst>
          </p:nvPr>
        </p:nvGraphicFramePr>
        <p:xfrm>
          <a:off x="2743200" y="1905000"/>
          <a:ext cx="5867400" cy="2819400"/>
        </p:xfrm>
        <a:graphic>
          <a:graphicData uri="http://schemas.openxmlformats.org/presentationml/2006/ole">
            <mc:AlternateContent xmlns:mc="http://schemas.openxmlformats.org/markup-compatibility/2006">
              <mc:Choice xmlns:v="urn:schemas-microsoft-com:vml" Requires="v">
                <p:oleObj spid="_x0000_s663564" name="Visio" r:id="rId3" imgW="2570917" imgH="1600706" progId="Visio.Drawing.11">
                  <p:embed/>
                </p:oleObj>
              </mc:Choice>
              <mc:Fallback>
                <p:oleObj name="Visio" r:id="rId3" imgW="2570917" imgH="1600706" progId="Visio.Drawing.11">
                  <p:embed/>
                  <p:pic>
                    <p:nvPicPr>
                      <p:cNvPr id="3010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905000"/>
                        <a:ext cx="5867400" cy="2819400"/>
                      </a:xfrm>
                      <a:prstGeom prst="rect">
                        <a:avLst/>
                      </a:prstGeom>
                      <a:noFill/>
                      <a:ln>
                        <a:noFill/>
                      </a:ln>
                      <a:effectLst/>
                      <a:extLst/>
                    </p:spPr>
                  </p:pic>
                </p:oleObj>
              </mc:Fallback>
            </mc:AlternateContent>
          </a:graphicData>
        </a:graphic>
      </p:graphicFrame>
      <p:sp>
        <p:nvSpPr>
          <p:cNvPr id="7" name="Rectangle 6"/>
          <p:cNvSpPr/>
          <p:nvPr/>
        </p:nvSpPr>
        <p:spPr>
          <a:xfrm>
            <a:off x="876300" y="4989054"/>
            <a:ext cx="10706099" cy="1126462"/>
          </a:xfrm>
          <a:prstGeom prst="rect">
            <a:avLst/>
          </a:prstGeom>
        </p:spPr>
        <p:txBody>
          <a:bodyPr wrap="square">
            <a:spAutoFit/>
          </a:bodyPr>
          <a:lstStyle/>
          <a:p>
            <a:pPr marL="969963" indent="-274638">
              <a:lnSpc>
                <a:spcPct val="120000"/>
              </a:lnSpc>
              <a:buFont typeface="Wingdings" pitchFamily="2" charset="2"/>
              <a:buChar char="q"/>
            </a:pPr>
            <a:r>
              <a:rPr lang="en-US" sz="2800" dirty="0">
                <a:solidFill>
                  <a:srgbClr val="0000FF"/>
                </a:solidFill>
              </a:rPr>
              <a:t>Letters a, b and c , colours red (R), yellow(Y) </a:t>
            </a:r>
            <a:r>
              <a:rPr lang="en-US" sz="2800" dirty="0" smtClean="0">
                <a:solidFill>
                  <a:srgbClr val="0000FF"/>
                </a:solidFill>
              </a:rPr>
              <a:t>and </a:t>
            </a:r>
            <a:r>
              <a:rPr lang="en-US" sz="2800" dirty="0">
                <a:solidFill>
                  <a:srgbClr val="0000FF"/>
                </a:solidFill>
              </a:rPr>
              <a:t>blue (B) or numbers 1, 2 and 3  </a:t>
            </a:r>
            <a:r>
              <a:rPr lang="en-US" sz="2800" dirty="0" smtClean="0">
                <a:solidFill>
                  <a:srgbClr val="0000FF"/>
                </a:solidFill>
              </a:rPr>
              <a:t>are used </a:t>
            </a:r>
            <a:r>
              <a:rPr lang="en-US" sz="2800" dirty="0">
                <a:solidFill>
                  <a:srgbClr val="0000FF"/>
                </a:solidFill>
              </a:rPr>
              <a:t>to name the windings </a:t>
            </a:r>
          </a:p>
        </p:txBody>
      </p:sp>
    </p:spTree>
    <p:extLst>
      <p:ext uri="{BB962C8B-B14F-4D97-AF65-F5344CB8AC3E}">
        <p14:creationId xmlns:p14="http://schemas.microsoft.com/office/powerpoint/2010/main" val="28002193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 </a:t>
            </a:r>
            <a:r>
              <a:rPr lang="en-US" b="1" dirty="0" smtClean="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The phasor diagram for the three-voltages (in star or delta) is indicated below.</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9</a:t>
            </a:fld>
            <a:endParaRPr lang="ko-KR" altLang="en-US" dirty="0">
              <a:solidFill>
                <a:srgbClr val="000000"/>
              </a:solidFill>
            </a:endParaRPr>
          </a:p>
        </p:txBody>
      </p:sp>
      <p:graphicFrame>
        <p:nvGraphicFramePr>
          <p:cNvPr id="5" name="Object 6"/>
          <p:cNvGraphicFramePr>
            <a:graphicFrameLocks noChangeAspect="1"/>
          </p:cNvGraphicFramePr>
          <p:nvPr>
            <p:extLst>
              <p:ext uri="{D42A27DB-BD31-4B8C-83A1-F6EECF244321}">
                <p14:modId xmlns:p14="http://schemas.microsoft.com/office/powerpoint/2010/main" val="1678296843"/>
              </p:ext>
            </p:extLst>
          </p:nvPr>
        </p:nvGraphicFramePr>
        <p:xfrm>
          <a:off x="2463800" y="1739900"/>
          <a:ext cx="7543800" cy="4508500"/>
        </p:xfrm>
        <a:graphic>
          <a:graphicData uri="http://schemas.openxmlformats.org/presentationml/2006/ole">
            <mc:AlternateContent xmlns:mc="http://schemas.openxmlformats.org/markup-compatibility/2006">
              <mc:Choice xmlns:v="urn:schemas-microsoft-com:vml" Requires="v">
                <p:oleObj spid="_x0000_s664618" name="Visio" r:id="rId3" imgW="3151290" imgH="2159739" progId="Visio.Drawing.11">
                  <p:embed/>
                </p:oleObj>
              </mc:Choice>
              <mc:Fallback>
                <p:oleObj name="Visio" r:id="rId3" imgW="3151290" imgH="2159739" progId="Visio.Drawing.11">
                  <p:embed/>
                  <p:pic>
                    <p:nvPicPr>
                      <p:cNvPr id="3000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3800" y="1739900"/>
                        <a:ext cx="7543800" cy="450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1332536450"/>
              </p:ext>
            </p:extLst>
          </p:nvPr>
        </p:nvGraphicFramePr>
        <p:xfrm>
          <a:off x="5149850" y="2209800"/>
          <a:ext cx="4508500" cy="622300"/>
        </p:xfrm>
        <a:graphic>
          <a:graphicData uri="http://schemas.openxmlformats.org/presentationml/2006/ole">
            <mc:AlternateContent xmlns:mc="http://schemas.openxmlformats.org/markup-compatibility/2006">
              <mc:Choice xmlns:v="urn:schemas-microsoft-com:vml" Requires="v">
                <p:oleObj spid="_x0000_s664619" name="Equation" r:id="rId5" imgW="4508280" imgH="622080" progId="Equation.3">
                  <p:embed/>
                </p:oleObj>
              </mc:Choice>
              <mc:Fallback>
                <p:oleObj name="Equation" r:id="rId5" imgW="4508280" imgH="622080" progId="Equation.3">
                  <p:embed/>
                  <p:pic>
                    <p:nvPicPr>
                      <p:cNvPr id="300041"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9850" y="2209800"/>
                        <a:ext cx="45085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4239788404"/>
              </p:ext>
            </p:extLst>
          </p:nvPr>
        </p:nvGraphicFramePr>
        <p:xfrm>
          <a:off x="5715000" y="4159069"/>
          <a:ext cx="2794000" cy="596900"/>
        </p:xfrm>
        <a:graphic>
          <a:graphicData uri="http://schemas.openxmlformats.org/presentationml/2006/ole">
            <mc:AlternateContent xmlns:mc="http://schemas.openxmlformats.org/markup-compatibility/2006">
              <mc:Choice xmlns:v="urn:schemas-microsoft-com:vml" Requires="v">
                <p:oleObj spid="_x0000_s664620" name="Equation" r:id="rId7" imgW="2793960" imgH="596880" progId="Equation.3">
                  <p:embed/>
                </p:oleObj>
              </mc:Choice>
              <mc:Fallback>
                <p:oleObj name="Equation" r:id="rId7" imgW="2793960" imgH="596880" progId="Equation.3">
                  <p:embed/>
                  <p:pic>
                    <p:nvPicPr>
                      <p:cNvPr id="30003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4159069"/>
                        <a:ext cx="27940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extLst>
              <p:ext uri="{D42A27DB-BD31-4B8C-83A1-F6EECF244321}">
                <p14:modId xmlns:p14="http://schemas.microsoft.com/office/powerpoint/2010/main" val="3564295903"/>
              </p:ext>
            </p:extLst>
          </p:nvPr>
        </p:nvGraphicFramePr>
        <p:xfrm>
          <a:off x="4572000" y="5238750"/>
          <a:ext cx="4508500" cy="622300"/>
        </p:xfrm>
        <a:graphic>
          <a:graphicData uri="http://schemas.openxmlformats.org/presentationml/2006/ole">
            <mc:AlternateContent xmlns:mc="http://schemas.openxmlformats.org/markup-compatibility/2006">
              <mc:Choice xmlns:v="urn:schemas-microsoft-com:vml" Requires="v">
                <p:oleObj spid="_x0000_s664621" name="Equation" r:id="rId9" imgW="4508280" imgH="622080" progId="Equation.3">
                  <p:embed/>
                </p:oleObj>
              </mc:Choice>
              <mc:Fallback>
                <p:oleObj name="Equation" r:id="rId9" imgW="4508280" imgH="622080" progId="Equation.3">
                  <p:embed/>
                  <p:pic>
                    <p:nvPicPr>
                      <p:cNvPr id="30004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5238750"/>
                        <a:ext cx="450850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1440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FF"/>
                </a:solidFill>
              </a:rPr>
              <a:t> Three-phase Circuits</a:t>
            </a:r>
            <a:endParaRPr lang="en-US" dirty="0"/>
          </a:p>
        </p:txBody>
      </p:sp>
      <p:sp>
        <p:nvSpPr>
          <p:cNvPr id="3" name="Content Placeholder 2"/>
          <p:cNvSpPr>
            <a:spLocks noGrp="1"/>
          </p:cNvSpPr>
          <p:nvPr>
            <p:ph idx="1"/>
          </p:nvPr>
        </p:nvSpPr>
        <p:spPr>
          <a:xfrm>
            <a:off x="876301" y="1327150"/>
            <a:ext cx="10363200" cy="4692650"/>
          </a:xfrm>
        </p:spPr>
        <p:txBody>
          <a:bodyPr/>
          <a:lstStyle/>
          <a:p>
            <a:pPr marL="346075" indent="-346075" algn="just">
              <a:lnSpc>
                <a:spcPct val="120000"/>
              </a:lnSpc>
              <a:buFont typeface="Wingdings" pitchFamily="2" charset="2"/>
              <a:buChar char="v"/>
            </a:pPr>
            <a:r>
              <a:rPr lang="en-US" sz="2400" dirty="0">
                <a:solidFill>
                  <a:srgbClr val="0000FF"/>
                </a:solidFill>
              </a:rPr>
              <a:t>Line and phase voltages</a:t>
            </a:r>
          </a:p>
          <a:p>
            <a:pPr marL="622300" indent="-274638" algn="just">
              <a:lnSpc>
                <a:spcPct val="120000"/>
              </a:lnSpc>
            </a:pPr>
            <a:r>
              <a:rPr lang="en-US" sz="2400" dirty="0">
                <a:solidFill>
                  <a:srgbClr val="0000FF"/>
                </a:solidFill>
              </a:rPr>
              <a:t>The voltage from one line to another is call a line-to-line voltage or simple a line voltage</a:t>
            </a:r>
          </a:p>
          <a:p>
            <a:pPr marL="622300" indent="-274638" algn="just">
              <a:lnSpc>
                <a:spcPct val="120000"/>
              </a:lnSpc>
            </a:pPr>
            <a:r>
              <a:rPr lang="en-US" sz="2400" dirty="0">
                <a:solidFill>
                  <a:srgbClr val="0000FF"/>
                </a:solidFill>
              </a:rPr>
              <a:t>The voltage across each winding is a phase voltage</a:t>
            </a:r>
          </a:p>
          <a:p>
            <a:pPr marL="622300" indent="-274638" algn="just">
              <a:lnSpc>
                <a:spcPct val="120000"/>
              </a:lnSpc>
            </a:pPr>
            <a:r>
              <a:rPr lang="en-US" sz="2400" dirty="0">
                <a:solidFill>
                  <a:srgbClr val="0000FF"/>
                </a:solidFill>
              </a:rPr>
              <a:t>On a phasor diagram, a line voltage is drawn from the end of one phase to another in the anti clockwise direction</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10</a:t>
            </a:fld>
            <a:endParaRPr lang="ko-KR" altLang="en-US" dirty="0">
              <a:solidFill>
                <a:srgbClr val="000000"/>
              </a:solidFill>
            </a:endParaRPr>
          </a:p>
        </p:txBody>
      </p:sp>
      <p:graphicFrame>
        <p:nvGraphicFramePr>
          <p:cNvPr id="5" name="Object 5"/>
          <p:cNvGraphicFramePr>
            <a:graphicFrameLocks noChangeAspect="1"/>
          </p:cNvGraphicFramePr>
          <p:nvPr>
            <p:extLst>
              <p:ext uri="{D42A27DB-BD31-4B8C-83A1-F6EECF244321}">
                <p14:modId xmlns:p14="http://schemas.microsoft.com/office/powerpoint/2010/main" val="1426013826"/>
              </p:ext>
            </p:extLst>
          </p:nvPr>
        </p:nvGraphicFramePr>
        <p:xfrm>
          <a:off x="4876800" y="3251563"/>
          <a:ext cx="5943600" cy="3048000"/>
        </p:xfrm>
        <a:graphic>
          <a:graphicData uri="http://schemas.openxmlformats.org/presentationml/2006/ole">
            <mc:AlternateContent xmlns:mc="http://schemas.openxmlformats.org/markup-compatibility/2006">
              <mc:Choice xmlns:v="urn:schemas-microsoft-com:vml" Requires="v">
                <p:oleObj spid="_x0000_s665612" name="Visio" r:id="rId3" imgW="3677107" imgH="2256130" progId="Visio.Drawing.11">
                  <p:embed/>
                </p:oleObj>
              </mc:Choice>
              <mc:Fallback>
                <p:oleObj name="Visio" r:id="rId3" imgW="3677107" imgH="2256130" progId="Visio.Drawing.11">
                  <p:embed/>
                  <p:pic>
                    <p:nvPicPr>
                      <p:cNvPr id="305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3251563"/>
                        <a:ext cx="5943600" cy="304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5346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Relationship between Line and phase voltages for a star connection</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11</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3120303503"/>
              </p:ext>
            </p:extLst>
          </p:nvPr>
        </p:nvGraphicFramePr>
        <p:xfrm>
          <a:off x="1905000" y="1981200"/>
          <a:ext cx="2743200" cy="596900"/>
        </p:xfrm>
        <a:graphic>
          <a:graphicData uri="http://schemas.openxmlformats.org/presentationml/2006/ole">
            <mc:AlternateContent xmlns:mc="http://schemas.openxmlformats.org/markup-compatibility/2006">
              <mc:Choice xmlns:v="urn:schemas-microsoft-com:vml" Requires="v">
                <p:oleObj spid="_x0000_s666686" name="Equation" r:id="rId3" imgW="2743200" imgH="596880" progId="Equation.3">
                  <p:embed/>
                </p:oleObj>
              </mc:Choice>
              <mc:Fallback>
                <p:oleObj name="Equation" r:id="rId3" imgW="2743200" imgH="596880" progId="Equation.3">
                  <p:embed/>
                  <p:pic>
                    <p:nvPicPr>
                      <p:cNvPr id="280589"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81200"/>
                        <a:ext cx="2743200" cy="596900"/>
                      </a:xfrm>
                      <a:prstGeom prst="rect">
                        <a:avLst/>
                      </a:prstGeom>
                      <a:noFill/>
                      <a:ln>
                        <a:noFill/>
                      </a:ln>
                      <a:effectLs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889539987"/>
              </p:ext>
            </p:extLst>
          </p:nvPr>
        </p:nvGraphicFramePr>
        <p:xfrm>
          <a:off x="2578100" y="2660650"/>
          <a:ext cx="4140200" cy="495300"/>
        </p:xfrm>
        <a:graphic>
          <a:graphicData uri="http://schemas.openxmlformats.org/presentationml/2006/ole">
            <mc:AlternateContent xmlns:mc="http://schemas.openxmlformats.org/markup-compatibility/2006">
              <mc:Choice xmlns:v="urn:schemas-microsoft-com:vml" Requires="v">
                <p:oleObj spid="_x0000_s666687" name="Equation" r:id="rId5" imgW="4140000" imgH="495000" progId="Equation.3">
                  <p:embed/>
                </p:oleObj>
              </mc:Choice>
              <mc:Fallback>
                <p:oleObj name="Equation" r:id="rId5" imgW="4140000" imgH="495000" progId="Equation.3">
                  <p:embed/>
                  <p:pic>
                    <p:nvPicPr>
                      <p:cNvPr id="30618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8100" y="2660650"/>
                        <a:ext cx="41402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1416835379"/>
              </p:ext>
            </p:extLst>
          </p:nvPr>
        </p:nvGraphicFramePr>
        <p:xfrm>
          <a:off x="2578100" y="3283494"/>
          <a:ext cx="3911600" cy="584200"/>
        </p:xfrm>
        <a:graphic>
          <a:graphicData uri="http://schemas.openxmlformats.org/presentationml/2006/ole">
            <mc:AlternateContent xmlns:mc="http://schemas.openxmlformats.org/markup-compatibility/2006">
              <mc:Choice xmlns:v="urn:schemas-microsoft-com:vml" Requires="v">
                <p:oleObj spid="_x0000_s666688" name="Equation" r:id="rId7" imgW="3911400" imgH="583920" progId="Equation.3">
                  <p:embed/>
                </p:oleObj>
              </mc:Choice>
              <mc:Fallback>
                <p:oleObj name="Equation" r:id="rId7" imgW="3911400" imgH="583920" progId="Equation.3">
                  <p:embed/>
                  <p:pic>
                    <p:nvPicPr>
                      <p:cNvPr id="306181"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78100" y="3283494"/>
                        <a:ext cx="39116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extLst>
              <p:ext uri="{D42A27DB-BD31-4B8C-83A1-F6EECF244321}">
                <p14:modId xmlns:p14="http://schemas.microsoft.com/office/powerpoint/2010/main" val="110855118"/>
              </p:ext>
            </p:extLst>
          </p:nvPr>
        </p:nvGraphicFramePr>
        <p:xfrm>
          <a:off x="2578100" y="3951695"/>
          <a:ext cx="6985000" cy="571500"/>
        </p:xfrm>
        <a:graphic>
          <a:graphicData uri="http://schemas.openxmlformats.org/presentationml/2006/ole">
            <mc:AlternateContent xmlns:mc="http://schemas.openxmlformats.org/markup-compatibility/2006">
              <mc:Choice xmlns:v="urn:schemas-microsoft-com:vml" Requires="v">
                <p:oleObj spid="_x0000_s666689" name="Equation" r:id="rId9" imgW="6984720" imgH="571320" progId="Equation.3">
                  <p:embed/>
                </p:oleObj>
              </mc:Choice>
              <mc:Fallback>
                <p:oleObj name="Equation" r:id="rId9" imgW="6984720" imgH="571320" progId="Equation.3">
                  <p:embed/>
                  <p:pic>
                    <p:nvPicPr>
                      <p:cNvPr id="306182"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8100" y="3951695"/>
                        <a:ext cx="69850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3"/>
          <p:cNvGraphicFramePr>
            <a:graphicFrameLocks noChangeAspect="1"/>
          </p:cNvGraphicFramePr>
          <p:nvPr>
            <p:extLst>
              <p:ext uri="{D42A27DB-BD31-4B8C-83A1-F6EECF244321}">
                <p14:modId xmlns:p14="http://schemas.microsoft.com/office/powerpoint/2010/main" val="2477878633"/>
              </p:ext>
            </p:extLst>
          </p:nvPr>
        </p:nvGraphicFramePr>
        <p:xfrm>
          <a:off x="2578100" y="4585425"/>
          <a:ext cx="3048000" cy="1308100"/>
        </p:xfrm>
        <a:graphic>
          <a:graphicData uri="http://schemas.openxmlformats.org/presentationml/2006/ole">
            <mc:AlternateContent xmlns:mc="http://schemas.openxmlformats.org/markup-compatibility/2006">
              <mc:Choice xmlns:v="urn:schemas-microsoft-com:vml" Requires="v">
                <p:oleObj spid="_x0000_s666690" name="Equation" r:id="rId11" imgW="3047760" imgH="1307880" progId="Equation.3">
                  <p:embed/>
                </p:oleObj>
              </mc:Choice>
              <mc:Fallback>
                <p:oleObj name="Equation" r:id="rId11" imgW="3047760" imgH="1307880" progId="Equation.3">
                  <p:embed/>
                  <p:pic>
                    <p:nvPicPr>
                      <p:cNvPr id="306183"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78100" y="4585425"/>
                        <a:ext cx="30480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3877620268"/>
              </p:ext>
            </p:extLst>
          </p:nvPr>
        </p:nvGraphicFramePr>
        <p:xfrm>
          <a:off x="6038850" y="4985475"/>
          <a:ext cx="2413000" cy="508000"/>
        </p:xfrm>
        <a:graphic>
          <a:graphicData uri="http://schemas.openxmlformats.org/presentationml/2006/ole">
            <mc:AlternateContent xmlns:mc="http://schemas.openxmlformats.org/markup-compatibility/2006">
              <mc:Choice xmlns:v="urn:schemas-microsoft-com:vml" Requires="v">
                <p:oleObj spid="_x0000_s666691" name="Equation" r:id="rId13" imgW="2412720" imgH="507960" progId="Equation.3">
                  <p:embed/>
                </p:oleObj>
              </mc:Choice>
              <mc:Fallback>
                <p:oleObj name="Equation" r:id="rId13" imgW="2412720" imgH="507960" progId="Equation.3">
                  <p:embed/>
                  <p:pic>
                    <p:nvPicPr>
                      <p:cNvPr id="306184"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38850" y="4985475"/>
                        <a:ext cx="24130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8375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 Hence, for a star connection, the line voltage is   </a:t>
            </a:r>
            <a:r>
              <a:rPr lang="en-US" sz="2800" dirty="0" smtClean="0">
                <a:solidFill>
                  <a:srgbClr val="0000FF"/>
                </a:solidFill>
              </a:rPr>
              <a:t>        times the phase voltage                                                        </a:t>
            </a:r>
            <a:endParaRPr lang="en-US" sz="28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12</a:t>
            </a:fld>
            <a:endParaRPr lang="ko-KR" altLang="en-US" dirty="0">
              <a:solidFill>
                <a:srgbClr val="000000"/>
              </a:solidFill>
            </a:endParaRPr>
          </a:p>
        </p:txBody>
      </p:sp>
      <p:graphicFrame>
        <p:nvGraphicFramePr>
          <p:cNvPr id="6" name="Object 13"/>
          <p:cNvGraphicFramePr>
            <a:graphicFrameLocks noChangeAspect="1"/>
          </p:cNvGraphicFramePr>
          <p:nvPr>
            <p:extLst>
              <p:ext uri="{D42A27DB-BD31-4B8C-83A1-F6EECF244321}">
                <p14:modId xmlns:p14="http://schemas.microsoft.com/office/powerpoint/2010/main" val="3528454262"/>
              </p:ext>
            </p:extLst>
          </p:nvPr>
        </p:nvGraphicFramePr>
        <p:xfrm>
          <a:off x="8113849" y="1447800"/>
          <a:ext cx="647700" cy="381000"/>
        </p:xfrm>
        <a:graphic>
          <a:graphicData uri="http://schemas.openxmlformats.org/presentationml/2006/ole">
            <mc:AlternateContent xmlns:mc="http://schemas.openxmlformats.org/markup-compatibility/2006">
              <mc:Choice xmlns:v="urn:schemas-microsoft-com:vml" Requires="v">
                <p:oleObj spid="_x0000_s667674" name="Equation" r:id="rId3" imgW="647640" imgH="507960" progId="Equation.3">
                  <p:embed/>
                </p:oleObj>
              </mc:Choice>
              <mc:Fallback>
                <p:oleObj name="Equation" r:id="rId3" imgW="647640" imgH="507960" progId="Equation.3">
                  <p:embed/>
                  <p:pic>
                    <p:nvPicPr>
                      <p:cNvPr id="30618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3849" y="1447800"/>
                        <a:ext cx="6477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1524942766"/>
              </p:ext>
            </p:extLst>
          </p:nvPr>
        </p:nvGraphicFramePr>
        <p:xfrm>
          <a:off x="3581400" y="2438400"/>
          <a:ext cx="2235200" cy="973393"/>
        </p:xfrm>
        <a:graphic>
          <a:graphicData uri="http://schemas.openxmlformats.org/presentationml/2006/ole">
            <mc:AlternateContent xmlns:mc="http://schemas.openxmlformats.org/markup-compatibility/2006">
              <mc:Choice xmlns:v="urn:schemas-microsoft-com:vml" Requires="v">
                <p:oleObj spid="_x0000_s667675" name="Equation" r:id="rId5" imgW="2095200" imgH="672840" progId="Equation.3">
                  <p:embed/>
                </p:oleObj>
              </mc:Choice>
              <mc:Fallback>
                <p:oleObj name="Equation" r:id="rId5" imgW="2095200" imgH="672840" progId="Equation.3">
                  <p:embed/>
                  <p:pic>
                    <p:nvPicPr>
                      <p:cNvPr id="306187"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2438400"/>
                        <a:ext cx="2235200" cy="973393"/>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63316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ox(i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i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Relationship between Line and phase voltages for a delta connection</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13</a:t>
            </a:fld>
            <a:endParaRPr lang="ko-KR" altLang="en-US" dirty="0">
              <a:solidFill>
                <a:srgbClr val="000000"/>
              </a:solidFill>
            </a:endParaRPr>
          </a:p>
        </p:txBody>
      </p:sp>
      <p:graphicFrame>
        <p:nvGraphicFramePr>
          <p:cNvPr id="5" name="Object 12"/>
          <p:cNvGraphicFramePr>
            <a:graphicFrameLocks noChangeAspect="1"/>
          </p:cNvGraphicFramePr>
          <p:nvPr>
            <p:extLst>
              <p:ext uri="{D42A27DB-BD31-4B8C-83A1-F6EECF244321}">
                <p14:modId xmlns:p14="http://schemas.microsoft.com/office/powerpoint/2010/main" val="125748285"/>
              </p:ext>
            </p:extLst>
          </p:nvPr>
        </p:nvGraphicFramePr>
        <p:xfrm>
          <a:off x="2438400" y="2590800"/>
          <a:ext cx="1498600" cy="647700"/>
        </p:xfrm>
        <a:graphic>
          <a:graphicData uri="http://schemas.openxmlformats.org/presentationml/2006/ole">
            <mc:AlternateContent xmlns:mc="http://schemas.openxmlformats.org/markup-compatibility/2006">
              <mc:Choice xmlns:v="urn:schemas-microsoft-com:vml" Requires="v">
                <p:oleObj spid="_x0000_s668694" name="Equation" r:id="rId3" imgW="1498320" imgH="647640" progId="Equation.3">
                  <p:embed/>
                </p:oleObj>
              </mc:Choice>
              <mc:Fallback>
                <p:oleObj name="Equation" r:id="rId3" imgW="1498320" imgH="647640" progId="Equation.3">
                  <p:embed/>
                  <p:pic>
                    <p:nvPicPr>
                      <p:cNvPr id="30721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590800"/>
                        <a:ext cx="14986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1"/>
          <p:cNvGraphicFramePr>
            <a:graphicFrameLocks noChangeAspect="1"/>
          </p:cNvGraphicFramePr>
          <p:nvPr>
            <p:extLst>
              <p:ext uri="{D42A27DB-BD31-4B8C-83A1-F6EECF244321}">
                <p14:modId xmlns:p14="http://schemas.microsoft.com/office/powerpoint/2010/main" val="1826578599"/>
              </p:ext>
            </p:extLst>
          </p:nvPr>
        </p:nvGraphicFramePr>
        <p:xfrm>
          <a:off x="5461000" y="2577353"/>
          <a:ext cx="4191000" cy="2170113"/>
        </p:xfrm>
        <a:graphic>
          <a:graphicData uri="http://schemas.openxmlformats.org/presentationml/2006/ole">
            <mc:AlternateContent xmlns:mc="http://schemas.openxmlformats.org/markup-compatibility/2006">
              <mc:Choice xmlns:v="urn:schemas-microsoft-com:vml" Requires="v">
                <p:oleObj spid="_x0000_s668695" name="Visio" r:id="rId5" imgW="2146300" imgH="1141009" progId="Visio.Drawing.11">
                  <p:embed/>
                </p:oleObj>
              </mc:Choice>
              <mc:Fallback>
                <p:oleObj name="Visio" r:id="rId5" imgW="2146300" imgH="1141009" progId="Visio.Drawing.11">
                  <p:embed/>
                  <p:pic>
                    <p:nvPicPr>
                      <p:cNvPr id="30721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1000" y="2577353"/>
                        <a:ext cx="4191000" cy="217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3676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Relationship between Line and phase current for a star connection</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14</a:t>
            </a:fld>
            <a:endParaRPr lang="ko-KR" altLang="en-US" dirty="0">
              <a:solidFill>
                <a:srgbClr val="000000"/>
              </a:solidFill>
            </a:endParaRPr>
          </a:p>
        </p:txBody>
      </p:sp>
      <p:graphicFrame>
        <p:nvGraphicFramePr>
          <p:cNvPr id="5" name="Object 12"/>
          <p:cNvGraphicFramePr>
            <a:graphicFrameLocks noChangeAspect="1"/>
          </p:cNvGraphicFramePr>
          <p:nvPr>
            <p:extLst>
              <p:ext uri="{D42A27DB-BD31-4B8C-83A1-F6EECF244321}">
                <p14:modId xmlns:p14="http://schemas.microsoft.com/office/powerpoint/2010/main" val="3844869905"/>
              </p:ext>
            </p:extLst>
          </p:nvPr>
        </p:nvGraphicFramePr>
        <p:xfrm>
          <a:off x="2286000" y="2438400"/>
          <a:ext cx="1447800" cy="647700"/>
        </p:xfrm>
        <a:graphic>
          <a:graphicData uri="http://schemas.openxmlformats.org/presentationml/2006/ole">
            <mc:AlternateContent xmlns:mc="http://schemas.openxmlformats.org/markup-compatibility/2006">
              <mc:Choice xmlns:v="urn:schemas-microsoft-com:vml" Requires="v">
                <p:oleObj spid="_x0000_s669718" name="Equation" r:id="rId3" imgW="1447560" imgH="647640" progId="Equation.3">
                  <p:embed/>
                </p:oleObj>
              </mc:Choice>
              <mc:Fallback>
                <p:oleObj name="Equation" r:id="rId3" imgW="1447560" imgH="647640" progId="Equation.3">
                  <p:embed/>
                  <p:pic>
                    <p:nvPicPr>
                      <p:cNvPr id="30721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438400"/>
                        <a:ext cx="14478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3534091979"/>
              </p:ext>
            </p:extLst>
          </p:nvPr>
        </p:nvGraphicFramePr>
        <p:xfrm>
          <a:off x="5239544" y="2133600"/>
          <a:ext cx="4532312" cy="3581399"/>
        </p:xfrm>
        <a:graphic>
          <a:graphicData uri="http://schemas.openxmlformats.org/presentationml/2006/ole">
            <mc:AlternateContent xmlns:mc="http://schemas.openxmlformats.org/markup-compatibility/2006">
              <mc:Choice xmlns:v="urn:schemas-microsoft-com:vml" Requires="v">
                <p:oleObj spid="_x0000_s669719" name="Visio" r:id="rId5" imgW="1902543" imgH="1996969" progId="Visio.Drawing.11">
                  <p:embed/>
                </p:oleObj>
              </mc:Choice>
              <mc:Fallback>
                <p:oleObj name="Visio" r:id="rId5" imgW="1902543" imgH="1996969" progId="Visio.Drawing.11">
                  <p:embed/>
                  <p:pic>
                    <p:nvPicPr>
                      <p:cNvPr id="30823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9544" y="2133600"/>
                        <a:ext cx="4532312" cy="358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2891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Relationship between Line and phase currents for a delta connection</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15</a:t>
            </a:fld>
            <a:endParaRPr lang="ko-KR" altLang="en-US" dirty="0">
              <a:solidFill>
                <a:srgbClr val="000000"/>
              </a:solidFill>
            </a:endParaRPr>
          </a:p>
        </p:txBody>
      </p:sp>
      <p:graphicFrame>
        <p:nvGraphicFramePr>
          <p:cNvPr id="5" name="Object 13"/>
          <p:cNvGraphicFramePr>
            <a:graphicFrameLocks noChangeAspect="1"/>
          </p:cNvGraphicFramePr>
          <p:nvPr/>
        </p:nvGraphicFramePr>
        <p:xfrm>
          <a:off x="2603500" y="2286000"/>
          <a:ext cx="2451100" cy="596900"/>
        </p:xfrm>
        <a:graphic>
          <a:graphicData uri="http://schemas.openxmlformats.org/presentationml/2006/ole">
            <mc:AlternateContent xmlns:mc="http://schemas.openxmlformats.org/markup-compatibility/2006">
              <mc:Choice xmlns:v="urn:schemas-microsoft-com:vml" Requires="v">
                <p:oleObj spid="_x0000_s670792" name="Equation" r:id="rId3" imgW="2450880" imgH="596880" progId="Equation.3">
                  <p:embed/>
                </p:oleObj>
              </mc:Choice>
              <mc:Fallback>
                <p:oleObj name="Equation" r:id="rId3" imgW="2450880" imgH="596880" progId="Equation.3">
                  <p:embed/>
                  <p:pic>
                    <p:nvPicPr>
                      <p:cNvPr id="280589"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500" y="2286000"/>
                        <a:ext cx="24511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3"/>
          <p:cNvGraphicFramePr>
            <a:graphicFrameLocks noChangeAspect="1"/>
          </p:cNvGraphicFramePr>
          <p:nvPr/>
        </p:nvGraphicFramePr>
        <p:xfrm>
          <a:off x="3155950" y="2895600"/>
          <a:ext cx="4025900" cy="495300"/>
        </p:xfrm>
        <a:graphic>
          <a:graphicData uri="http://schemas.openxmlformats.org/presentationml/2006/ole">
            <mc:AlternateContent xmlns:mc="http://schemas.openxmlformats.org/markup-compatibility/2006">
              <mc:Choice xmlns:v="urn:schemas-microsoft-com:vml" Requires="v">
                <p:oleObj spid="_x0000_s670793" name="Equation" r:id="rId5" imgW="4025880" imgH="495000" progId="Equation.3">
                  <p:embed/>
                </p:oleObj>
              </mc:Choice>
              <mc:Fallback>
                <p:oleObj name="Equation" r:id="rId5" imgW="4025880" imgH="495000" progId="Equation.3">
                  <p:embed/>
                  <p:pic>
                    <p:nvPicPr>
                      <p:cNvPr id="30618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5950" y="2895600"/>
                        <a:ext cx="40259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nvGraphicFramePr>
        <p:xfrm>
          <a:off x="3168650" y="3378200"/>
          <a:ext cx="3822700" cy="584200"/>
        </p:xfrm>
        <a:graphic>
          <a:graphicData uri="http://schemas.openxmlformats.org/presentationml/2006/ole">
            <mc:AlternateContent xmlns:mc="http://schemas.openxmlformats.org/markup-compatibility/2006">
              <mc:Choice xmlns:v="urn:schemas-microsoft-com:vml" Requires="v">
                <p:oleObj spid="_x0000_s670794" name="Equation" r:id="rId7" imgW="3822480" imgH="583920" progId="Equation.3">
                  <p:embed/>
                </p:oleObj>
              </mc:Choice>
              <mc:Fallback>
                <p:oleObj name="Equation" r:id="rId7" imgW="3822480" imgH="583920" progId="Equation.3">
                  <p:embed/>
                  <p:pic>
                    <p:nvPicPr>
                      <p:cNvPr id="306181"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8650" y="3378200"/>
                        <a:ext cx="38227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nvGraphicFramePr>
        <p:xfrm>
          <a:off x="3194050" y="3962400"/>
          <a:ext cx="6896100" cy="571500"/>
        </p:xfrm>
        <a:graphic>
          <a:graphicData uri="http://schemas.openxmlformats.org/presentationml/2006/ole">
            <mc:AlternateContent xmlns:mc="http://schemas.openxmlformats.org/markup-compatibility/2006">
              <mc:Choice xmlns:v="urn:schemas-microsoft-com:vml" Requires="v">
                <p:oleObj spid="_x0000_s670795" name="Equation" r:id="rId9" imgW="6895800" imgH="571320" progId="Equation.3">
                  <p:embed/>
                </p:oleObj>
              </mc:Choice>
              <mc:Fallback>
                <p:oleObj name="Equation" r:id="rId9" imgW="6895800" imgH="571320" progId="Equation.3">
                  <p:embed/>
                  <p:pic>
                    <p:nvPicPr>
                      <p:cNvPr id="306182"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94050" y="3962400"/>
                        <a:ext cx="68961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3"/>
          <p:cNvGraphicFramePr>
            <a:graphicFrameLocks noChangeAspect="1"/>
          </p:cNvGraphicFramePr>
          <p:nvPr/>
        </p:nvGraphicFramePr>
        <p:xfrm>
          <a:off x="3244850" y="4495800"/>
          <a:ext cx="2959100" cy="1308100"/>
        </p:xfrm>
        <a:graphic>
          <a:graphicData uri="http://schemas.openxmlformats.org/presentationml/2006/ole">
            <mc:AlternateContent xmlns:mc="http://schemas.openxmlformats.org/markup-compatibility/2006">
              <mc:Choice xmlns:v="urn:schemas-microsoft-com:vml" Requires="v">
                <p:oleObj spid="_x0000_s670796" name="Equation" r:id="rId11" imgW="2958840" imgH="1307880" progId="Equation.3">
                  <p:embed/>
                </p:oleObj>
              </mc:Choice>
              <mc:Fallback>
                <p:oleObj name="Equation" r:id="rId11" imgW="2958840" imgH="1307880" progId="Equation.3">
                  <p:embed/>
                  <p:pic>
                    <p:nvPicPr>
                      <p:cNvPr id="306183"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44850" y="4495800"/>
                        <a:ext cx="29591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3"/>
          <p:cNvGraphicFramePr>
            <a:graphicFrameLocks noChangeAspect="1"/>
          </p:cNvGraphicFramePr>
          <p:nvPr/>
        </p:nvGraphicFramePr>
        <p:xfrm>
          <a:off x="6426200" y="4800600"/>
          <a:ext cx="2362200" cy="508000"/>
        </p:xfrm>
        <a:graphic>
          <a:graphicData uri="http://schemas.openxmlformats.org/presentationml/2006/ole">
            <mc:AlternateContent xmlns:mc="http://schemas.openxmlformats.org/markup-compatibility/2006">
              <mc:Choice xmlns:v="urn:schemas-microsoft-com:vml" Requires="v">
                <p:oleObj spid="_x0000_s670797" name="Equation" r:id="rId13" imgW="2361960" imgH="507960" progId="Equation.3">
                  <p:embed/>
                </p:oleObj>
              </mc:Choice>
              <mc:Fallback>
                <p:oleObj name="Equation" r:id="rId13" imgW="2361960" imgH="507960" progId="Equation.3">
                  <p:embed/>
                  <p:pic>
                    <p:nvPicPr>
                      <p:cNvPr id="306184"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26200" y="4800600"/>
                        <a:ext cx="23622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0"/>
          <p:cNvGraphicFramePr>
            <a:graphicFrameLocks noChangeAspect="1"/>
          </p:cNvGraphicFramePr>
          <p:nvPr/>
        </p:nvGraphicFramePr>
        <p:xfrm>
          <a:off x="7010400" y="1524000"/>
          <a:ext cx="3657600" cy="2286000"/>
        </p:xfrm>
        <a:graphic>
          <a:graphicData uri="http://schemas.openxmlformats.org/presentationml/2006/ole">
            <mc:AlternateContent xmlns:mc="http://schemas.openxmlformats.org/markup-compatibility/2006">
              <mc:Choice xmlns:v="urn:schemas-microsoft-com:vml" Requires="v">
                <p:oleObj spid="_x0000_s670798" name="Visio" r:id="rId15" imgW="2604684" imgH="1469089" progId="Visio.Drawing.11">
                  <p:embed/>
                </p:oleObj>
              </mc:Choice>
              <mc:Fallback>
                <p:oleObj name="Visio" r:id="rId15" imgW="2604684" imgH="1469089" progId="Visio.Drawing.11">
                  <p:embed/>
                  <p:pic>
                    <p:nvPicPr>
                      <p:cNvPr id="310282"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0400" y="1524000"/>
                        <a:ext cx="3657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0276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r>
              <a:rPr lang="en-US" sz="2800" dirty="0">
                <a:solidFill>
                  <a:srgbClr val="0000FF"/>
                </a:solidFill>
              </a:rPr>
              <a:t>Hence, for a delta connection, the line current is         </a:t>
            </a:r>
            <a:r>
              <a:rPr lang="en-US" sz="2800" dirty="0" smtClean="0">
                <a:solidFill>
                  <a:srgbClr val="0000FF"/>
                </a:solidFill>
              </a:rPr>
              <a:t> times the  phase current                             </a:t>
            </a:r>
            <a:endParaRPr lang="en-US" sz="2800"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16</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3142641619"/>
              </p:ext>
            </p:extLst>
          </p:nvPr>
        </p:nvGraphicFramePr>
        <p:xfrm>
          <a:off x="8089900" y="1452154"/>
          <a:ext cx="647700" cy="381000"/>
        </p:xfrm>
        <a:graphic>
          <a:graphicData uri="http://schemas.openxmlformats.org/presentationml/2006/ole">
            <mc:AlternateContent xmlns:mc="http://schemas.openxmlformats.org/markup-compatibility/2006">
              <mc:Choice xmlns:v="urn:schemas-microsoft-com:vml" Requires="v">
                <p:oleObj spid="_x0000_s671766" name="Equation" r:id="rId3" imgW="647640" imgH="507960" progId="Equation.3">
                  <p:embed/>
                </p:oleObj>
              </mc:Choice>
              <mc:Fallback>
                <p:oleObj name="Equation" r:id="rId3" imgW="647640" imgH="507960" progId="Equation.3">
                  <p:embed/>
                  <p:pic>
                    <p:nvPicPr>
                      <p:cNvPr id="306185"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9900" y="1452154"/>
                        <a:ext cx="6477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3140339167"/>
              </p:ext>
            </p:extLst>
          </p:nvPr>
        </p:nvGraphicFramePr>
        <p:xfrm>
          <a:off x="4648200" y="2895600"/>
          <a:ext cx="3124200" cy="1600199"/>
        </p:xfrm>
        <a:graphic>
          <a:graphicData uri="http://schemas.openxmlformats.org/presentationml/2006/ole">
            <mc:AlternateContent xmlns:mc="http://schemas.openxmlformats.org/markup-compatibility/2006">
              <mc:Choice xmlns:v="urn:schemas-microsoft-com:vml" Requires="v">
                <p:oleObj spid="_x0000_s671767" name="Equation" r:id="rId5" imgW="2044440" imgH="672840" progId="Equation.3">
                  <p:embed/>
                </p:oleObj>
              </mc:Choice>
              <mc:Fallback>
                <p:oleObj name="Equation" r:id="rId5" imgW="2044440" imgH="672840" progId="Equation.3">
                  <p:embed/>
                  <p:pic>
                    <p:nvPicPr>
                      <p:cNvPr id="306187"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895600"/>
                        <a:ext cx="3124200" cy="1600199"/>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26553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FF"/>
                </a:solidFill>
              </a:rPr>
              <a:t> 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400" dirty="0">
                <a:solidFill>
                  <a:srgbClr val="0000FF"/>
                </a:solidFill>
              </a:rPr>
              <a:t>Analysis of three-phase balanced circuits</a:t>
            </a:r>
          </a:p>
          <a:p>
            <a:pPr marL="695325" indent="-347663" algn="just">
              <a:lnSpc>
                <a:spcPct val="120000"/>
              </a:lnSpc>
            </a:pPr>
            <a:r>
              <a:rPr lang="en-US" sz="2400" dirty="0">
                <a:solidFill>
                  <a:srgbClr val="0000FF"/>
                </a:solidFill>
              </a:rPr>
              <a:t>A balanced three-phase circuit is that in which identical loads are connected in each phase. </a:t>
            </a:r>
          </a:p>
          <a:p>
            <a:pPr marL="695325" indent="-347663" algn="just">
              <a:lnSpc>
                <a:spcPct val="120000"/>
              </a:lnSpc>
            </a:pPr>
            <a:r>
              <a:rPr lang="en-US" sz="2400" dirty="0">
                <a:solidFill>
                  <a:srgbClr val="0000FF"/>
                </a:solidFill>
              </a:rPr>
              <a:t>The currents that flow in a balanced three-phase system are equal in magnitude and also 120° out of phase.</a:t>
            </a:r>
          </a:p>
          <a:p>
            <a:pPr marL="695325" indent="-347663" algn="just">
              <a:lnSpc>
                <a:spcPct val="120000"/>
              </a:lnSpc>
            </a:pPr>
            <a:r>
              <a:rPr lang="en-US" sz="2400" dirty="0">
                <a:solidFill>
                  <a:srgbClr val="0000FF"/>
                </a:solidFill>
              </a:rPr>
              <a:t>A balanced three-phase circuit is </a:t>
            </a:r>
            <a:r>
              <a:rPr lang="en-US" sz="2400" dirty="0" err="1">
                <a:solidFill>
                  <a:srgbClr val="0000FF"/>
                </a:solidFill>
              </a:rPr>
              <a:t>analysed</a:t>
            </a:r>
            <a:r>
              <a:rPr lang="en-US" sz="2400" dirty="0">
                <a:solidFill>
                  <a:srgbClr val="0000FF"/>
                </a:solidFill>
              </a:rPr>
              <a:t> by considering just one phase</a:t>
            </a:r>
          </a:p>
          <a:p>
            <a:pPr marL="695325" indent="-347663" algn="just">
              <a:lnSpc>
                <a:spcPct val="120000"/>
              </a:lnSpc>
            </a:pPr>
            <a:r>
              <a:rPr lang="en-US" sz="2400" dirty="0">
                <a:solidFill>
                  <a:srgbClr val="0000FF"/>
                </a:solidFill>
              </a:rPr>
              <a:t>When finding total power, the per phase power is multiplied by three</a:t>
            </a:r>
          </a:p>
          <a:p>
            <a:pPr marL="695325" indent="-347663" algn="just">
              <a:lnSpc>
                <a:spcPct val="120000"/>
              </a:lnSpc>
            </a:pPr>
            <a:r>
              <a:rPr lang="en-US" sz="2400" dirty="0">
                <a:solidFill>
                  <a:srgbClr val="0000FF"/>
                </a:solidFill>
              </a:rPr>
              <a:t>1-phase power factor </a:t>
            </a:r>
            <a:r>
              <a:rPr lang="en-US" sz="2400" dirty="0" smtClean="0">
                <a:solidFill>
                  <a:srgbClr val="0000FF"/>
                </a:solidFill>
              </a:rPr>
              <a:t>is </a:t>
            </a:r>
            <a:r>
              <a:rPr lang="en-US" sz="2400" dirty="0">
                <a:solidFill>
                  <a:srgbClr val="0000FF"/>
                </a:solidFill>
              </a:rPr>
              <a:t>the same as </a:t>
            </a:r>
            <a:r>
              <a:rPr lang="en-US" sz="2400" dirty="0" smtClean="0">
                <a:solidFill>
                  <a:srgbClr val="0000FF"/>
                </a:solidFill>
              </a:rPr>
              <a:t>in 3-phase </a:t>
            </a:r>
            <a:endParaRPr lang="en-US" sz="24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17</a:t>
            </a:fld>
            <a:endParaRPr lang="ko-KR" altLang="en-US" dirty="0">
              <a:solidFill>
                <a:srgbClr val="000000"/>
              </a:solidFill>
            </a:endParaRPr>
          </a:p>
        </p:txBody>
      </p:sp>
    </p:spTree>
    <p:extLst>
      <p:ext uri="{BB962C8B-B14F-4D97-AF65-F5344CB8AC3E}">
        <p14:creationId xmlns:p14="http://schemas.microsoft.com/office/powerpoint/2010/main" val="27436526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a:xfrm>
            <a:off x="914400" y="1403350"/>
            <a:ext cx="11277600" cy="4692650"/>
          </a:xfrm>
        </p:spPr>
        <p:txBody>
          <a:bodyPr/>
          <a:lstStyle/>
          <a:p>
            <a:pPr marL="0" indent="0" algn="just">
              <a:lnSpc>
                <a:spcPct val="120000"/>
              </a:lnSpc>
              <a:buNone/>
            </a:pPr>
            <a:r>
              <a:rPr lang="en-US" sz="2800" dirty="0">
                <a:solidFill>
                  <a:srgbClr val="0000FF"/>
                </a:solidFill>
              </a:rPr>
              <a:t>Example </a:t>
            </a:r>
            <a:r>
              <a:rPr lang="en-US" sz="2800" dirty="0" smtClean="0">
                <a:solidFill>
                  <a:srgbClr val="0000FF"/>
                </a:solidFill>
              </a:rPr>
              <a:t>1</a:t>
            </a:r>
          </a:p>
          <a:p>
            <a:pPr marL="0" indent="0" algn="just">
              <a:lnSpc>
                <a:spcPct val="120000"/>
              </a:lnSpc>
              <a:buNone/>
            </a:pPr>
            <a:r>
              <a:rPr lang="en-US" sz="2800" dirty="0" smtClean="0">
                <a:solidFill>
                  <a:srgbClr val="0000FF"/>
                </a:solidFill>
              </a:rPr>
              <a:t>Three </a:t>
            </a:r>
            <a:r>
              <a:rPr lang="en-US" sz="2800" dirty="0">
                <a:solidFill>
                  <a:srgbClr val="0000FF"/>
                </a:solidFill>
              </a:rPr>
              <a:t>identical resistors are connected in star across a 3-phase, 415-V supply.  If each resistor has a resistance of 50 ohms, calculate (a) the voltage </a:t>
            </a:r>
            <a:r>
              <a:rPr lang="en-US" sz="2800" dirty="0" smtClean="0">
                <a:solidFill>
                  <a:srgbClr val="0000FF"/>
                </a:solidFill>
              </a:rPr>
              <a:t>across each     resistor </a:t>
            </a:r>
            <a:r>
              <a:rPr lang="en-US" sz="2800" dirty="0">
                <a:solidFill>
                  <a:srgbClr val="0000FF"/>
                </a:solidFill>
              </a:rPr>
              <a:t>(b) the current in each resistor (c) the total power supplied to the load</a:t>
            </a:r>
          </a:p>
          <a:p>
            <a:pPr marL="0" indent="0" algn="just">
              <a:lnSpc>
                <a:spcPct val="120000"/>
              </a:lnSpc>
              <a:buNone/>
            </a:pPr>
            <a:r>
              <a:rPr lang="en-US" sz="2800" dirty="0">
                <a:solidFill>
                  <a:srgbClr val="0000FF"/>
                </a:solidFill>
              </a:rPr>
              <a:t>Solution</a:t>
            </a:r>
          </a:p>
          <a:p>
            <a:pPr marL="0" indent="0" algn="just">
              <a:lnSpc>
                <a:spcPct val="120000"/>
              </a:lnSpc>
              <a:buNone/>
            </a:pPr>
            <a:r>
              <a:rPr lang="en-US" sz="2800" dirty="0">
                <a:solidFill>
                  <a:srgbClr val="0000FF"/>
                </a:solidFill>
              </a:rPr>
              <a:t>	(a)</a:t>
            </a:r>
          </a:p>
          <a:p>
            <a:pPr marL="346075" indent="-346075" algn="just">
              <a:lnSpc>
                <a:spcPct val="120000"/>
              </a:lnSpc>
            </a:pPr>
            <a:endParaRPr lang="en-US" sz="2800" dirty="0">
              <a:solidFill>
                <a:srgbClr val="0000FF"/>
              </a:solidFill>
            </a:endParaRPr>
          </a:p>
          <a:p>
            <a:pPr marL="0" indent="0" algn="just">
              <a:lnSpc>
                <a:spcPct val="120000"/>
              </a:lnSpc>
              <a:buNone/>
            </a:pPr>
            <a:r>
              <a:rPr lang="en-US" sz="2800" dirty="0">
                <a:solidFill>
                  <a:srgbClr val="0000FF"/>
                </a:solidFill>
              </a:rPr>
              <a:t>	(b)</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18</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2306451398"/>
              </p:ext>
            </p:extLst>
          </p:nvPr>
        </p:nvGraphicFramePr>
        <p:xfrm>
          <a:off x="2665185" y="3907336"/>
          <a:ext cx="1689100" cy="1024527"/>
        </p:xfrm>
        <a:graphic>
          <a:graphicData uri="http://schemas.openxmlformats.org/presentationml/2006/ole">
            <mc:AlternateContent xmlns:mc="http://schemas.openxmlformats.org/markup-compatibility/2006">
              <mc:Choice xmlns:v="urn:schemas-microsoft-com:vml" Requires="v">
                <p:oleObj spid="_x0000_s672830" name="Equation" r:id="rId3" imgW="1688760" imgH="1180800" progId="Equation.3">
                  <p:embed/>
                </p:oleObj>
              </mc:Choice>
              <mc:Fallback>
                <p:oleObj name="Equation" r:id="rId3" imgW="1688760" imgH="1180800" progId="Equation.3">
                  <p:embed/>
                  <p:pic>
                    <p:nvPicPr>
                      <p:cNvPr id="31130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185" y="3907336"/>
                        <a:ext cx="1689100" cy="1024527"/>
                      </a:xfrm>
                      <a:prstGeom prst="rect">
                        <a:avLst/>
                      </a:prstGeom>
                      <a:noFill/>
                      <a:ln>
                        <a:noFill/>
                      </a:ln>
                      <a:effectLs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4285344023"/>
              </p:ext>
            </p:extLst>
          </p:nvPr>
        </p:nvGraphicFramePr>
        <p:xfrm>
          <a:off x="4495800" y="3949519"/>
          <a:ext cx="1244600" cy="1024527"/>
        </p:xfrm>
        <a:graphic>
          <a:graphicData uri="http://schemas.openxmlformats.org/presentationml/2006/ole">
            <mc:AlternateContent xmlns:mc="http://schemas.openxmlformats.org/markup-compatibility/2006">
              <mc:Choice xmlns:v="urn:schemas-microsoft-com:vml" Requires="v">
                <p:oleObj spid="_x0000_s672831" name="Equation" r:id="rId5" imgW="1244520" imgH="1180800" progId="Equation.3">
                  <p:embed/>
                </p:oleObj>
              </mc:Choice>
              <mc:Fallback>
                <p:oleObj name="Equation" r:id="rId5" imgW="1244520" imgH="1180800" progId="Equation.3">
                  <p:embed/>
                  <p:pic>
                    <p:nvPicPr>
                      <p:cNvPr id="312324"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949519"/>
                        <a:ext cx="1244600" cy="1024527"/>
                      </a:xfrm>
                      <a:prstGeom prst="rect">
                        <a:avLst/>
                      </a:prstGeom>
                      <a:noFill/>
                      <a:ln>
                        <a:noFill/>
                      </a:ln>
                      <a:effectLs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354004232"/>
              </p:ext>
            </p:extLst>
          </p:nvPr>
        </p:nvGraphicFramePr>
        <p:xfrm>
          <a:off x="5880100" y="4252232"/>
          <a:ext cx="1231900" cy="419100"/>
        </p:xfrm>
        <a:graphic>
          <a:graphicData uri="http://schemas.openxmlformats.org/presentationml/2006/ole">
            <mc:AlternateContent xmlns:mc="http://schemas.openxmlformats.org/markup-compatibility/2006">
              <mc:Choice xmlns:v="urn:schemas-microsoft-com:vml" Requires="v">
                <p:oleObj spid="_x0000_s672832" name="Equation" r:id="rId7" imgW="1231560" imgH="419040" progId="Equation.3">
                  <p:embed/>
                </p:oleObj>
              </mc:Choice>
              <mc:Fallback>
                <p:oleObj name="Equation" r:id="rId7" imgW="1231560" imgH="419040" progId="Equation.3">
                  <p:embed/>
                  <p:pic>
                    <p:nvPicPr>
                      <p:cNvPr id="312325"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0100" y="4252232"/>
                        <a:ext cx="12319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extLst>
              <p:ext uri="{D42A27DB-BD31-4B8C-83A1-F6EECF244321}">
                <p14:modId xmlns:p14="http://schemas.microsoft.com/office/powerpoint/2010/main" val="3468585892"/>
              </p:ext>
            </p:extLst>
          </p:nvPr>
        </p:nvGraphicFramePr>
        <p:xfrm>
          <a:off x="2549071" y="4978400"/>
          <a:ext cx="1536700" cy="1193800"/>
        </p:xfrm>
        <a:graphic>
          <a:graphicData uri="http://schemas.openxmlformats.org/presentationml/2006/ole">
            <mc:AlternateContent xmlns:mc="http://schemas.openxmlformats.org/markup-compatibility/2006">
              <mc:Choice xmlns:v="urn:schemas-microsoft-com:vml" Requires="v">
                <p:oleObj spid="_x0000_s672833" name="Equation" r:id="rId9" imgW="1536480" imgH="1193760" progId="Equation.3">
                  <p:embed/>
                </p:oleObj>
              </mc:Choice>
              <mc:Fallback>
                <p:oleObj name="Equation" r:id="rId9" imgW="1536480" imgH="1193760" progId="Equation.3">
                  <p:embed/>
                  <p:pic>
                    <p:nvPicPr>
                      <p:cNvPr id="312326"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9071" y="4978400"/>
                        <a:ext cx="15367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3"/>
          <p:cNvGraphicFramePr>
            <a:graphicFrameLocks noChangeAspect="1"/>
          </p:cNvGraphicFramePr>
          <p:nvPr>
            <p:extLst>
              <p:ext uri="{D42A27DB-BD31-4B8C-83A1-F6EECF244321}">
                <p14:modId xmlns:p14="http://schemas.microsoft.com/office/powerpoint/2010/main" val="4068263886"/>
              </p:ext>
            </p:extLst>
          </p:nvPr>
        </p:nvGraphicFramePr>
        <p:xfrm>
          <a:off x="4354285" y="5039723"/>
          <a:ext cx="1257300" cy="1168400"/>
        </p:xfrm>
        <a:graphic>
          <a:graphicData uri="http://schemas.openxmlformats.org/presentationml/2006/ole">
            <mc:AlternateContent xmlns:mc="http://schemas.openxmlformats.org/markup-compatibility/2006">
              <mc:Choice xmlns:v="urn:schemas-microsoft-com:vml" Requires="v">
                <p:oleObj spid="_x0000_s672834" name="Equation" r:id="rId11" imgW="1257120" imgH="1168200" progId="Equation.3">
                  <p:embed/>
                </p:oleObj>
              </mc:Choice>
              <mc:Fallback>
                <p:oleObj name="Equation" r:id="rId11" imgW="1257120" imgH="1168200" progId="Equation.3">
                  <p:embed/>
                  <p:pic>
                    <p:nvPicPr>
                      <p:cNvPr id="312327"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4285" y="5039723"/>
                        <a:ext cx="12573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3101024461"/>
              </p:ext>
            </p:extLst>
          </p:nvPr>
        </p:nvGraphicFramePr>
        <p:xfrm>
          <a:off x="5880100" y="5437777"/>
          <a:ext cx="1460500" cy="419100"/>
        </p:xfrm>
        <a:graphic>
          <a:graphicData uri="http://schemas.openxmlformats.org/presentationml/2006/ole">
            <mc:AlternateContent xmlns:mc="http://schemas.openxmlformats.org/markup-compatibility/2006">
              <mc:Choice xmlns:v="urn:schemas-microsoft-com:vml" Requires="v">
                <p:oleObj spid="_x0000_s672835" name="Equation" r:id="rId13" imgW="1460160" imgH="419040" progId="Equation.3">
                  <p:embed/>
                </p:oleObj>
              </mc:Choice>
              <mc:Fallback>
                <p:oleObj name="Equation" r:id="rId13" imgW="1460160" imgH="419040" progId="Equation.3">
                  <p:embed/>
                  <p:pic>
                    <p:nvPicPr>
                      <p:cNvPr id="312328"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80100" y="5437777"/>
                        <a:ext cx="1460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4464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ircle(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ox(in)">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ox(in)">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ox(in)">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0" indent="0">
              <a:buNone/>
            </a:pPr>
            <a:r>
              <a:rPr lang="en-US" sz="2800" b="1" dirty="0">
                <a:solidFill>
                  <a:srgbClr val="0000FF"/>
                </a:solidFill>
              </a:rPr>
              <a:t>(c)</a:t>
            </a:r>
            <a:endParaRPr lang="en-US" sz="2800"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19</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2724668411"/>
              </p:ext>
            </p:extLst>
          </p:nvPr>
        </p:nvGraphicFramePr>
        <p:xfrm>
          <a:off x="1905000" y="1524000"/>
          <a:ext cx="1943100" cy="647700"/>
        </p:xfrm>
        <a:graphic>
          <a:graphicData uri="http://schemas.openxmlformats.org/presentationml/2006/ole">
            <mc:AlternateContent xmlns:mc="http://schemas.openxmlformats.org/markup-compatibility/2006">
              <mc:Choice xmlns:v="urn:schemas-microsoft-com:vml" Requires="v">
                <p:oleObj spid="_x0000_s673844" name="Equation" r:id="rId3" imgW="1942920" imgH="647640" progId="Equation.3">
                  <p:embed/>
                </p:oleObj>
              </mc:Choice>
              <mc:Fallback>
                <p:oleObj name="Equation" r:id="rId3" imgW="1942920" imgH="647640" progId="Equation.3">
                  <p:embed/>
                  <p:pic>
                    <p:nvPicPr>
                      <p:cNvPr id="31130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524000"/>
                        <a:ext cx="19431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3"/>
          <p:cNvGraphicFramePr>
            <a:graphicFrameLocks noChangeAspect="1"/>
          </p:cNvGraphicFramePr>
          <p:nvPr>
            <p:extLst>
              <p:ext uri="{D42A27DB-BD31-4B8C-83A1-F6EECF244321}">
                <p14:modId xmlns:p14="http://schemas.microsoft.com/office/powerpoint/2010/main" val="201984574"/>
              </p:ext>
            </p:extLst>
          </p:nvPr>
        </p:nvGraphicFramePr>
        <p:xfrm>
          <a:off x="4133850" y="1638300"/>
          <a:ext cx="2286000" cy="419100"/>
        </p:xfrm>
        <a:graphic>
          <a:graphicData uri="http://schemas.openxmlformats.org/presentationml/2006/ole">
            <mc:AlternateContent xmlns:mc="http://schemas.openxmlformats.org/markup-compatibility/2006">
              <mc:Choice xmlns:v="urn:schemas-microsoft-com:vml" Requires="v">
                <p:oleObj spid="_x0000_s673845" name="Equation" r:id="rId5" imgW="2286000" imgH="419040" progId="Equation.3">
                  <p:embed/>
                </p:oleObj>
              </mc:Choice>
              <mc:Fallback>
                <p:oleObj name="Equation" r:id="rId5" imgW="2286000" imgH="419040" progId="Equation.3">
                  <p:embed/>
                  <p:pic>
                    <p:nvPicPr>
                      <p:cNvPr id="313352"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3850" y="1638300"/>
                        <a:ext cx="22860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1083220859"/>
              </p:ext>
            </p:extLst>
          </p:nvPr>
        </p:nvGraphicFramePr>
        <p:xfrm>
          <a:off x="6672943" y="1651363"/>
          <a:ext cx="1968500" cy="419100"/>
        </p:xfrm>
        <a:graphic>
          <a:graphicData uri="http://schemas.openxmlformats.org/presentationml/2006/ole">
            <mc:AlternateContent xmlns:mc="http://schemas.openxmlformats.org/markup-compatibility/2006">
              <mc:Choice xmlns:v="urn:schemas-microsoft-com:vml" Requires="v">
                <p:oleObj spid="_x0000_s673846" name="Equation" r:id="rId7" imgW="1968480" imgH="419040" progId="Equation.3">
                  <p:embed/>
                </p:oleObj>
              </mc:Choice>
              <mc:Fallback>
                <p:oleObj name="Equation" r:id="rId7" imgW="1968480" imgH="419040" progId="Equation.3">
                  <p:embed/>
                  <p:pic>
                    <p:nvPicPr>
                      <p:cNvPr id="313353"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72943" y="1651363"/>
                        <a:ext cx="1968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3"/>
          <p:cNvGraphicFramePr>
            <a:graphicFrameLocks noChangeAspect="1"/>
          </p:cNvGraphicFramePr>
          <p:nvPr/>
        </p:nvGraphicFramePr>
        <p:xfrm>
          <a:off x="2438400" y="2247900"/>
          <a:ext cx="2616200" cy="647700"/>
        </p:xfrm>
        <a:graphic>
          <a:graphicData uri="http://schemas.openxmlformats.org/presentationml/2006/ole">
            <mc:AlternateContent xmlns:mc="http://schemas.openxmlformats.org/markup-compatibility/2006">
              <mc:Choice xmlns:v="urn:schemas-microsoft-com:vml" Requires="v">
                <p:oleObj spid="_x0000_s673847" name="Equation" r:id="rId9" imgW="2616120" imgH="647640" progId="Equation.3">
                  <p:embed/>
                </p:oleObj>
              </mc:Choice>
              <mc:Fallback>
                <p:oleObj name="Equation" r:id="rId9" imgW="2616120" imgH="647640" progId="Equation.3">
                  <p:embed/>
                  <p:pic>
                    <p:nvPicPr>
                      <p:cNvPr id="313354"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38400" y="2247900"/>
                        <a:ext cx="26162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13"/>
          <p:cNvGraphicFramePr>
            <a:graphicFrameLocks noChangeAspect="1"/>
          </p:cNvGraphicFramePr>
          <p:nvPr/>
        </p:nvGraphicFramePr>
        <p:xfrm>
          <a:off x="5156200" y="2362200"/>
          <a:ext cx="4216400" cy="419100"/>
        </p:xfrm>
        <a:graphic>
          <a:graphicData uri="http://schemas.openxmlformats.org/presentationml/2006/ole">
            <mc:AlternateContent xmlns:mc="http://schemas.openxmlformats.org/markup-compatibility/2006">
              <mc:Choice xmlns:v="urn:schemas-microsoft-com:vml" Requires="v">
                <p:oleObj spid="_x0000_s673848" name="Equation" r:id="rId11" imgW="4216320" imgH="419040" progId="Equation.3">
                  <p:embed/>
                </p:oleObj>
              </mc:Choice>
              <mc:Fallback>
                <p:oleObj name="Equation" r:id="rId11" imgW="4216320" imgH="419040" progId="Equation.3">
                  <p:embed/>
                  <p:pic>
                    <p:nvPicPr>
                      <p:cNvPr id="313355"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6200" y="2362200"/>
                        <a:ext cx="4216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17799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800" dirty="0">
                <a:solidFill>
                  <a:srgbClr val="0000FF"/>
                </a:solidFill>
              </a:rPr>
              <a:t>Example </a:t>
            </a:r>
            <a:r>
              <a:rPr lang="en-US" sz="2800" dirty="0" smtClean="0">
                <a:solidFill>
                  <a:srgbClr val="0000FF"/>
                </a:solidFill>
              </a:rPr>
              <a:t>2</a:t>
            </a:r>
          </a:p>
          <a:p>
            <a:pPr marL="0" indent="0" algn="just">
              <a:lnSpc>
                <a:spcPct val="120000"/>
              </a:lnSpc>
              <a:buNone/>
            </a:pPr>
            <a:r>
              <a:rPr lang="en-US" sz="2800" dirty="0" smtClean="0">
                <a:solidFill>
                  <a:srgbClr val="0000FF"/>
                </a:solidFill>
              </a:rPr>
              <a:t>Three </a:t>
            </a:r>
            <a:r>
              <a:rPr lang="en-US" sz="2800" dirty="0">
                <a:solidFill>
                  <a:srgbClr val="0000FF"/>
                </a:solidFill>
              </a:rPr>
              <a:t>identical impedances are connected in delta across a 3-phase, 415-V supply. If the line current is 10 A, calculate (a) the current in each impedance (b) the value of each impedance.</a:t>
            </a:r>
          </a:p>
          <a:p>
            <a:pPr marL="0" indent="0" algn="just">
              <a:lnSpc>
                <a:spcPct val="120000"/>
              </a:lnSpc>
              <a:buNone/>
            </a:pPr>
            <a:r>
              <a:rPr lang="en-US" sz="2800" dirty="0">
                <a:solidFill>
                  <a:srgbClr val="0000FF"/>
                </a:solidFill>
              </a:rPr>
              <a:t>Solution</a:t>
            </a:r>
          </a:p>
          <a:p>
            <a:pPr marL="0" indent="0" algn="just">
              <a:lnSpc>
                <a:spcPct val="120000"/>
              </a:lnSpc>
              <a:buNone/>
            </a:pPr>
            <a:r>
              <a:rPr lang="en-US" sz="2800" dirty="0">
                <a:solidFill>
                  <a:srgbClr val="0000FF"/>
                </a:solidFill>
              </a:rPr>
              <a:t>(a)</a:t>
            </a:r>
          </a:p>
          <a:p>
            <a:pPr marL="0" indent="0" algn="just">
              <a:lnSpc>
                <a:spcPct val="120000"/>
              </a:lnSpc>
              <a:buNone/>
            </a:pPr>
            <a:endParaRPr lang="en-US" sz="2800" dirty="0">
              <a:solidFill>
                <a:srgbClr val="0000FF"/>
              </a:solidFill>
            </a:endParaRPr>
          </a:p>
          <a:p>
            <a:pPr marL="0" indent="0" algn="just">
              <a:lnSpc>
                <a:spcPct val="120000"/>
              </a:lnSpc>
              <a:buNone/>
            </a:pPr>
            <a:r>
              <a:rPr lang="en-US" sz="2800" dirty="0" smtClean="0">
                <a:solidFill>
                  <a:srgbClr val="0000FF"/>
                </a:solidFill>
              </a:rPr>
              <a:t>(</a:t>
            </a:r>
            <a:r>
              <a:rPr lang="en-US" sz="2800" dirty="0">
                <a:solidFill>
                  <a:srgbClr val="0000FF"/>
                </a:solidFill>
              </a:rPr>
              <a:t>b)</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20</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755660919"/>
              </p:ext>
            </p:extLst>
          </p:nvPr>
        </p:nvGraphicFramePr>
        <p:xfrm>
          <a:off x="1600200" y="3962400"/>
          <a:ext cx="1663700" cy="1092926"/>
        </p:xfrm>
        <a:graphic>
          <a:graphicData uri="http://schemas.openxmlformats.org/presentationml/2006/ole">
            <mc:AlternateContent xmlns:mc="http://schemas.openxmlformats.org/markup-compatibility/2006">
              <mc:Choice xmlns:v="urn:schemas-microsoft-com:vml" Requires="v">
                <p:oleObj spid="_x0000_s674858" name="Equation" r:id="rId3" imgW="1663560" imgH="1180800" progId="Equation.3">
                  <p:embed/>
                </p:oleObj>
              </mc:Choice>
              <mc:Fallback>
                <p:oleObj name="Equation" r:id="rId3" imgW="1663560" imgH="1180800" progId="Equation.3">
                  <p:embed/>
                  <p:pic>
                    <p:nvPicPr>
                      <p:cNvPr id="313354"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962400"/>
                        <a:ext cx="1663700" cy="1092926"/>
                      </a:xfrm>
                      <a:prstGeom prst="rect">
                        <a:avLst/>
                      </a:prstGeom>
                      <a:noFill/>
                      <a:ln>
                        <a:noFill/>
                      </a:ln>
                      <a:effectLst/>
                      <a:extLst/>
                    </p:spPr>
                  </p:pic>
                </p:oleObj>
              </mc:Fallback>
            </mc:AlternateContent>
          </a:graphicData>
        </a:graphic>
      </p:graphicFrame>
      <p:graphicFrame>
        <p:nvGraphicFramePr>
          <p:cNvPr id="6" name="Object 10"/>
          <p:cNvGraphicFramePr>
            <a:graphicFrameLocks noChangeAspect="1"/>
          </p:cNvGraphicFramePr>
          <p:nvPr>
            <p:extLst>
              <p:ext uri="{D42A27DB-BD31-4B8C-83A1-F6EECF244321}">
                <p14:modId xmlns:p14="http://schemas.microsoft.com/office/powerpoint/2010/main" val="2387012021"/>
              </p:ext>
            </p:extLst>
          </p:nvPr>
        </p:nvGraphicFramePr>
        <p:xfrm>
          <a:off x="3657600" y="3962400"/>
          <a:ext cx="2882900" cy="1181100"/>
        </p:xfrm>
        <a:graphic>
          <a:graphicData uri="http://schemas.openxmlformats.org/presentationml/2006/ole">
            <mc:AlternateContent xmlns:mc="http://schemas.openxmlformats.org/markup-compatibility/2006">
              <mc:Choice xmlns:v="urn:schemas-microsoft-com:vml" Requires="v">
                <p:oleObj spid="_x0000_s674859" name="Equation" r:id="rId5" imgW="2882880" imgH="1180800" progId="Equation.3">
                  <p:embed/>
                </p:oleObj>
              </mc:Choice>
              <mc:Fallback>
                <p:oleObj name="Equation" r:id="rId5" imgW="2882880" imgH="1180800" progId="Equation.3">
                  <p:embed/>
                  <p:pic>
                    <p:nvPicPr>
                      <p:cNvPr id="314375"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962400"/>
                        <a:ext cx="28829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789555954"/>
              </p:ext>
            </p:extLst>
          </p:nvPr>
        </p:nvGraphicFramePr>
        <p:xfrm>
          <a:off x="1612900" y="5055326"/>
          <a:ext cx="1651000" cy="1040674"/>
        </p:xfrm>
        <a:graphic>
          <a:graphicData uri="http://schemas.openxmlformats.org/presentationml/2006/ole">
            <mc:AlternateContent xmlns:mc="http://schemas.openxmlformats.org/markup-compatibility/2006">
              <mc:Choice xmlns:v="urn:schemas-microsoft-com:vml" Requires="v">
                <p:oleObj spid="_x0000_s674860" name="Equation" r:id="rId7" imgW="1650960" imgH="1384200" progId="Equation.3">
                  <p:embed/>
                </p:oleObj>
              </mc:Choice>
              <mc:Fallback>
                <p:oleObj name="Equation" r:id="rId7" imgW="1650960" imgH="1384200" progId="Equation.3">
                  <p:embed/>
                  <p:pic>
                    <p:nvPicPr>
                      <p:cNvPr id="314376"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2900" y="5055326"/>
                        <a:ext cx="1651000" cy="1040674"/>
                      </a:xfrm>
                      <a:prstGeom prst="rect">
                        <a:avLst/>
                      </a:prstGeom>
                      <a:noFill/>
                      <a:ln>
                        <a:noFill/>
                      </a:ln>
                      <a:effectLs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3876380390"/>
              </p:ext>
            </p:extLst>
          </p:nvPr>
        </p:nvGraphicFramePr>
        <p:xfrm>
          <a:off x="3505200" y="5003800"/>
          <a:ext cx="3467100" cy="1168400"/>
        </p:xfrm>
        <a:graphic>
          <a:graphicData uri="http://schemas.openxmlformats.org/presentationml/2006/ole">
            <mc:AlternateContent xmlns:mc="http://schemas.openxmlformats.org/markup-compatibility/2006">
              <mc:Choice xmlns:v="urn:schemas-microsoft-com:vml" Requires="v">
                <p:oleObj spid="_x0000_s674861" name="Equation" r:id="rId9" imgW="3466800" imgH="1168200" progId="Equation.3">
                  <p:embed/>
                </p:oleObj>
              </mc:Choice>
              <mc:Fallback>
                <p:oleObj name="Equation" r:id="rId9" imgW="3466800" imgH="1168200" progId="Equation.3">
                  <p:embed/>
                  <p:pic>
                    <p:nvPicPr>
                      <p:cNvPr id="314377"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5003800"/>
                        <a:ext cx="34671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708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ircle(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ox(i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ox(in)">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800" dirty="0">
                <a:solidFill>
                  <a:srgbClr val="0000FF"/>
                </a:solidFill>
              </a:rPr>
              <a:t>Example </a:t>
            </a:r>
            <a:r>
              <a:rPr lang="en-US" sz="2800" dirty="0" smtClean="0">
                <a:solidFill>
                  <a:srgbClr val="0000FF"/>
                </a:solidFill>
              </a:rPr>
              <a:t>3</a:t>
            </a:r>
          </a:p>
          <a:p>
            <a:pPr marL="0" indent="0" algn="just">
              <a:lnSpc>
                <a:spcPct val="120000"/>
              </a:lnSpc>
              <a:buNone/>
            </a:pPr>
            <a:r>
              <a:rPr lang="en-US" sz="2800" dirty="0" smtClean="0">
                <a:solidFill>
                  <a:srgbClr val="0000FF"/>
                </a:solidFill>
              </a:rPr>
              <a:t>A </a:t>
            </a:r>
            <a:r>
              <a:rPr lang="en-US" sz="2800" dirty="0">
                <a:solidFill>
                  <a:srgbClr val="0000FF"/>
                </a:solidFill>
              </a:rPr>
              <a:t>3-phase, 450-V system supplies a balanced delta-connected load of 12 kW at 0.8 power factor lagging. Calculate (a) the phase currents (b) the line currents and (c) the effective impedance per phase.</a:t>
            </a:r>
          </a:p>
          <a:p>
            <a:pPr marL="0" indent="0" algn="just">
              <a:lnSpc>
                <a:spcPct val="120000"/>
              </a:lnSpc>
              <a:buNone/>
            </a:pPr>
            <a:r>
              <a:rPr lang="en-US" sz="2800" dirty="0">
                <a:solidFill>
                  <a:srgbClr val="0000FF"/>
                </a:solidFill>
              </a:rPr>
              <a:t>Solution</a:t>
            </a:r>
          </a:p>
          <a:p>
            <a:pPr marL="0" indent="0" algn="just">
              <a:lnSpc>
                <a:spcPct val="120000"/>
              </a:lnSpc>
              <a:buNone/>
            </a:pPr>
            <a:r>
              <a:rPr lang="en-US" sz="2800" dirty="0">
                <a:solidFill>
                  <a:srgbClr val="0000FF"/>
                </a:solidFill>
              </a:rPr>
              <a:t>(a)</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21</a:t>
            </a:fld>
            <a:endParaRPr lang="ko-KR" altLang="en-US" dirty="0">
              <a:solidFill>
                <a:srgbClr val="000000"/>
              </a:solidFill>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2559024572"/>
              </p:ext>
            </p:extLst>
          </p:nvPr>
        </p:nvGraphicFramePr>
        <p:xfrm>
          <a:off x="1676400" y="4267200"/>
          <a:ext cx="3060700" cy="647700"/>
        </p:xfrm>
        <a:graphic>
          <a:graphicData uri="http://schemas.openxmlformats.org/presentationml/2006/ole">
            <mc:AlternateContent xmlns:mc="http://schemas.openxmlformats.org/markup-compatibility/2006">
              <mc:Choice xmlns:v="urn:schemas-microsoft-com:vml" Requires="v">
                <p:oleObj spid="_x0000_s675875" name="Equation" r:id="rId3" imgW="3060360" imgH="647640" progId="Equation.3">
                  <p:embed/>
                </p:oleObj>
              </mc:Choice>
              <mc:Fallback>
                <p:oleObj name="Equation" r:id="rId3" imgW="3060360" imgH="647640" progId="Equation.3">
                  <p:embed/>
                  <p:pic>
                    <p:nvPicPr>
                      <p:cNvPr id="313354"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267200"/>
                        <a:ext cx="30607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0"/>
          <p:cNvGraphicFramePr>
            <a:graphicFrameLocks noChangeAspect="1"/>
          </p:cNvGraphicFramePr>
          <p:nvPr>
            <p:extLst>
              <p:ext uri="{D42A27DB-BD31-4B8C-83A1-F6EECF244321}">
                <p14:modId xmlns:p14="http://schemas.microsoft.com/office/powerpoint/2010/main" val="280930739"/>
              </p:ext>
            </p:extLst>
          </p:nvPr>
        </p:nvGraphicFramePr>
        <p:xfrm>
          <a:off x="1219200" y="4819650"/>
          <a:ext cx="3225800" cy="1384300"/>
        </p:xfrm>
        <a:graphic>
          <a:graphicData uri="http://schemas.openxmlformats.org/presentationml/2006/ole">
            <mc:AlternateContent xmlns:mc="http://schemas.openxmlformats.org/markup-compatibility/2006">
              <mc:Choice xmlns:v="urn:schemas-microsoft-com:vml" Requires="v">
                <p:oleObj spid="_x0000_s675876" name="Equation" r:id="rId5" imgW="3225600" imgH="1384200" progId="Equation.3">
                  <p:embed/>
                </p:oleObj>
              </mc:Choice>
              <mc:Fallback>
                <p:oleObj name="Equation" r:id="rId5" imgW="3225600" imgH="1384200" progId="Equation.3">
                  <p:embed/>
                  <p:pic>
                    <p:nvPicPr>
                      <p:cNvPr id="315398"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819650"/>
                        <a:ext cx="32258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2582801507"/>
              </p:ext>
            </p:extLst>
          </p:nvPr>
        </p:nvGraphicFramePr>
        <p:xfrm>
          <a:off x="4778103" y="4356100"/>
          <a:ext cx="4076700" cy="1739900"/>
        </p:xfrm>
        <a:graphic>
          <a:graphicData uri="http://schemas.openxmlformats.org/presentationml/2006/ole">
            <mc:AlternateContent xmlns:mc="http://schemas.openxmlformats.org/markup-compatibility/2006">
              <mc:Choice xmlns:v="urn:schemas-microsoft-com:vml" Requires="v">
                <p:oleObj spid="_x0000_s675877" name="Equation" r:id="rId7" imgW="4076640" imgH="1739880" progId="Equation.3">
                  <p:embed/>
                </p:oleObj>
              </mc:Choice>
              <mc:Fallback>
                <p:oleObj name="Equation" r:id="rId7" imgW="4076640" imgH="1739880" progId="Equation.3">
                  <p:embed/>
                  <p:pic>
                    <p:nvPicPr>
                      <p:cNvPr id="315399"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78103" y="4356100"/>
                        <a:ext cx="40767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0463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0" indent="0" algn="just">
              <a:lnSpc>
                <a:spcPct val="120000"/>
              </a:lnSpc>
              <a:buNone/>
            </a:pPr>
            <a:r>
              <a:rPr lang="en-US" sz="2800" b="1" dirty="0">
                <a:solidFill>
                  <a:srgbClr val="0000FF"/>
                </a:solidFill>
              </a:rPr>
              <a:t>(b)</a:t>
            </a:r>
          </a:p>
          <a:p>
            <a:pPr marL="346075" indent="-346075" algn="just">
              <a:lnSpc>
                <a:spcPct val="120000"/>
              </a:lnSpc>
            </a:pPr>
            <a:endParaRPr lang="en-US" sz="2800" b="1" dirty="0">
              <a:solidFill>
                <a:srgbClr val="0000FF"/>
              </a:solidFill>
            </a:endParaRPr>
          </a:p>
          <a:p>
            <a:pPr marL="0" indent="0" algn="just">
              <a:lnSpc>
                <a:spcPct val="120000"/>
              </a:lnSpc>
              <a:buNone/>
            </a:pPr>
            <a:r>
              <a:rPr lang="en-US" sz="2800" b="1" dirty="0" smtClean="0">
                <a:solidFill>
                  <a:srgbClr val="0000FF"/>
                </a:solidFill>
              </a:rPr>
              <a:t>(</a:t>
            </a:r>
            <a:r>
              <a:rPr lang="en-US" sz="2800" b="1" dirty="0">
                <a:solidFill>
                  <a:srgbClr val="0000FF"/>
                </a:solidFill>
              </a:rPr>
              <a:t>c) </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22</a:t>
            </a:fld>
            <a:endParaRPr lang="ko-KR" altLang="en-US" dirty="0">
              <a:solidFill>
                <a:srgbClr val="000000"/>
              </a:solidFill>
            </a:endParaRPr>
          </a:p>
        </p:txBody>
      </p:sp>
      <p:graphicFrame>
        <p:nvGraphicFramePr>
          <p:cNvPr id="5" name="Object 10"/>
          <p:cNvGraphicFramePr>
            <a:graphicFrameLocks noChangeAspect="1"/>
          </p:cNvGraphicFramePr>
          <p:nvPr>
            <p:extLst>
              <p:ext uri="{D42A27DB-BD31-4B8C-83A1-F6EECF244321}">
                <p14:modId xmlns:p14="http://schemas.microsoft.com/office/powerpoint/2010/main" val="513554198"/>
              </p:ext>
            </p:extLst>
          </p:nvPr>
        </p:nvGraphicFramePr>
        <p:xfrm>
          <a:off x="1981200" y="1403350"/>
          <a:ext cx="2044700" cy="673100"/>
        </p:xfrm>
        <a:graphic>
          <a:graphicData uri="http://schemas.openxmlformats.org/presentationml/2006/ole">
            <mc:AlternateContent xmlns:mc="http://schemas.openxmlformats.org/markup-compatibility/2006">
              <mc:Choice xmlns:v="urn:schemas-microsoft-com:vml" Requires="v">
                <p:oleObj spid="_x0000_s676906" name="Equation" r:id="rId3" imgW="2044440" imgH="672840" progId="Equation.3">
                  <p:embed/>
                </p:oleObj>
              </mc:Choice>
              <mc:Fallback>
                <p:oleObj name="Equation" r:id="rId3" imgW="2044440" imgH="672840" progId="Equation.3">
                  <p:embed/>
                  <p:pic>
                    <p:nvPicPr>
                      <p:cNvPr id="316422"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403350"/>
                        <a:ext cx="204470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0"/>
          <p:cNvGraphicFramePr>
            <a:graphicFrameLocks noChangeAspect="1"/>
          </p:cNvGraphicFramePr>
          <p:nvPr>
            <p:extLst>
              <p:ext uri="{D42A27DB-BD31-4B8C-83A1-F6EECF244321}">
                <p14:modId xmlns:p14="http://schemas.microsoft.com/office/powerpoint/2010/main" val="3889085493"/>
              </p:ext>
            </p:extLst>
          </p:nvPr>
        </p:nvGraphicFramePr>
        <p:xfrm>
          <a:off x="4343400" y="1429476"/>
          <a:ext cx="4140200" cy="508000"/>
        </p:xfrm>
        <a:graphic>
          <a:graphicData uri="http://schemas.openxmlformats.org/presentationml/2006/ole">
            <mc:AlternateContent xmlns:mc="http://schemas.openxmlformats.org/markup-compatibility/2006">
              <mc:Choice xmlns:v="urn:schemas-microsoft-com:vml" Requires="v">
                <p:oleObj spid="_x0000_s676907" name="Equation" r:id="rId5" imgW="4140000" imgH="507960" progId="Equation.3">
                  <p:embed/>
                </p:oleObj>
              </mc:Choice>
              <mc:Fallback>
                <p:oleObj name="Equation" r:id="rId5" imgW="4140000" imgH="507960" progId="Equation.3">
                  <p:embed/>
                  <p:pic>
                    <p:nvPicPr>
                      <p:cNvPr id="31642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429476"/>
                        <a:ext cx="41402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3192414373"/>
              </p:ext>
            </p:extLst>
          </p:nvPr>
        </p:nvGraphicFramePr>
        <p:xfrm>
          <a:off x="1828800" y="2365375"/>
          <a:ext cx="1651000" cy="1384300"/>
        </p:xfrm>
        <a:graphic>
          <a:graphicData uri="http://schemas.openxmlformats.org/presentationml/2006/ole">
            <mc:AlternateContent xmlns:mc="http://schemas.openxmlformats.org/markup-compatibility/2006">
              <mc:Choice xmlns:v="urn:schemas-microsoft-com:vml" Requires="v">
                <p:oleObj spid="_x0000_s676908" name="Equation" r:id="rId7" imgW="1650960" imgH="1384200" progId="Equation.3">
                  <p:embed/>
                </p:oleObj>
              </mc:Choice>
              <mc:Fallback>
                <p:oleObj name="Equation" r:id="rId7" imgW="1650960" imgH="1384200" progId="Equation.3">
                  <p:embed/>
                  <p:pic>
                    <p:nvPicPr>
                      <p:cNvPr id="31642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2365375"/>
                        <a:ext cx="16510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2794576831"/>
              </p:ext>
            </p:extLst>
          </p:nvPr>
        </p:nvGraphicFramePr>
        <p:xfrm>
          <a:off x="2533650" y="3751852"/>
          <a:ext cx="7124700" cy="1282700"/>
        </p:xfrm>
        <a:graphic>
          <a:graphicData uri="http://schemas.openxmlformats.org/presentationml/2006/ole">
            <mc:AlternateContent xmlns:mc="http://schemas.openxmlformats.org/markup-compatibility/2006">
              <mc:Choice xmlns:v="urn:schemas-microsoft-com:vml" Requires="v">
                <p:oleObj spid="_x0000_s676909" name="Equation" r:id="rId9" imgW="7124400" imgH="1282680" progId="Equation.3">
                  <p:embed/>
                </p:oleObj>
              </mc:Choice>
              <mc:Fallback>
                <p:oleObj name="Equation" r:id="rId9" imgW="7124400" imgH="1282680" progId="Equation.3">
                  <p:embed/>
                  <p:pic>
                    <p:nvPicPr>
                      <p:cNvPr id="316425"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3650" y="3751852"/>
                        <a:ext cx="71247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38108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i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400" dirty="0">
                <a:solidFill>
                  <a:srgbClr val="0000FF"/>
                </a:solidFill>
              </a:rPr>
              <a:t>Power in three-phase circuits</a:t>
            </a:r>
          </a:p>
          <a:p>
            <a:pPr marL="566738" indent="-219075" algn="just">
              <a:lnSpc>
                <a:spcPct val="120000"/>
              </a:lnSpc>
            </a:pPr>
            <a:r>
              <a:rPr lang="en-US" sz="2400" dirty="0">
                <a:solidFill>
                  <a:srgbClr val="0000FF"/>
                </a:solidFill>
              </a:rPr>
              <a:t>The total apparent  power of a balanced three-phase circuit (star or delta) is </a:t>
            </a:r>
            <a:r>
              <a:rPr lang="en-US" sz="2400" dirty="0" smtClean="0">
                <a:solidFill>
                  <a:srgbClr val="0000FF"/>
                </a:solidFill>
              </a:rPr>
              <a:t>       given </a:t>
            </a:r>
            <a:r>
              <a:rPr lang="en-US" sz="2400" dirty="0">
                <a:solidFill>
                  <a:srgbClr val="0000FF"/>
                </a:solidFill>
              </a:rPr>
              <a:t>by:</a:t>
            </a:r>
          </a:p>
          <a:p>
            <a:pPr marL="566738" indent="-219075" algn="just">
              <a:lnSpc>
                <a:spcPct val="120000"/>
              </a:lnSpc>
            </a:pPr>
            <a:endParaRPr lang="en-US" sz="2400" dirty="0">
              <a:solidFill>
                <a:srgbClr val="0000FF"/>
              </a:solidFill>
            </a:endParaRPr>
          </a:p>
          <a:p>
            <a:pPr marL="566738" indent="-219075" algn="just">
              <a:lnSpc>
                <a:spcPct val="120000"/>
              </a:lnSpc>
            </a:pPr>
            <a:r>
              <a:rPr lang="en-US" sz="2400" dirty="0">
                <a:solidFill>
                  <a:srgbClr val="0000FF"/>
                </a:solidFill>
              </a:rPr>
              <a:t>The total active power of a balanced three-phase circuit (star or delta) is </a:t>
            </a:r>
            <a:r>
              <a:rPr lang="en-US" sz="2400" dirty="0" smtClean="0">
                <a:solidFill>
                  <a:srgbClr val="0000FF"/>
                </a:solidFill>
              </a:rPr>
              <a:t> given   by</a:t>
            </a:r>
            <a:r>
              <a:rPr lang="en-US" sz="2400" dirty="0">
                <a:solidFill>
                  <a:srgbClr val="0000FF"/>
                </a:solidFill>
              </a:rPr>
              <a:t>:</a:t>
            </a:r>
          </a:p>
          <a:p>
            <a:pPr marL="566738" indent="-219075" algn="just">
              <a:lnSpc>
                <a:spcPct val="120000"/>
              </a:lnSpc>
            </a:pPr>
            <a:endParaRPr lang="en-US" sz="2400" dirty="0">
              <a:solidFill>
                <a:srgbClr val="0000FF"/>
              </a:solidFill>
            </a:endParaRPr>
          </a:p>
          <a:p>
            <a:pPr marL="566738" indent="-219075" algn="just">
              <a:lnSpc>
                <a:spcPct val="120000"/>
              </a:lnSpc>
            </a:pPr>
            <a:r>
              <a:rPr lang="en-US" sz="2400" dirty="0">
                <a:solidFill>
                  <a:srgbClr val="0000FF"/>
                </a:solidFill>
              </a:rPr>
              <a:t>The total reactive power of a balanced three-phase circuit (star or delta) is given by</a:t>
            </a:r>
            <a:r>
              <a:rPr lang="en-US" sz="2400" b="1" dirty="0">
                <a:solidFill>
                  <a:srgbClr val="0000FF"/>
                </a:solidFill>
              </a:rPr>
              <a:t>:</a:t>
            </a:r>
          </a:p>
          <a:p>
            <a:pPr marL="566738" indent="-219075" algn="just">
              <a:lnSpc>
                <a:spcPct val="120000"/>
              </a:lnSpc>
            </a:pPr>
            <a:endParaRPr lang="en-US" sz="9600" b="1" dirty="0">
              <a:solidFill>
                <a:srgbClr val="0000FF"/>
              </a:solidFill>
            </a:endParaRPr>
          </a:p>
          <a:p>
            <a:pPr marL="346075" indent="-346075" algn="just">
              <a:lnSpc>
                <a:spcPct val="120000"/>
              </a:lnSpc>
            </a:pPr>
            <a:endParaRPr lang="en-US" sz="9600" b="1" dirty="0">
              <a:solidFill>
                <a:srgbClr val="0000FF"/>
              </a:solidFill>
            </a:endParaRP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23</a:t>
            </a:fld>
            <a:endParaRPr lang="ko-KR" altLang="en-US" dirty="0">
              <a:solidFill>
                <a:srgbClr val="000000"/>
              </a:solidFill>
            </a:endParaRPr>
          </a:p>
        </p:txBody>
      </p:sp>
      <p:graphicFrame>
        <p:nvGraphicFramePr>
          <p:cNvPr id="5" name="Object 10"/>
          <p:cNvGraphicFramePr>
            <a:graphicFrameLocks noChangeAspect="1"/>
          </p:cNvGraphicFramePr>
          <p:nvPr/>
        </p:nvGraphicFramePr>
        <p:xfrm>
          <a:off x="2590800" y="2743200"/>
          <a:ext cx="2413000" cy="609600"/>
        </p:xfrm>
        <a:graphic>
          <a:graphicData uri="http://schemas.openxmlformats.org/presentationml/2006/ole">
            <mc:AlternateContent xmlns:mc="http://schemas.openxmlformats.org/markup-compatibility/2006">
              <mc:Choice xmlns:v="urn:schemas-microsoft-com:vml" Requires="v">
                <p:oleObj spid="_x0000_s677920" name="Equation" r:id="rId3" imgW="2412720" imgH="609480" progId="Equation.3">
                  <p:embed/>
                </p:oleObj>
              </mc:Choice>
              <mc:Fallback>
                <p:oleObj name="Equation" r:id="rId3" imgW="2412720" imgH="609480" progId="Equation.3">
                  <p:embed/>
                  <p:pic>
                    <p:nvPicPr>
                      <p:cNvPr id="316422"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743200"/>
                        <a:ext cx="2413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0"/>
          <p:cNvGraphicFramePr>
            <a:graphicFrameLocks noChangeAspect="1"/>
          </p:cNvGraphicFramePr>
          <p:nvPr/>
        </p:nvGraphicFramePr>
        <p:xfrm>
          <a:off x="2527300" y="4267200"/>
          <a:ext cx="3568700" cy="609600"/>
        </p:xfrm>
        <a:graphic>
          <a:graphicData uri="http://schemas.openxmlformats.org/presentationml/2006/ole">
            <mc:AlternateContent xmlns:mc="http://schemas.openxmlformats.org/markup-compatibility/2006">
              <mc:Choice xmlns:v="urn:schemas-microsoft-com:vml" Requires="v">
                <p:oleObj spid="_x0000_s677921" name="Equation" r:id="rId5" imgW="3568680" imgH="609480" progId="Equation.3">
                  <p:embed/>
                </p:oleObj>
              </mc:Choice>
              <mc:Fallback>
                <p:oleObj name="Equation" r:id="rId5" imgW="3568680" imgH="609480" progId="Equation.3">
                  <p:embed/>
                  <p:pic>
                    <p:nvPicPr>
                      <p:cNvPr id="31744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7300" y="4267200"/>
                        <a:ext cx="35687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447999600"/>
              </p:ext>
            </p:extLst>
          </p:nvPr>
        </p:nvGraphicFramePr>
        <p:xfrm>
          <a:off x="2743200" y="5594350"/>
          <a:ext cx="3517900" cy="609600"/>
        </p:xfrm>
        <a:graphic>
          <a:graphicData uri="http://schemas.openxmlformats.org/presentationml/2006/ole">
            <mc:AlternateContent xmlns:mc="http://schemas.openxmlformats.org/markup-compatibility/2006">
              <mc:Choice xmlns:v="urn:schemas-microsoft-com:vml" Requires="v">
                <p:oleObj spid="_x0000_s677922" name="Equation" r:id="rId7" imgW="3517560" imgH="609480" progId="Equation.3">
                  <p:embed/>
                </p:oleObj>
              </mc:Choice>
              <mc:Fallback>
                <p:oleObj name="Equation" r:id="rId7" imgW="3517560" imgH="609480" progId="Equation.3">
                  <p:embed/>
                  <p:pic>
                    <p:nvPicPr>
                      <p:cNvPr id="31744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5594350"/>
                        <a:ext cx="3517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9667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i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ox(in)">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800" dirty="0">
                <a:solidFill>
                  <a:srgbClr val="0000FF"/>
                </a:solidFill>
              </a:rPr>
              <a:t>Analysis of parallel balanced three-phase circuit problems</a:t>
            </a:r>
          </a:p>
          <a:p>
            <a:pPr marL="566738" indent="-219075" algn="just">
              <a:lnSpc>
                <a:spcPct val="120000"/>
              </a:lnSpc>
            </a:pPr>
            <a:r>
              <a:rPr lang="en-US" sz="2800" dirty="0">
                <a:solidFill>
                  <a:srgbClr val="0000FF"/>
                </a:solidFill>
              </a:rPr>
              <a:t>When the parallel loads are not of the same kind(say one is delta and the other is star), then they must be changed either all to star or all to delta.</a:t>
            </a:r>
          </a:p>
          <a:p>
            <a:pPr marL="566738" indent="-219075" algn="just">
              <a:lnSpc>
                <a:spcPct val="120000"/>
              </a:lnSpc>
            </a:pPr>
            <a:r>
              <a:rPr lang="en-US" sz="2800" dirty="0">
                <a:solidFill>
                  <a:srgbClr val="0000FF"/>
                </a:solidFill>
              </a:rPr>
              <a:t>When all are in star, the circuit is analyzed by taking one phase of </a:t>
            </a:r>
            <a:r>
              <a:rPr lang="en-US" sz="2800" dirty="0" smtClean="0">
                <a:solidFill>
                  <a:srgbClr val="0000FF"/>
                </a:solidFill>
              </a:rPr>
              <a:t>    each </a:t>
            </a:r>
            <a:r>
              <a:rPr lang="en-US" sz="2800" dirty="0">
                <a:solidFill>
                  <a:srgbClr val="0000FF"/>
                </a:solidFill>
              </a:rPr>
              <a:t>and applying the star characteristics.</a:t>
            </a:r>
          </a:p>
          <a:p>
            <a:pPr marL="566738" indent="-219075">
              <a:lnSpc>
                <a:spcPct val="120000"/>
              </a:lnSpc>
            </a:pPr>
            <a:r>
              <a:rPr lang="en-US" sz="2800" dirty="0">
                <a:solidFill>
                  <a:srgbClr val="0000FF"/>
                </a:solidFill>
              </a:rPr>
              <a:t>When all are in delta, the circuit </a:t>
            </a:r>
            <a:r>
              <a:rPr lang="en-US" sz="2800" dirty="0" smtClean="0">
                <a:solidFill>
                  <a:srgbClr val="0000FF"/>
                </a:solidFill>
              </a:rPr>
              <a:t>is analyzed </a:t>
            </a:r>
            <a:r>
              <a:rPr lang="en-US" sz="2800" dirty="0">
                <a:solidFill>
                  <a:srgbClr val="0000FF"/>
                </a:solidFill>
              </a:rPr>
              <a:t>by taking one phase of </a:t>
            </a:r>
            <a:r>
              <a:rPr lang="en-US" sz="2800" dirty="0" smtClean="0">
                <a:solidFill>
                  <a:srgbClr val="0000FF"/>
                </a:solidFill>
              </a:rPr>
              <a:t>  each </a:t>
            </a:r>
            <a:r>
              <a:rPr lang="en-US" sz="2800" dirty="0">
                <a:solidFill>
                  <a:srgbClr val="0000FF"/>
                </a:solidFill>
              </a:rPr>
              <a:t>and </a:t>
            </a:r>
            <a:r>
              <a:rPr lang="en-US" sz="2800" dirty="0" smtClean="0">
                <a:solidFill>
                  <a:srgbClr val="0000FF"/>
                </a:solidFill>
              </a:rPr>
              <a:t>applying </a:t>
            </a:r>
            <a:r>
              <a:rPr lang="en-US" sz="2800" dirty="0">
                <a:solidFill>
                  <a:srgbClr val="0000FF"/>
                </a:solidFill>
              </a:rPr>
              <a:t>the delta characteristics.</a:t>
            </a:r>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24</a:t>
            </a:fld>
            <a:endParaRPr lang="ko-KR" altLang="en-US" dirty="0">
              <a:solidFill>
                <a:srgbClr val="000000"/>
              </a:solidFill>
            </a:endParaRPr>
          </a:p>
        </p:txBody>
      </p:sp>
    </p:spTree>
    <p:extLst>
      <p:ext uri="{BB962C8B-B14F-4D97-AF65-F5344CB8AC3E}">
        <p14:creationId xmlns:p14="http://schemas.microsoft.com/office/powerpoint/2010/main" val="138710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566738" indent="-219075" algn="just">
              <a:lnSpc>
                <a:spcPct val="120000"/>
              </a:lnSpc>
            </a:pPr>
            <a:r>
              <a:rPr lang="en-US" sz="2400" dirty="0">
                <a:solidFill>
                  <a:srgbClr val="0000FF"/>
                </a:solidFill>
              </a:rPr>
              <a:t>Parallel circuit are better </a:t>
            </a:r>
            <a:r>
              <a:rPr lang="en-US" sz="2400" dirty="0" err="1">
                <a:solidFill>
                  <a:srgbClr val="0000FF"/>
                </a:solidFill>
              </a:rPr>
              <a:t>analysed</a:t>
            </a:r>
            <a:r>
              <a:rPr lang="en-US" sz="2400" dirty="0">
                <a:solidFill>
                  <a:srgbClr val="0000FF"/>
                </a:solidFill>
              </a:rPr>
              <a:t> by reverting to complex numbers.</a:t>
            </a:r>
          </a:p>
          <a:p>
            <a:pPr marL="566738" indent="-219075" algn="just">
              <a:lnSpc>
                <a:spcPct val="120000"/>
              </a:lnSpc>
            </a:pPr>
            <a:endParaRPr lang="en-US" sz="2400" dirty="0">
              <a:solidFill>
                <a:srgbClr val="0000FF"/>
              </a:solidFill>
            </a:endParaRPr>
          </a:p>
          <a:p>
            <a:pPr marL="401638" indent="-401638" algn="just">
              <a:lnSpc>
                <a:spcPct val="120000"/>
              </a:lnSpc>
              <a:buFont typeface="Wingdings" pitchFamily="2" charset="2"/>
              <a:buChar char="v"/>
            </a:pPr>
            <a:r>
              <a:rPr lang="en-US" sz="2400" dirty="0">
                <a:solidFill>
                  <a:srgbClr val="0000FF"/>
                </a:solidFill>
              </a:rPr>
              <a:t>Example 1</a:t>
            </a:r>
          </a:p>
          <a:p>
            <a:pPr algn="just">
              <a:lnSpc>
                <a:spcPct val="120000"/>
              </a:lnSpc>
            </a:pPr>
            <a:r>
              <a:rPr lang="en-US" sz="2400" dirty="0">
                <a:solidFill>
                  <a:srgbClr val="0000FF"/>
                </a:solidFill>
              </a:rPr>
              <a:t>A Y-connected impedance Z</a:t>
            </a:r>
            <a:r>
              <a:rPr lang="en-US" sz="2400" baseline="-25000" dirty="0">
                <a:solidFill>
                  <a:srgbClr val="0000FF"/>
                </a:solidFill>
              </a:rPr>
              <a:t>1</a:t>
            </a:r>
            <a:r>
              <a:rPr lang="en-US" sz="2400" dirty="0">
                <a:solidFill>
                  <a:srgbClr val="0000FF"/>
                </a:solidFill>
              </a:rPr>
              <a:t> = 20.0 + j37.75 Ω per phase is connected in parallel with ∆-connected impedance Z</a:t>
            </a:r>
            <a:r>
              <a:rPr lang="en-US" sz="2400" baseline="-25000" dirty="0">
                <a:solidFill>
                  <a:srgbClr val="0000FF"/>
                </a:solidFill>
              </a:rPr>
              <a:t>2</a:t>
            </a:r>
            <a:r>
              <a:rPr lang="en-US" sz="2400" dirty="0">
                <a:solidFill>
                  <a:srgbClr val="0000FF"/>
                </a:solidFill>
              </a:rPr>
              <a:t> = 30.0 – j159.3 Ω per phase.   For an impressed 3-phase voltage of 398 V line to line, compute the line current, power factor and the power taken by the parallel combination.</a:t>
            </a:r>
          </a:p>
          <a:p>
            <a:pPr algn="just">
              <a:lnSpc>
                <a:spcPct val="120000"/>
              </a:lnSpc>
              <a:buFont typeface="Wingdings" pitchFamily="2" charset="2"/>
              <a:buChar char="v"/>
            </a:pPr>
            <a:r>
              <a:rPr lang="en-US" sz="2400" dirty="0">
                <a:solidFill>
                  <a:srgbClr val="0000FF"/>
                </a:solidFill>
              </a:rPr>
              <a:t>Solution</a:t>
            </a:r>
          </a:p>
          <a:p>
            <a:pPr algn="just">
              <a:lnSpc>
                <a:spcPct val="120000"/>
              </a:lnSpc>
            </a:pPr>
            <a:r>
              <a:rPr lang="en-US" sz="2400" dirty="0">
                <a:solidFill>
                  <a:srgbClr val="0000FF"/>
                </a:solidFill>
              </a:rPr>
              <a:t>The circuit is solved by making all star.</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25</a:t>
            </a:fld>
            <a:endParaRPr lang="ko-KR" altLang="en-US" dirty="0">
              <a:solidFill>
                <a:srgbClr val="000000"/>
              </a:solidFill>
            </a:endParaRPr>
          </a:p>
        </p:txBody>
      </p:sp>
    </p:spTree>
    <p:extLst>
      <p:ext uri="{BB962C8B-B14F-4D97-AF65-F5344CB8AC3E}">
        <p14:creationId xmlns:p14="http://schemas.microsoft.com/office/powerpoint/2010/main" val="156740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500"/>
                                        <p:tgtEl>
                                          <p:spTgt spid="3">
                                            <p:txEl>
                                              <p:pRg st="2" end="2"/>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circle(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circle(in)">
                                      <p:cBhvr>
                                        <p:cTn id="20" dur="500"/>
                                        <p:tgtEl>
                                          <p:spTgt spid="3">
                                            <p:txEl>
                                              <p:pRg st="4" end="4"/>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circle(in)">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0" indent="0" algn="just">
              <a:lnSpc>
                <a:spcPct val="120000"/>
              </a:lnSpc>
              <a:buNone/>
            </a:pPr>
            <a:r>
              <a:rPr lang="en-US" sz="2800" dirty="0">
                <a:solidFill>
                  <a:srgbClr val="0000FF"/>
                </a:solidFill>
              </a:rPr>
              <a:t>Y-connected impedance Z</a:t>
            </a:r>
            <a:r>
              <a:rPr lang="en-US" sz="2800" baseline="-25000" dirty="0">
                <a:solidFill>
                  <a:srgbClr val="0000FF"/>
                </a:solidFill>
              </a:rPr>
              <a:t>1</a:t>
            </a:r>
            <a:r>
              <a:rPr lang="en-US" sz="2800" dirty="0">
                <a:solidFill>
                  <a:srgbClr val="0000FF"/>
                </a:solidFill>
              </a:rPr>
              <a:t> = 20.0 + j37.75 Ω</a:t>
            </a:r>
          </a:p>
          <a:p>
            <a:pPr marL="0" indent="0" algn="just">
              <a:lnSpc>
                <a:spcPct val="120000"/>
              </a:lnSpc>
              <a:buNone/>
            </a:pPr>
            <a:r>
              <a:rPr lang="en-US" sz="2800" dirty="0">
                <a:solidFill>
                  <a:srgbClr val="0000FF"/>
                </a:solidFill>
              </a:rPr>
              <a:t>∆-connected impedance Z</a:t>
            </a:r>
            <a:r>
              <a:rPr lang="en-US" sz="2800" baseline="-25000" dirty="0">
                <a:solidFill>
                  <a:srgbClr val="0000FF"/>
                </a:solidFill>
              </a:rPr>
              <a:t>2</a:t>
            </a:r>
            <a:r>
              <a:rPr lang="en-US" sz="2800" dirty="0">
                <a:solidFill>
                  <a:srgbClr val="0000FF"/>
                </a:solidFill>
              </a:rPr>
              <a:t> = 30.0 – j159.3 Ω</a:t>
            </a:r>
          </a:p>
          <a:p>
            <a:pPr marL="0" indent="0" algn="just">
              <a:lnSpc>
                <a:spcPct val="120000"/>
              </a:lnSpc>
              <a:buNone/>
            </a:pPr>
            <a:r>
              <a:rPr lang="en-US" sz="2800" dirty="0" smtClean="0">
                <a:solidFill>
                  <a:srgbClr val="0000FF"/>
                </a:solidFill>
              </a:rPr>
              <a:t>Changing </a:t>
            </a:r>
            <a:r>
              <a:rPr lang="en-US" sz="2800" dirty="0">
                <a:solidFill>
                  <a:srgbClr val="0000FF"/>
                </a:solidFill>
              </a:rPr>
              <a:t>the delta to star</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26</a:t>
            </a:fld>
            <a:endParaRPr lang="ko-KR" altLang="en-US" dirty="0">
              <a:solidFill>
                <a:srgbClr val="000000"/>
              </a:solidFill>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2222704302"/>
              </p:ext>
            </p:extLst>
          </p:nvPr>
        </p:nvGraphicFramePr>
        <p:xfrm>
          <a:off x="4953000" y="2438400"/>
          <a:ext cx="4076700" cy="1168400"/>
        </p:xfrm>
        <a:graphic>
          <a:graphicData uri="http://schemas.openxmlformats.org/presentationml/2006/ole">
            <mc:AlternateContent xmlns:mc="http://schemas.openxmlformats.org/markup-compatibility/2006">
              <mc:Choice xmlns:v="urn:schemas-microsoft-com:vml" Requires="v">
                <p:oleObj spid="_x0000_s678975" name="Equation" r:id="rId3" imgW="4076640" imgH="1168200" progId="Equation.3">
                  <p:embed/>
                </p:oleObj>
              </mc:Choice>
              <mc:Fallback>
                <p:oleObj name="Equation" r:id="rId3" imgW="4076640" imgH="1168200" progId="Equation.3">
                  <p:embed/>
                  <p:pic>
                    <p:nvPicPr>
                      <p:cNvPr id="33997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2438400"/>
                        <a:ext cx="40767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69731776"/>
              </p:ext>
            </p:extLst>
          </p:nvPr>
        </p:nvGraphicFramePr>
        <p:xfrm>
          <a:off x="9241246" y="2762250"/>
          <a:ext cx="2946400" cy="520700"/>
        </p:xfrm>
        <a:graphic>
          <a:graphicData uri="http://schemas.openxmlformats.org/presentationml/2006/ole">
            <mc:AlternateContent xmlns:mc="http://schemas.openxmlformats.org/markup-compatibility/2006">
              <mc:Choice xmlns:v="urn:schemas-microsoft-com:vml" Requires="v">
                <p:oleObj spid="_x0000_s678976" name="Equation" r:id="rId5" imgW="2946240" imgH="520560" progId="Equation.3">
                  <p:embed/>
                </p:oleObj>
              </mc:Choice>
              <mc:Fallback>
                <p:oleObj name="Equation" r:id="rId5" imgW="2946240" imgH="520560" progId="Equation.3">
                  <p:embed/>
                  <p:pic>
                    <p:nvPicPr>
                      <p:cNvPr id="33997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41246" y="2762250"/>
                        <a:ext cx="29464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167857242"/>
              </p:ext>
            </p:extLst>
          </p:nvPr>
        </p:nvGraphicFramePr>
        <p:xfrm>
          <a:off x="2540000" y="3464605"/>
          <a:ext cx="3556000" cy="1181100"/>
        </p:xfrm>
        <a:graphic>
          <a:graphicData uri="http://schemas.openxmlformats.org/presentationml/2006/ole">
            <mc:AlternateContent xmlns:mc="http://schemas.openxmlformats.org/markup-compatibility/2006">
              <mc:Choice xmlns:v="urn:schemas-microsoft-com:vml" Requires="v">
                <p:oleObj spid="_x0000_s678977" name="Equation" r:id="rId7" imgW="3555720" imgH="1180800" progId="Equation.3">
                  <p:embed/>
                </p:oleObj>
              </mc:Choice>
              <mc:Fallback>
                <p:oleObj name="Equation" r:id="rId7" imgW="3555720" imgH="1180800" progId="Equation.3">
                  <p:embed/>
                  <p:pic>
                    <p:nvPicPr>
                      <p:cNvPr id="33997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0000" y="3464605"/>
                        <a:ext cx="35560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345353072"/>
              </p:ext>
            </p:extLst>
          </p:nvPr>
        </p:nvGraphicFramePr>
        <p:xfrm>
          <a:off x="2321923" y="4495800"/>
          <a:ext cx="2819400" cy="1346200"/>
        </p:xfrm>
        <a:graphic>
          <a:graphicData uri="http://schemas.openxmlformats.org/presentationml/2006/ole">
            <mc:AlternateContent xmlns:mc="http://schemas.openxmlformats.org/markup-compatibility/2006">
              <mc:Choice xmlns:v="urn:schemas-microsoft-com:vml" Requires="v">
                <p:oleObj spid="_x0000_s678978" name="Equation" r:id="rId9" imgW="2819160" imgH="1346040" progId="Equation.3">
                  <p:embed/>
                </p:oleObj>
              </mc:Choice>
              <mc:Fallback>
                <p:oleObj name="Equation" r:id="rId9" imgW="2819160" imgH="1346040" progId="Equation.3">
                  <p:embed/>
                  <p:pic>
                    <p:nvPicPr>
                      <p:cNvPr id="339976"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1923" y="4495800"/>
                        <a:ext cx="2819400"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9"/>
          <p:cNvGraphicFramePr>
            <a:graphicFrameLocks noChangeAspect="1"/>
          </p:cNvGraphicFramePr>
          <p:nvPr>
            <p:extLst>
              <p:ext uri="{D42A27DB-BD31-4B8C-83A1-F6EECF244321}">
                <p14:modId xmlns:p14="http://schemas.microsoft.com/office/powerpoint/2010/main" val="1228998634"/>
              </p:ext>
            </p:extLst>
          </p:nvPr>
        </p:nvGraphicFramePr>
        <p:xfrm>
          <a:off x="5148761" y="4875552"/>
          <a:ext cx="3060700" cy="495300"/>
        </p:xfrm>
        <a:graphic>
          <a:graphicData uri="http://schemas.openxmlformats.org/presentationml/2006/ole">
            <mc:AlternateContent xmlns:mc="http://schemas.openxmlformats.org/markup-compatibility/2006">
              <mc:Choice xmlns:v="urn:schemas-microsoft-com:vml" Requires="v">
                <p:oleObj spid="_x0000_s678979" name="Equation" r:id="rId11" imgW="3060360" imgH="495000" progId="Equation.3">
                  <p:embed/>
                </p:oleObj>
              </mc:Choice>
              <mc:Fallback>
                <p:oleObj name="Equation" r:id="rId11" imgW="3060360" imgH="495000" progId="Equation.3">
                  <p:embed/>
                  <p:pic>
                    <p:nvPicPr>
                      <p:cNvPr id="339977"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48761" y="4875552"/>
                        <a:ext cx="30607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2625013379"/>
              </p:ext>
            </p:extLst>
          </p:nvPr>
        </p:nvGraphicFramePr>
        <p:xfrm>
          <a:off x="8134351" y="3456078"/>
          <a:ext cx="4267199" cy="2200275"/>
        </p:xfrm>
        <a:graphic>
          <a:graphicData uri="http://schemas.openxmlformats.org/presentationml/2006/ole">
            <mc:AlternateContent xmlns:mc="http://schemas.openxmlformats.org/markup-compatibility/2006">
              <mc:Choice xmlns:v="urn:schemas-microsoft-com:vml" Requires="v">
                <p:oleObj spid="_x0000_s678980" name="Visio" r:id="rId13" imgW="1867721" imgH="1503260" progId="Visio.Drawing.11">
                  <p:embed/>
                </p:oleObj>
              </mc:Choice>
              <mc:Fallback>
                <p:oleObj name="Visio" r:id="rId13" imgW="1867721" imgH="1503260" progId="Visio.Drawing.11">
                  <p:embed/>
                  <p:pic>
                    <p:nvPicPr>
                      <p:cNvPr id="339974"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34351" y="3456078"/>
                        <a:ext cx="4267199"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6646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ox(i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27</a:t>
            </a:fld>
            <a:endParaRPr lang="ko-KR" altLang="en-US" dirty="0">
              <a:solidFill>
                <a:srgbClr val="000000"/>
              </a:solidFill>
            </a:endParaRPr>
          </a:p>
        </p:txBody>
      </p:sp>
      <p:graphicFrame>
        <p:nvGraphicFramePr>
          <p:cNvPr id="5" name="Object 7"/>
          <p:cNvGraphicFramePr>
            <a:graphicFrameLocks noGrp="1" noChangeAspect="1"/>
          </p:cNvGraphicFramePr>
          <p:nvPr>
            <p:ph idx="1"/>
            <p:extLst>
              <p:ext uri="{D42A27DB-BD31-4B8C-83A1-F6EECF244321}">
                <p14:modId xmlns:p14="http://schemas.microsoft.com/office/powerpoint/2010/main" val="3559064803"/>
              </p:ext>
            </p:extLst>
          </p:nvPr>
        </p:nvGraphicFramePr>
        <p:xfrm>
          <a:off x="1295400" y="1676400"/>
          <a:ext cx="3378200" cy="647700"/>
        </p:xfrm>
        <a:graphic>
          <a:graphicData uri="http://schemas.openxmlformats.org/presentationml/2006/ole">
            <mc:AlternateContent xmlns:mc="http://schemas.openxmlformats.org/markup-compatibility/2006">
              <mc:Choice xmlns:v="urn:schemas-microsoft-com:vml" Requires="v">
                <p:oleObj spid="_x0000_s680018" name="Equation" r:id="rId3" imgW="3377880" imgH="647640" progId="Equation.3">
                  <p:embed/>
                </p:oleObj>
              </mc:Choice>
              <mc:Fallback>
                <p:oleObj name="Equation" r:id="rId3" imgW="3377880" imgH="647640" progId="Equation.3">
                  <p:embed/>
                  <p:pic>
                    <p:nvPicPr>
                      <p:cNvPr id="33997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76400"/>
                        <a:ext cx="33782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4293366965"/>
              </p:ext>
            </p:extLst>
          </p:nvPr>
        </p:nvGraphicFramePr>
        <p:xfrm>
          <a:off x="1295400" y="2343694"/>
          <a:ext cx="2184400" cy="520700"/>
        </p:xfrm>
        <a:graphic>
          <a:graphicData uri="http://schemas.openxmlformats.org/presentationml/2006/ole">
            <mc:AlternateContent xmlns:mc="http://schemas.openxmlformats.org/markup-compatibility/2006">
              <mc:Choice xmlns:v="urn:schemas-microsoft-com:vml" Requires="v">
                <p:oleObj spid="_x0000_s680019" name="Equation" r:id="rId5" imgW="2184120" imgH="520560" progId="Equation.3">
                  <p:embed/>
                </p:oleObj>
              </mc:Choice>
              <mc:Fallback>
                <p:oleObj name="Equation" r:id="rId5" imgW="2184120" imgH="520560" progId="Equation.3">
                  <p:embed/>
                  <p:pic>
                    <p:nvPicPr>
                      <p:cNvPr id="34100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2343694"/>
                        <a:ext cx="21844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493415752"/>
              </p:ext>
            </p:extLst>
          </p:nvPr>
        </p:nvGraphicFramePr>
        <p:xfrm>
          <a:off x="3683000" y="2221774"/>
          <a:ext cx="1981200" cy="495300"/>
        </p:xfrm>
        <a:graphic>
          <a:graphicData uri="http://schemas.openxmlformats.org/presentationml/2006/ole">
            <mc:AlternateContent xmlns:mc="http://schemas.openxmlformats.org/markup-compatibility/2006">
              <mc:Choice xmlns:v="urn:schemas-microsoft-com:vml" Requires="v">
                <p:oleObj spid="_x0000_s680020" name="Equation" r:id="rId7" imgW="1981080" imgH="495000" progId="Equation.3">
                  <p:embed/>
                </p:oleObj>
              </mc:Choice>
              <mc:Fallback>
                <p:oleObj name="Equation" r:id="rId7" imgW="1981080" imgH="495000" progId="Equation.3">
                  <p:embed/>
                  <p:pic>
                    <p:nvPicPr>
                      <p:cNvPr id="34100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3000" y="2221774"/>
                        <a:ext cx="19812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1427506"/>
              </p:ext>
            </p:extLst>
          </p:nvPr>
        </p:nvGraphicFramePr>
        <p:xfrm>
          <a:off x="5867400" y="2259874"/>
          <a:ext cx="1587500" cy="419100"/>
        </p:xfrm>
        <a:graphic>
          <a:graphicData uri="http://schemas.openxmlformats.org/presentationml/2006/ole">
            <mc:AlternateContent xmlns:mc="http://schemas.openxmlformats.org/markup-compatibility/2006">
              <mc:Choice xmlns:v="urn:schemas-microsoft-com:vml" Requires="v">
                <p:oleObj spid="_x0000_s680021" name="Equation" r:id="rId9" imgW="1587240" imgH="419040" progId="Equation.3">
                  <p:embed/>
                </p:oleObj>
              </mc:Choice>
              <mc:Fallback>
                <p:oleObj name="Equation" r:id="rId9" imgW="1587240" imgH="419040" progId="Equation.3">
                  <p:embed/>
                  <p:pic>
                    <p:nvPicPr>
                      <p:cNvPr id="341002"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2259874"/>
                        <a:ext cx="1587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3538366610"/>
              </p:ext>
            </p:extLst>
          </p:nvPr>
        </p:nvGraphicFramePr>
        <p:xfrm>
          <a:off x="7463609" y="2270759"/>
          <a:ext cx="1638300" cy="520700"/>
        </p:xfrm>
        <a:graphic>
          <a:graphicData uri="http://schemas.openxmlformats.org/presentationml/2006/ole">
            <mc:AlternateContent xmlns:mc="http://schemas.openxmlformats.org/markup-compatibility/2006">
              <mc:Choice xmlns:v="urn:schemas-microsoft-com:vml" Requires="v">
                <p:oleObj spid="_x0000_s680022" name="Equation" r:id="rId11" imgW="1638000" imgH="520560" progId="Equation.3">
                  <p:embed/>
                </p:oleObj>
              </mc:Choice>
              <mc:Fallback>
                <p:oleObj name="Equation" r:id="rId11" imgW="1638000" imgH="520560" progId="Equation.3">
                  <p:embed/>
                  <p:pic>
                    <p:nvPicPr>
                      <p:cNvPr id="341003"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63609" y="2270759"/>
                        <a:ext cx="1638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772203189"/>
              </p:ext>
            </p:extLst>
          </p:nvPr>
        </p:nvGraphicFramePr>
        <p:xfrm>
          <a:off x="1524000" y="2957648"/>
          <a:ext cx="3568700" cy="609600"/>
        </p:xfrm>
        <a:graphic>
          <a:graphicData uri="http://schemas.openxmlformats.org/presentationml/2006/ole">
            <mc:AlternateContent xmlns:mc="http://schemas.openxmlformats.org/markup-compatibility/2006">
              <mc:Choice xmlns:v="urn:schemas-microsoft-com:vml" Requires="v">
                <p:oleObj spid="_x0000_s680023" name="Equation" r:id="rId13" imgW="3568680" imgH="609480" progId="Equation.3">
                  <p:embed/>
                </p:oleObj>
              </mc:Choice>
              <mc:Fallback>
                <p:oleObj name="Equation" r:id="rId13" imgW="3568680" imgH="609480" progId="Equation.3">
                  <p:embed/>
                  <p:pic>
                    <p:nvPicPr>
                      <p:cNvPr id="341004"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0" y="2957648"/>
                        <a:ext cx="35687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7"/>
          <p:cNvGraphicFramePr>
            <a:graphicFrameLocks noChangeAspect="1"/>
          </p:cNvGraphicFramePr>
          <p:nvPr>
            <p:extLst>
              <p:ext uri="{D42A27DB-BD31-4B8C-83A1-F6EECF244321}">
                <p14:modId xmlns:p14="http://schemas.microsoft.com/office/powerpoint/2010/main" val="1505284318"/>
              </p:ext>
            </p:extLst>
          </p:nvPr>
        </p:nvGraphicFramePr>
        <p:xfrm>
          <a:off x="2076450" y="3946796"/>
          <a:ext cx="5194300" cy="508000"/>
        </p:xfrm>
        <a:graphic>
          <a:graphicData uri="http://schemas.openxmlformats.org/presentationml/2006/ole">
            <mc:AlternateContent xmlns:mc="http://schemas.openxmlformats.org/markup-compatibility/2006">
              <mc:Choice xmlns:v="urn:schemas-microsoft-com:vml" Requires="v">
                <p:oleObj spid="_x0000_s680024" name="Equation" r:id="rId15" imgW="5194080" imgH="507960" progId="Equation.3">
                  <p:embed/>
                </p:oleObj>
              </mc:Choice>
              <mc:Fallback>
                <p:oleObj name="Equation" r:id="rId15" imgW="5194080" imgH="507960" progId="Equation.3">
                  <p:embed/>
                  <p:pic>
                    <p:nvPicPr>
                      <p:cNvPr id="341005"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76450" y="3946796"/>
                        <a:ext cx="51943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7"/>
          <p:cNvGraphicFramePr>
            <a:graphicFrameLocks noChangeAspect="1"/>
          </p:cNvGraphicFramePr>
          <p:nvPr>
            <p:extLst>
              <p:ext uri="{D42A27DB-BD31-4B8C-83A1-F6EECF244321}">
                <p14:modId xmlns:p14="http://schemas.microsoft.com/office/powerpoint/2010/main" val="1844001809"/>
              </p:ext>
            </p:extLst>
          </p:nvPr>
        </p:nvGraphicFramePr>
        <p:xfrm>
          <a:off x="2228850" y="4765946"/>
          <a:ext cx="2159000" cy="419100"/>
        </p:xfrm>
        <a:graphic>
          <a:graphicData uri="http://schemas.openxmlformats.org/presentationml/2006/ole">
            <mc:AlternateContent xmlns:mc="http://schemas.openxmlformats.org/markup-compatibility/2006">
              <mc:Choice xmlns:v="urn:schemas-microsoft-com:vml" Requires="v">
                <p:oleObj spid="_x0000_s680025" name="Equation" r:id="rId17" imgW="2158920" imgH="419040" progId="Equation.3">
                  <p:embed/>
                </p:oleObj>
              </mc:Choice>
              <mc:Fallback>
                <p:oleObj name="Equation" r:id="rId17" imgW="2158920" imgH="419040" progId="Equation.3">
                  <p:embed/>
                  <p:pic>
                    <p:nvPicPr>
                      <p:cNvPr id="341006"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8850" y="4765946"/>
                        <a:ext cx="21590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4291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ox(i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ox(in)">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400" dirty="0">
                <a:solidFill>
                  <a:srgbClr val="0000FF"/>
                </a:solidFill>
              </a:rPr>
              <a:t>Example 2</a:t>
            </a:r>
          </a:p>
          <a:p>
            <a:pPr marL="0" indent="0" algn="just">
              <a:lnSpc>
                <a:spcPct val="120000"/>
              </a:lnSpc>
              <a:buNone/>
            </a:pPr>
            <a:r>
              <a:rPr lang="en-US" sz="2400" dirty="0">
                <a:solidFill>
                  <a:srgbClr val="0000FF"/>
                </a:solidFill>
              </a:rPr>
              <a:t>A manufacturing plant draws 415 kVA from a 2400 V, 3-phase line.  If the plant power factor is 0.875 lagging, calculate (a) the impedance of the plant per phase (b) the phase angle between the phase voltage and phase current.</a:t>
            </a:r>
          </a:p>
          <a:p>
            <a:pPr algn="just">
              <a:lnSpc>
                <a:spcPct val="120000"/>
              </a:lnSpc>
              <a:buFont typeface="Wingdings" pitchFamily="2" charset="2"/>
              <a:buChar char="v"/>
            </a:pPr>
            <a:r>
              <a:rPr lang="en-US" sz="2400" dirty="0">
                <a:solidFill>
                  <a:srgbClr val="0000FF"/>
                </a:solidFill>
              </a:rPr>
              <a:t>Solution</a:t>
            </a:r>
          </a:p>
          <a:p>
            <a:pPr marL="0" indent="0" algn="just">
              <a:lnSpc>
                <a:spcPct val="120000"/>
              </a:lnSpc>
              <a:buNone/>
            </a:pPr>
            <a:r>
              <a:rPr lang="en-US" sz="2400" dirty="0">
                <a:solidFill>
                  <a:srgbClr val="0000FF"/>
                </a:solidFill>
              </a:rPr>
              <a:t>The load is considered to be star.</a:t>
            </a:r>
          </a:p>
          <a:p>
            <a:pPr marL="346075" indent="-346075" algn="just">
              <a:lnSpc>
                <a:spcPct val="120000"/>
              </a:lnSpc>
            </a:pPr>
            <a:endParaRPr lang="en-US" sz="2400" dirty="0">
              <a:solidFill>
                <a:srgbClr val="0000FF"/>
              </a:solidFill>
            </a:endParaRPr>
          </a:p>
          <a:p>
            <a:pPr marL="0" indent="0" algn="just">
              <a:lnSpc>
                <a:spcPct val="120000"/>
              </a:lnSpc>
              <a:buNone/>
            </a:pPr>
            <a:r>
              <a:rPr lang="en-US" sz="2400" dirty="0">
                <a:solidFill>
                  <a:srgbClr val="0000FF"/>
                </a:solidFill>
              </a:rPr>
              <a:t>(a)</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28</a:t>
            </a:fld>
            <a:endParaRPr lang="ko-KR" altLang="en-US" dirty="0">
              <a:solidFill>
                <a:srgbClr val="00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2059932866"/>
              </p:ext>
            </p:extLst>
          </p:nvPr>
        </p:nvGraphicFramePr>
        <p:xfrm>
          <a:off x="1828800" y="4495800"/>
          <a:ext cx="5232400" cy="1181100"/>
        </p:xfrm>
        <a:graphic>
          <a:graphicData uri="http://schemas.openxmlformats.org/presentationml/2006/ole">
            <mc:AlternateContent xmlns:mc="http://schemas.openxmlformats.org/markup-compatibility/2006">
              <mc:Choice xmlns:v="urn:schemas-microsoft-com:vml" Requires="v">
                <p:oleObj spid="_x0000_s680972" name="Equation" r:id="rId3" imgW="5232240" imgH="1180800" progId="Equation.3">
                  <p:embed/>
                </p:oleObj>
              </mc:Choice>
              <mc:Fallback>
                <p:oleObj name="Equation" r:id="rId3" imgW="5232240" imgH="1180800" progId="Equation.3">
                  <p:embed/>
                  <p:pic>
                    <p:nvPicPr>
                      <p:cNvPr id="34202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495800"/>
                        <a:ext cx="52324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7173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29</a:t>
            </a:fld>
            <a:endParaRPr lang="ko-KR" altLang="en-US" dirty="0">
              <a:solidFill>
                <a:srgbClr val="000000"/>
              </a:solidFill>
            </a:endParaRPr>
          </a:p>
        </p:txBody>
      </p:sp>
      <p:graphicFrame>
        <p:nvGraphicFramePr>
          <p:cNvPr id="5" name="Object 7"/>
          <p:cNvGraphicFramePr>
            <a:graphicFrameLocks noGrp="1" noChangeAspect="1"/>
          </p:cNvGraphicFramePr>
          <p:nvPr>
            <p:ph idx="1"/>
            <p:extLst>
              <p:ext uri="{D42A27DB-BD31-4B8C-83A1-F6EECF244321}">
                <p14:modId xmlns:p14="http://schemas.microsoft.com/office/powerpoint/2010/main" val="1836519727"/>
              </p:ext>
            </p:extLst>
          </p:nvPr>
        </p:nvGraphicFramePr>
        <p:xfrm>
          <a:off x="3124200" y="1447800"/>
          <a:ext cx="5321300" cy="1282700"/>
        </p:xfrm>
        <a:graphic>
          <a:graphicData uri="http://schemas.openxmlformats.org/presentationml/2006/ole">
            <mc:AlternateContent xmlns:mc="http://schemas.openxmlformats.org/markup-compatibility/2006">
              <mc:Choice xmlns:v="urn:schemas-microsoft-com:vml" Requires="v">
                <p:oleObj spid="_x0000_s682036" name="Equation" r:id="rId3" imgW="5321160" imgH="1282680" progId="Equation.3">
                  <p:embed/>
                </p:oleObj>
              </mc:Choice>
              <mc:Fallback>
                <p:oleObj name="Equation" r:id="rId3" imgW="5321160" imgH="1282680" progId="Equation.3">
                  <p:embed/>
                  <p:pic>
                    <p:nvPicPr>
                      <p:cNvPr id="34202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447800"/>
                        <a:ext cx="53213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2503411234"/>
              </p:ext>
            </p:extLst>
          </p:nvPr>
        </p:nvGraphicFramePr>
        <p:xfrm>
          <a:off x="2895600" y="2438400"/>
          <a:ext cx="6261100" cy="1181100"/>
        </p:xfrm>
        <a:graphic>
          <a:graphicData uri="http://schemas.openxmlformats.org/presentationml/2006/ole">
            <mc:AlternateContent xmlns:mc="http://schemas.openxmlformats.org/markup-compatibility/2006">
              <mc:Choice xmlns:v="urn:schemas-microsoft-com:vml" Requires="v">
                <p:oleObj spid="_x0000_s682037" name="Equation" r:id="rId5" imgW="6260760" imgH="1180800" progId="Equation.3">
                  <p:embed/>
                </p:oleObj>
              </mc:Choice>
              <mc:Fallback>
                <p:oleObj name="Equation" r:id="rId5" imgW="6260760" imgH="1180800" progId="Equation.3">
                  <p:embed/>
                  <p:pic>
                    <p:nvPicPr>
                      <p:cNvPr id="34304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2438400"/>
                        <a:ext cx="62611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547693205"/>
              </p:ext>
            </p:extLst>
          </p:nvPr>
        </p:nvGraphicFramePr>
        <p:xfrm>
          <a:off x="3276600" y="3721100"/>
          <a:ext cx="1676400" cy="1397000"/>
        </p:xfrm>
        <a:graphic>
          <a:graphicData uri="http://schemas.openxmlformats.org/presentationml/2006/ole">
            <mc:AlternateContent xmlns:mc="http://schemas.openxmlformats.org/markup-compatibility/2006">
              <mc:Choice xmlns:v="urn:schemas-microsoft-com:vml" Requires="v">
                <p:oleObj spid="_x0000_s682038" name="Equation" r:id="rId7" imgW="1676160" imgH="1396800" progId="Equation.3">
                  <p:embed/>
                </p:oleObj>
              </mc:Choice>
              <mc:Fallback>
                <p:oleObj name="Equation" r:id="rId7" imgW="1676160" imgH="1396800" progId="Equation.3">
                  <p:embed/>
                  <p:pic>
                    <p:nvPicPr>
                      <p:cNvPr id="343044"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3721100"/>
                        <a:ext cx="1676400" cy="139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379718500"/>
              </p:ext>
            </p:extLst>
          </p:nvPr>
        </p:nvGraphicFramePr>
        <p:xfrm>
          <a:off x="5181600" y="3721100"/>
          <a:ext cx="3390900" cy="1168400"/>
        </p:xfrm>
        <a:graphic>
          <a:graphicData uri="http://schemas.openxmlformats.org/presentationml/2006/ole">
            <mc:AlternateContent xmlns:mc="http://schemas.openxmlformats.org/markup-compatibility/2006">
              <mc:Choice xmlns:v="urn:schemas-microsoft-com:vml" Requires="v">
                <p:oleObj spid="_x0000_s682039" name="Equation" r:id="rId9" imgW="3390840" imgH="1168200" progId="Equation.3">
                  <p:embed/>
                </p:oleObj>
              </mc:Choice>
              <mc:Fallback>
                <p:oleObj name="Equation" r:id="rId9" imgW="3390840" imgH="1168200" progId="Equation.3">
                  <p:embed/>
                  <p:pic>
                    <p:nvPicPr>
                      <p:cNvPr id="34304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1600" y="3721100"/>
                        <a:ext cx="33909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2581620150"/>
              </p:ext>
            </p:extLst>
          </p:nvPr>
        </p:nvGraphicFramePr>
        <p:xfrm>
          <a:off x="3479800" y="5410200"/>
          <a:ext cx="4610100" cy="584200"/>
        </p:xfrm>
        <a:graphic>
          <a:graphicData uri="http://schemas.openxmlformats.org/presentationml/2006/ole">
            <mc:AlternateContent xmlns:mc="http://schemas.openxmlformats.org/markup-compatibility/2006">
              <mc:Choice xmlns:v="urn:schemas-microsoft-com:vml" Requires="v">
                <p:oleObj spid="_x0000_s682040" name="Equation" r:id="rId11" imgW="4609800" imgH="583920" progId="Equation.3">
                  <p:embed/>
                </p:oleObj>
              </mc:Choice>
              <mc:Fallback>
                <p:oleObj name="Equation" r:id="rId11" imgW="4609800" imgH="583920" progId="Equation.3">
                  <p:embed/>
                  <p:pic>
                    <p:nvPicPr>
                      <p:cNvPr id="343046"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79800" y="5410200"/>
                        <a:ext cx="46101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5689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ox(i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a:xfrm>
            <a:off x="914400" y="1403350"/>
            <a:ext cx="10820400" cy="4692650"/>
          </a:xfrm>
        </p:spPr>
        <p:txBody>
          <a:bodyPr/>
          <a:lstStyle/>
          <a:p>
            <a:pPr marL="346075" indent="-346075" algn="just">
              <a:lnSpc>
                <a:spcPct val="120000"/>
              </a:lnSpc>
              <a:buFont typeface="Wingdings" pitchFamily="2" charset="2"/>
              <a:buChar char="v"/>
            </a:pPr>
            <a:r>
              <a:rPr lang="en-US" sz="2400" dirty="0">
                <a:solidFill>
                  <a:srgbClr val="0000FF"/>
                </a:solidFill>
              </a:rPr>
              <a:t>Example 3</a:t>
            </a:r>
          </a:p>
          <a:p>
            <a:pPr marL="0" indent="0" algn="just">
              <a:lnSpc>
                <a:spcPct val="120000"/>
              </a:lnSpc>
              <a:buNone/>
            </a:pPr>
            <a:r>
              <a:rPr lang="en-US" sz="2400" dirty="0">
                <a:solidFill>
                  <a:srgbClr val="0000FF"/>
                </a:solidFill>
              </a:rPr>
              <a:t>A star-connected motor is connected to a 4000 V, 3-phase, 50 Hz line. The motor produces an output power of 2681 kW at efficiency of 93 % and a power factor of 0.9 lagging</a:t>
            </a:r>
            <a:r>
              <a:rPr lang="en-US" sz="2400" dirty="0" smtClean="0">
                <a:solidFill>
                  <a:srgbClr val="0000FF"/>
                </a:solidFill>
              </a:rPr>
              <a:t>.    </a:t>
            </a:r>
            <a:r>
              <a:rPr lang="en-US" sz="2400" dirty="0">
                <a:solidFill>
                  <a:srgbClr val="0000FF"/>
                </a:solidFill>
              </a:rPr>
              <a:t>Calculate (a) the active power absorbed by the motor, (b) the reactive power absorbed by the motor, (c) the apparent power supplied by the transmission line and (d) the motor line current. </a:t>
            </a:r>
          </a:p>
          <a:p>
            <a:pPr algn="just">
              <a:lnSpc>
                <a:spcPct val="120000"/>
              </a:lnSpc>
              <a:buFont typeface="Wingdings" pitchFamily="2" charset="2"/>
              <a:buChar char="v"/>
            </a:pPr>
            <a:r>
              <a:rPr lang="en-US" sz="2400" dirty="0">
                <a:solidFill>
                  <a:srgbClr val="0000FF"/>
                </a:solidFill>
              </a:rPr>
              <a:t>Solution</a:t>
            </a:r>
          </a:p>
          <a:p>
            <a:pPr marL="0" indent="0" algn="just">
              <a:lnSpc>
                <a:spcPct val="120000"/>
              </a:lnSpc>
              <a:buNone/>
            </a:pPr>
            <a:r>
              <a:rPr lang="en-US" sz="2400" b="1" dirty="0" smtClean="0">
                <a:solidFill>
                  <a:srgbClr val="0000FF"/>
                </a:solidFill>
              </a:rPr>
              <a:t>(</a:t>
            </a:r>
            <a:r>
              <a:rPr lang="en-US" sz="2400" b="1" dirty="0">
                <a:solidFill>
                  <a:srgbClr val="0000FF"/>
                </a:solidFill>
              </a:rPr>
              <a:t>a)</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30</a:t>
            </a:fld>
            <a:endParaRPr lang="ko-KR" altLang="en-US" dirty="0">
              <a:solidFill>
                <a:srgbClr val="000000"/>
              </a:solidFill>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989149814"/>
              </p:ext>
            </p:extLst>
          </p:nvPr>
        </p:nvGraphicFramePr>
        <p:xfrm>
          <a:off x="2057400" y="4648200"/>
          <a:ext cx="5778500" cy="1257300"/>
        </p:xfrm>
        <a:graphic>
          <a:graphicData uri="http://schemas.openxmlformats.org/presentationml/2006/ole">
            <mc:AlternateContent xmlns:mc="http://schemas.openxmlformats.org/markup-compatibility/2006">
              <mc:Choice xmlns:v="urn:schemas-microsoft-com:vml" Requires="v">
                <p:oleObj spid="_x0000_s683020" name="Equation" r:id="rId3" imgW="5778360" imgH="1257120" progId="Equation.3">
                  <p:embed/>
                </p:oleObj>
              </mc:Choice>
              <mc:Fallback>
                <p:oleObj name="Equation" r:id="rId3" imgW="5778360" imgH="1257120" progId="Equation.3">
                  <p:embed/>
                  <p:pic>
                    <p:nvPicPr>
                      <p:cNvPr id="3440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648200"/>
                        <a:ext cx="57785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0362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0" indent="0" algn="just">
              <a:lnSpc>
                <a:spcPct val="120000"/>
              </a:lnSpc>
              <a:buNone/>
            </a:pPr>
            <a:r>
              <a:rPr lang="en-US" sz="2400" b="1" dirty="0">
                <a:solidFill>
                  <a:srgbClr val="0000FF"/>
                </a:solidFill>
              </a:rPr>
              <a:t>(a)</a:t>
            </a:r>
          </a:p>
          <a:p>
            <a:pPr marL="346075" indent="-346075" algn="just">
              <a:lnSpc>
                <a:spcPct val="120000"/>
              </a:lnSpc>
              <a:buFont typeface="Wingdings" pitchFamily="2" charset="2"/>
              <a:buChar char="v"/>
            </a:pPr>
            <a:endParaRPr lang="en-US" sz="2400" b="1" dirty="0">
              <a:solidFill>
                <a:srgbClr val="0000FF"/>
              </a:solidFill>
            </a:endParaRPr>
          </a:p>
          <a:p>
            <a:pPr marL="346075" indent="-346075" algn="just">
              <a:lnSpc>
                <a:spcPct val="120000"/>
              </a:lnSpc>
            </a:pPr>
            <a:endParaRPr lang="en-US" sz="2400" b="1" dirty="0">
              <a:solidFill>
                <a:srgbClr val="0000FF"/>
              </a:solidFill>
            </a:endParaRPr>
          </a:p>
          <a:p>
            <a:pPr marL="0" indent="0" algn="just">
              <a:lnSpc>
                <a:spcPct val="120000"/>
              </a:lnSpc>
              <a:buNone/>
            </a:pPr>
            <a:r>
              <a:rPr lang="en-US" sz="2400" b="1" dirty="0">
                <a:solidFill>
                  <a:srgbClr val="0000FF"/>
                </a:solidFill>
              </a:rPr>
              <a:t>(b)</a:t>
            </a:r>
          </a:p>
          <a:p>
            <a:pPr marL="346075" indent="-346075" algn="just">
              <a:lnSpc>
                <a:spcPct val="120000"/>
              </a:lnSpc>
              <a:buFont typeface="Wingdings" pitchFamily="2" charset="2"/>
              <a:buChar char="v"/>
            </a:pPr>
            <a:endParaRPr lang="en-US" sz="2400" b="1" dirty="0">
              <a:solidFill>
                <a:srgbClr val="0000FF"/>
              </a:solidFill>
            </a:endParaRPr>
          </a:p>
          <a:p>
            <a:pPr marL="1536700" lvl="2" indent="-274638" algn="just">
              <a:lnSpc>
                <a:spcPct val="120000"/>
              </a:lnSpc>
            </a:pPr>
            <a:endParaRPr lang="en-US" b="1" dirty="0">
              <a:solidFill>
                <a:srgbClr val="0000FF"/>
              </a:solidFill>
            </a:endParaRPr>
          </a:p>
          <a:p>
            <a:pPr marL="1536700" lvl="2" indent="-274638" algn="just">
              <a:lnSpc>
                <a:spcPct val="120000"/>
              </a:lnSpc>
            </a:pPr>
            <a:endParaRPr lang="en-US" b="1" dirty="0">
              <a:solidFill>
                <a:srgbClr val="0000FF"/>
              </a:solidFill>
            </a:endParaRPr>
          </a:p>
          <a:p>
            <a:pPr marL="1536700" lvl="2" indent="-274638" algn="just">
              <a:lnSpc>
                <a:spcPct val="120000"/>
              </a:lnSpc>
            </a:pPr>
            <a:endParaRPr lang="en-US" b="1" dirty="0">
              <a:solidFill>
                <a:srgbClr val="0000FF"/>
              </a:solidFill>
            </a:endParaRPr>
          </a:p>
          <a:p>
            <a:pPr marL="0" lvl="2" indent="0" algn="just">
              <a:lnSpc>
                <a:spcPct val="120000"/>
              </a:lnSpc>
              <a:buNone/>
            </a:pPr>
            <a:r>
              <a:rPr lang="en-US" b="1" dirty="0">
                <a:solidFill>
                  <a:srgbClr val="0000FF"/>
                </a:solidFill>
              </a:rPr>
              <a:t>(c)</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31</a:t>
            </a:fld>
            <a:endParaRPr lang="ko-KR" altLang="en-US" dirty="0">
              <a:solidFill>
                <a:srgbClr val="000000"/>
              </a:solidFill>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2329436660"/>
              </p:ext>
            </p:extLst>
          </p:nvPr>
        </p:nvGraphicFramePr>
        <p:xfrm>
          <a:off x="2057400" y="1403350"/>
          <a:ext cx="5778500" cy="1257300"/>
        </p:xfrm>
        <a:graphic>
          <a:graphicData uri="http://schemas.openxmlformats.org/presentationml/2006/ole">
            <mc:AlternateContent xmlns:mc="http://schemas.openxmlformats.org/markup-compatibility/2006">
              <mc:Choice xmlns:v="urn:schemas-microsoft-com:vml" Requires="v">
                <p:oleObj spid="_x0000_s684088" name="Equation" r:id="rId3" imgW="5778360" imgH="1257120" progId="Equation.3">
                  <p:embed/>
                </p:oleObj>
              </mc:Choice>
              <mc:Fallback>
                <p:oleObj name="Equation" r:id="rId3" imgW="5778360" imgH="1257120" progId="Equation.3">
                  <p:embed/>
                  <p:pic>
                    <p:nvPicPr>
                      <p:cNvPr id="3440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403350"/>
                        <a:ext cx="577850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p:cNvGraphicFramePr>
            <a:graphicFrameLocks noChangeAspect="1"/>
          </p:cNvGraphicFramePr>
          <p:nvPr/>
        </p:nvGraphicFramePr>
        <p:xfrm>
          <a:off x="2457450" y="2774950"/>
          <a:ext cx="5600700" cy="1270000"/>
        </p:xfrm>
        <a:graphic>
          <a:graphicData uri="http://schemas.openxmlformats.org/presentationml/2006/ole">
            <mc:AlternateContent xmlns:mc="http://schemas.openxmlformats.org/markup-compatibility/2006">
              <mc:Choice xmlns:v="urn:schemas-microsoft-com:vml" Requires="v">
                <p:oleObj spid="_x0000_s684089" name="Equation" r:id="rId5" imgW="5600520" imgH="1269720" progId="Equation.3">
                  <p:embed/>
                </p:oleObj>
              </mc:Choice>
              <mc:Fallback>
                <p:oleObj name="Equation" r:id="rId5" imgW="5600520" imgH="1269720" progId="Equation.3">
                  <p:embed/>
                  <p:pic>
                    <p:nvPicPr>
                      <p:cNvPr id="34509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7450" y="2774950"/>
                        <a:ext cx="56007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3"/>
          <p:cNvGraphicFramePr>
            <a:graphicFrameLocks noChangeAspect="1"/>
          </p:cNvGraphicFramePr>
          <p:nvPr/>
        </p:nvGraphicFramePr>
        <p:xfrm>
          <a:off x="2514600" y="4114800"/>
          <a:ext cx="2908300" cy="635000"/>
        </p:xfrm>
        <a:graphic>
          <a:graphicData uri="http://schemas.openxmlformats.org/presentationml/2006/ole">
            <mc:AlternateContent xmlns:mc="http://schemas.openxmlformats.org/markup-compatibility/2006">
              <mc:Choice xmlns:v="urn:schemas-microsoft-com:vml" Requires="v">
                <p:oleObj spid="_x0000_s684090" name="Equation" r:id="rId7" imgW="2908080" imgH="634680" progId="Equation.3">
                  <p:embed/>
                </p:oleObj>
              </mc:Choice>
              <mc:Fallback>
                <p:oleObj name="Equation" r:id="rId7" imgW="2908080" imgH="634680" progId="Equation.3">
                  <p:embed/>
                  <p:pic>
                    <p:nvPicPr>
                      <p:cNvPr id="345092"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4114800"/>
                        <a:ext cx="2908300"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p:cNvGraphicFramePr>
            <a:graphicFrameLocks noChangeAspect="1"/>
          </p:cNvGraphicFramePr>
          <p:nvPr/>
        </p:nvGraphicFramePr>
        <p:xfrm>
          <a:off x="2794000" y="4787900"/>
          <a:ext cx="6604000" cy="546100"/>
        </p:xfrm>
        <a:graphic>
          <a:graphicData uri="http://schemas.openxmlformats.org/presentationml/2006/ole">
            <mc:AlternateContent xmlns:mc="http://schemas.openxmlformats.org/markup-compatibility/2006">
              <mc:Choice xmlns:v="urn:schemas-microsoft-com:vml" Requires="v">
                <p:oleObj spid="_x0000_s684091" name="Equation" r:id="rId9" imgW="6603840" imgH="545760" progId="Equation.3">
                  <p:embed/>
                </p:oleObj>
              </mc:Choice>
              <mc:Fallback>
                <p:oleObj name="Equation" r:id="rId9" imgW="6603840" imgH="545760" progId="Equation.3">
                  <p:embed/>
                  <p:pic>
                    <p:nvPicPr>
                      <p:cNvPr id="345093"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4000" y="4787900"/>
                        <a:ext cx="66040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3"/>
          <p:cNvGraphicFramePr>
            <a:graphicFrameLocks noChangeAspect="1"/>
          </p:cNvGraphicFramePr>
          <p:nvPr/>
        </p:nvGraphicFramePr>
        <p:xfrm>
          <a:off x="2514600" y="5753100"/>
          <a:ext cx="2857500" cy="419100"/>
        </p:xfrm>
        <a:graphic>
          <a:graphicData uri="http://schemas.openxmlformats.org/presentationml/2006/ole">
            <mc:AlternateContent xmlns:mc="http://schemas.openxmlformats.org/markup-compatibility/2006">
              <mc:Choice xmlns:v="urn:schemas-microsoft-com:vml" Requires="v">
                <p:oleObj spid="_x0000_s684092" name="Equation" r:id="rId11" imgW="2857320" imgH="419040" progId="Equation.3">
                  <p:embed/>
                </p:oleObj>
              </mc:Choice>
              <mc:Fallback>
                <p:oleObj name="Equation" r:id="rId11" imgW="2857320" imgH="419040" progId="Equation.3">
                  <p:embed/>
                  <p:pic>
                    <p:nvPicPr>
                      <p:cNvPr id="345094"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5753100"/>
                        <a:ext cx="2857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669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ox(i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in)">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ircle(i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ox(in)">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0" indent="0">
              <a:buNone/>
            </a:pPr>
            <a:r>
              <a:rPr lang="en-US" sz="2800" b="1" dirty="0">
                <a:solidFill>
                  <a:srgbClr val="0000FF"/>
                </a:solidFill>
              </a:rPr>
              <a:t>(d)</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32</a:t>
            </a:fld>
            <a:endParaRPr lang="ko-KR" altLang="en-US" dirty="0">
              <a:solidFill>
                <a:srgbClr val="000000"/>
              </a:solidFill>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2033458617"/>
              </p:ext>
            </p:extLst>
          </p:nvPr>
        </p:nvGraphicFramePr>
        <p:xfrm>
          <a:off x="1905000" y="1524000"/>
          <a:ext cx="6578600" cy="1308100"/>
        </p:xfrm>
        <a:graphic>
          <a:graphicData uri="http://schemas.openxmlformats.org/presentationml/2006/ole">
            <mc:AlternateContent xmlns:mc="http://schemas.openxmlformats.org/markup-compatibility/2006">
              <mc:Choice xmlns:v="urn:schemas-microsoft-com:vml" Requires="v">
                <p:oleObj spid="_x0000_s685068" name="Equation" r:id="rId3" imgW="6578280" imgH="1307880" progId="Equation.3">
                  <p:embed/>
                </p:oleObj>
              </mc:Choice>
              <mc:Fallback>
                <p:oleObj name="Equation" r:id="rId3" imgW="6578280" imgH="1307880" progId="Equation.3">
                  <p:embed/>
                  <p:pic>
                    <p:nvPicPr>
                      <p:cNvPr id="3440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524000"/>
                        <a:ext cx="65786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9556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pPr>
            <a:r>
              <a:rPr lang="en-US" sz="2400" dirty="0">
                <a:solidFill>
                  <a:srgbClr val="0000FF"/>
                </a:solidFill>
              </a:rPr>
              <a:t>(a)Three-phase four-wire feeding unbalanced star-connected loads</a:t>
            </a:r>
          </a:p>
          <a:p>
            <a:pPr marL="695325" indent="-347663" algn="just">
              <a:lnSpc>
                <a:spcPct val="120000"/>
              </a:lnSpc>
            </a:pPr>
            <a:r>
              <a:rPr lang="en-US" sz="2400" dirty="0">
                <a:solidFill>
                  <a:srgbClr val="0000FF"/>
                </a:solidFill>
              </a:rPr>
              <a:t>Three-phase unbalanced load does not have the same impedance in all the three phases.</a:t>
            </a:r>
          </a:p>
          <a:p>
            <a:pPr marL="695325" indent="-347663" algn="just">
              <a:lnSpc>
                <a:spcPct val="120000"/>
              </a:lnSpc>
            </a:pPr>
            <a:r>
              <a:rPr lang="en-US" sz="2400" dirty="0">
                <a:solidFill>
                  <a:srgbClr val="0000FF"/>
                </a:solidFill>
              </a:rPr>
              <a:t>The neutral points of the source and the load are the same, so the voltage across each phase of the load is the phase voltage of the source</a:t>
            </a:r>
          </a:p>
          <a:p>
            <a:pPr marL="695325" indent="-347663" algn="just">
              <a:lnSpc>
                <a:spcPct val="120000"/>
              </a:lnSpc>
            </a:pPr>
            <a:r>
              <a:rPr lang="en-US" sz="2400" dirty="0">
                <a:solidFill>
                  <a:srgbClr val="0000FF"/>
                </a:solidFill>
              </a:rPr>
              <a:t>Three-phase four wire is usually used for low-voltage power distribution</a:t>
            </a:r>
          </a:p>
          <a:p>
            <a:pPr marL="695325" indent="-347663">
              <a:lnSpc>
                <a:spcPct val="120000"/>
              </a:lnSpc>
            </a:pPr>
            <a:r>
              <a:rPr lang="en-US" sz="2400" dirty="0">
                <a:solidFill>
                  <a:srgbClr val="0000FF"/>
                </a:solidFill>
              </a:rPr>
              <a:t>The neutral carries current if the load is unbalanced</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33</a:t>
            </a:fld>
            <a:endParaRPr lang="ko-KR" altLang="en-US" dirty="0">
              <a:solidFill>
                <a:srgbClr val="00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3747221073"/>
              </p:ext>
            </p:extLst>
          </p:nvPr>
        </p:nvGraphicFramePr>
        <p:xfrm>
          <a:off x="3810000" y="5200650"/>
          <a:ext cx="3835400" cy="647700"/>
        </p:xfrm>
        <a:graphic>
          <a:graphicData uri="http://schemas.openxmlformats.org/presentationml/2006/ole">
            <mc:AlternateContent xmlns:mc="http://schemas.openxmlformats.org/markup-compatibility/2006">
              <mc:Choice xmlns:v="urn:schemas-microsoft-com:vml" Requires="v">
                <p:oleObj spid="_x0000_s686092" name="Equation" r:id="rId3" imgW="3835080" imgH="647640" progId="Equation.3">
                  <p:embed/>
                </p:oleObj>
              </mc:Choice>
              <mc:Fallback>
                <p:oleObj name="Equation" r:id="rId3" imgW="3835080" imgH="64764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5200650"/>
                        <a:ext cx="38354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4429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a:xfrm>
            <a:off x="914400" y="1403350"/>
            <a:ext cx="10515600" cy="4692650"/>
          </a:xfrm>
        </p:spPr>
        <p:txBody>
          <a:bodyPr/>
          <a:lstStyle/>
          <a:p>
            <a:pPr marL="346075" indent="55563" algn="just">
              <a:lnSpc>
                <a:spcPct val="120000"/>
              </a:lnSpc>
            </a:pPr>
            <a:r>
              <a:rPr lang="en-US" sz="2800" dirty="0">
                <a:solidFill>
                  <a:srgbClr val="0000FF"/>
                </a:solidFill>
              </a:rPr>
              <a:t>Each phase is analyzed separately when the load is unbalanced</a:t>
            </a:r>
          </a:p>
          <a:p>
            <a:pPr marL="346075" indent="-346075" algn="just">
              <a:lnSpc>
                <a:spcPct val="120000"/>
              </a:lnSpc>
              <a:buFont typeface="Wingdings" pitchFamily="2" charset="2"/>
              <a:buChar char="v"/>
            </a:pPr>
            <a:r>
              <a:rPr lang="en-US" sz="2800" dirty="0">
                <a:solidFill>
                  <a:srgbClr val="0000FF"/>
                </a:solidFill>
              </a:rPr>
              <a:t>Example 1</a:t>
            </a:r>
          </a:p>
          <a:p>
            <a:pPr algn="just">
              <a:lnSpc>
                <a:spcPct val="120000"/>
              </a:lnSpc>
            </a:pPr>
            <a:r>
              <a:rPr lang="en-US" sz="2800" dirty="0">
                <a:solidFill>
                  <a:srgbClr val="0000FF"/>
                </a:solidFill>
              </a:rPr>
              <a:t>A three-phase four-wire system has the following data: Supply voltage is 415 V, Z</a:t>
            </a:r>
            <a:r>
              <a:rPr lang="en-US" sz="2800" baseline="-25000" dirty="0">
                <a:solidFill>
                  <a:srgbClr val="0000FF"/>
                </a:solidFill>
              </a:rPr>
              <a:t>1</a:t>
            </a:r>
            <a:r>
              <a:rPr lang="en-US" sz="2800" dirty="0">
                <a:solidFill>
                  <a:srgbClr val="0000FF"/>
                </a:solidFill>
              </a:rPr>
              <a:t> = 8 + j0 Ω, Z</a:t>
            </a:r>
            <a:r>
              <a:rPr lang="en-US" sz="2800" baseline="-25000" dirty="0">
                <a:solidFill>
                  <a:srgbClr val="0000FF"/>
                </a:solidFill>
              </a:rPr>
              <a:t>2</a:t>
            </a:r>
            <a:r>
              <a:rPr lang="en-US" sz="2800" dirty="0">
                <a:solidFill>
                  <a:srgbClr val="0000FF"/>
                </a:solidFill>
              </a:rPr>
              <a:t> = 0 - j8 Ω and Z</a:t>
            </a:r>
            <a:r>
              <a:rPr lang="en-US" sz="2800" baseline="-25000" dirty="0">
                <a:solidFill>
                  <a:srgbClr val="0000FF"/>
                </a:solidFill>
              </a:rPr>
              <a:t>3</a:t>
            </a:r>
            <a:r>
              <a:rPr lang="en-US" sz="2800" dirty="0">
                <a:solidFill>
                  <a:srgbClr val="0000FF"/>
                </a:solidFill>
              </a:rPr>
              <a:t> = 0 + j8 Ω. Determine the </a:t>
            </a:r>
            <a:r>
              <a:rPr lang="en-US" sz="2800" dirty="0" smtClean="0">
                <a:solidFill>
                  <a:srgbClr val="0000FF"/>
                </a:solidFill>
              </a:rPr>
              <a:t> load </a:t>
            </a:r>
            <a:r>
              <a:rPr lang="en-US" sz="2800" dirty="0">
                <a:solidFill>
                  <a:srgbClr val="0000FF"/>
                </a:solidFill>
              </a:rPr>
              <a:t>currents and the current in the neutral. </a:t>
            </a:r>
          </a:p>
          <a:p>
            <a:pPr algn="just">
              <a:lnSpc>
                <a:spcPct val="120000"/>
              </a:lnSpc>
              <a:buFont typeface="Wingdings" pitchFamily="2" charset="2"/>
              <a:buChar char="v"/>
            </a:pPr>
            <a:r>
              <a:rPr lang="en-US" sz="2800" dirty="0">
                <a:solidFill>
                  <a:srgbClr val="0000FF"/>
                </a:solidFill>
              </a:rPr>
              <a:t>Solution</a:t>
            </a:r>
          </a:p>
          <a:p>
            <a:pPr marL="346075" indent="-346075" algn="just">
              <a:lnSpc>
                <a:spcPct val="120000"/>
              </a:lnSpc>
              <a:buFont typeface="Wingdings" pitchFamily="2" charset="2"/>
              <a:buChar char="v"/>
            </a:pPr>
            <a:endParaRPr lang="en-US" sz="9600" b="1"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34</a:t>
            </a:fld>
            <a:endParaRPr lang="ko-KR" altLang="en-US" dirty="0">
              <a:solidFill>
                <a:srgbClr val="00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133005597"/>
              </p:ext>
            </p:extLst>
          </p:nvPr>
        </p:nvGraphicFramePr>
        <p:xfrm>
          <a:off x="2133600" y="4914900"/>
          <a:ext cx="4737100" cy="1181100"/>
        </p:xfrm>
        <a:graphic>
          <a:graphicData uri="http://schemas.openxmlformats.org/presentationml/2006/ole">
            <mc:AlternateContent xmlns:mc="http://schemas.openxmlformats.org/markup-compatibility/2006">
              <mc:Choice xmlns:v="urn:schemas-microsoft-com:vml" Requires="v">
                <p:oleObj spid="_x0000_s687116" name="Equation" r:id="rId3" imgW="4736880" imgH="1180800" progId="Equation.3">
                  <p:embed/>
                </p:oleObj>
              </mc:Choice>
              <mc:Fallback>
                <p:oleObj name="Equation" r:id="rId3" imgW="4736880" imgH="118080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914900"/>
                        <a:ext cx="47371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5291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b="1"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35</a:t>
            </a:fld>
            <a:endParaRPr lang="ko-KR" altLang="en-US" dirty="0">
              <a:solidFill>
                <a:srgbClr val="000000"/>
              </a:solidFill>
            </a:endParaRPr>
          </a:p>
        </p:txBody>
      </p:sp>
      <p:graphicFrame>
        <p:nvGraphicFramePr>
          <p:cNvPr id="6" name="Object 7"/>
          <p:cNvGraphicFramePr>
            <a:graphicFrameLocks noGrp="1" noChangeAspect="1"/>
          </p:cNvGraphicFramePr>
          <p:nvPr>
            <p:ph idx="1"/>
            <p:extLst>
              <p:ext uri="{D42A27DB-BD31-4B8C-83A1-F6EECF244321}">
                <p14:modId xmlns:p14="http://schemas.microsoft.com/office/powerpoint/2010/main" val="1518456205"/>
              </p:ext>
            </p:extLst>
          </p:nvPr>
        </p:nvGraphicFramePr>
        <p:xfrm>
          <a:off x="2724150" y="1447800"/>
          <a:ext cx="5867400" cy="1193800"/>
        </p:xfrm>
        <a:graphic>
          <a:graphicData uri="http://schemas.openxmlformats.org/presentationml/2006/ole">
            <mc:AlternateContent xmlns:mc="http://schemas.openxmlformats.org/markup-compatibility/2006">
              <mc:Choice xmlns:v="urn:schemas-microsoft-com:vml" Requires="v">
                <p:oleObj spid="_x0000_s688180" name="Equation" r:id="rId3" imgW="5867280" imgH="1333440" progId="Equation.3">
                  <p:embed/>
                </p:oleObj>
              </mc:Choice>
              <mc:Fallback>
                <p:oleObj name="Equation" r:id="rId3" imgW="5867280" imgH="133344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150" y="1447800"/>
                        <a:ext cx="5867400" cy="1193800"/>
                      </a:xfrm>
                      <a:prstGeom prst="rect">
                        <a:avLst/>
                      </a:prstGeom>
                      <a:noFill/>
                      <a:ln>
                        <a:noFill/>
                      </a:ln>
                      <a:effectLs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962745314"/>
              </p:ext>
            </p:extLst>
          </p:nvPr>
        </p:nvGraphicFramePr>
        <p:xfrm>
          <a:off x="1990997" y="2457631"/>
          <a:ext cx="7620000" cy="1077323"/>
        </p:xfrm>
        <a:graphic>
          <a:graphicData uri="http://schemas.openxmlformats.org/presentationml/2006/ole">
            <mc:AlternateContent xmlns:mc="http://schemas.openxmlformats.org/markup-compatibility/2006">
              <mc:Choice xmlns:v="urn:schemas-microsoft-com:vml" Requires="v">
                <p:oleObj spid="_x0000_s688181" name="Equation" r:id="rId5" imgW="7619760" imgH="1333440" progId="Equation.3">
                  <p:embed/>
                </p:oleObj>
              </mc:Choice>
              <mc:Fallback>
                <p:oleObj name="Equation" r:id="rId5" imgW="7619760" imgH="1333440" progId="Equation.3">
                  <p:embed/>
                  <p:pic>
                    <p:nvPicPr>
                      <p:cNvPr id="34918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0997" y="2457631"/>
                        <a:ext cx="7620000" cy="1077323"/>
                      </a:xfrm>
                      <a:prstGeom prst="rect">
                        <a:avLst/>
                      </a:prstGeom>
                      <a:noFill/>
                      <a:ln>
                        <a:noFill/>
                      </a:ln>
                      <a:effectLs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806525333"/>
              </p:ext>
            </p:extLst>
          </p:nvPr>
        </p:nvGraphicFramePr>
        <p:xfrm>
          <a:off x="2044700" y="3600269"/>
          <a:ext cx="6692900" cy="1096916"/>
        </p:xfrm>
        <a:graphic>
          <a:graphicData uri="http://schemas.openxmlformats.org/presentationml/2006/ole">
            <mc:AlternateContent xmlns:mc="http://schemas.openxmlformats.org/markup-compatibility/2006">
              <mc:Choice xmlns:v="urn:schemas-microsoft-com:vml" Requires="v">
                <p:oleObj spid="_x0000_s688182" name="Equation" r:id="rId7" imgW="6692760" imgH="1346040" progId="Equation.3">
                  <p:embed/>
                </p:oleObj>
              </mc:Choice>
              <mc:Fallback>
                <p:oleObj name="Equation" r:id="rId7" imgW="6692760" imgH="1346040" progId="Equation.3">
                  <p:embed/>
                  <p:pic>
                    <p:nvPicPr>
                      <p:cNvPr id="34918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4700" y="3600269"/>
                        <a:ext cx="6692900" cy="1096916"/>
                      </a:xfrm>
                      <a:prstGeom prst="rect">
                        <a:avLst/>
                      </a:prstGeom>
                      <a:noFill/>
                      <a:ln>
                        <a:noFill/>
                      </a:ln>
                      <a:effectLst/>
                      <a:extLst/>
                    </p:spPr>
                  </p:pic>
                </p:oleObj>
              </mc:Fallback>
            </mc:AlternateContent>
          </a:graphicData>
        </a:graphic>
      </p:graphicFrame>
      <p:graphicFrame>
        <p:nvGraphicFramePr>
          <p:cNvPr id="9" name="Object 5"/>
          <p:cNvGraphicFramePr>
            <a:graphicFrameLocks noChangeAspect="1"/>
          </p:cNvGraphicFramePr>
          <p:nvPr>
            <p:extLst>
              <p:ext uri="{D42A27DB-BD31-4B8C-83A1-F6EECF244321}">
                <p14:modId xmlns:p14="http://schemas.microsoft.com/office/powerpoint/2010/main" val="480383272"/>
              </p:ext>
            </p:extLst>
          </p:nvPr>
        </p:nvGraphicFramePr>
        <p:xfrm>
          <a:off x="2049054" y="4686299"/>
          <a:ext cx="3924300" cy="647700"/>
        </p:xfrm>
        <a:graphic>
          <a:graphicData uri="http://schemas.openxmlformats.org/presentationml/2006/ole">
            <mc:AlternateContent xmlns:mc="http://schemas.openxmlformats.org/markup-compatibility/2006">
              <mc:Choice xmlns:v="urn:schemas-microsoft-com:vml" Requires="v">
                <p:oleObj spid="_x0000_s688183" name="Equation" r:id="rId9" imgW="3924000" imgH="647640" progId="Equation.3">
                  <p:embed/>
                </p:oleObj>
              </mc:Choice>
              <mc:Fallback>
                <p:oleObj name="Equation" r:id="rId9" imgW="3924000" imgH="647640" progId="Equation.3">
                  <p:embed/>
                  <p:pic>
                    <p:nvPicPr>
                      <p:cNvPr id="34918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9054" y="4686299"/>
                        <a:ext cx="39243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6"/>
          <p:cNvGraphicFramePr>
            <a:graphicFrameLocks noChangeAspect="1"/>
          </p:cNvGraphicFramePr>
          <p:nvPr>
            <p:extLst>
              <p:ext uri="{D42A27DB-BD31-4B8C-83A1-F6EECF244321}">
                <p14:modId xmlns:p14="http://schemas.microsoft.com/office/powerpoint/2010/main" val="321327492"/>
              </p:ext>
            </p:extLst>
          </p:nvPr>
        </p:nvGraphicFramePr>
        <p:xfrm>
          <a:off x="1988820" y="5355046"/>
          <a:ext cx="7277100" cy="609600"/>
        </p:xfrm>
        <a:graphic>
          <a:graphicData uri="http://schemas.openxmlformats.org/presentationml/2006/ole">
            <mc:AlternateContent xmlns:mc="http://schemas.openxmlformats.org/markup-compatibility/2006">
              <mc:Choice xmlns:v="urn:schemas-microsoft-com:vml" Requires="v">
                <p:oleObj spid="_x0000_s688184" name="Equation" r:id="rId11" imgW="7277040" imgH="609480" progId="Equation.3">
                  <p:embed/>
                </p:oleObj>
              </mc:Choice>
              <mc:Fallback>
                <p:oleObj name="Equation" r:id="rId11" imgW="7277040" imgH="609480" progId="Equation.3">
                  <p:embed/>
                  <p:pic>
                    <p:nvPicPr>
                      <p:cNvPr id="34919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88820" y="5355046"/>
                        <a:ext cx="72771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448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36</a:t>
            </a:fld>
            <a:endParaRPr lang="ko-KR" altLang="en-US" dirty="0">
              <a:solidFill>
                <a:srgbClr val="000000"/>
              </a:solidFill>
            </a:endParaRPr>
          </a:p>
        </p:txBody>
      </p:sp>
      <p:graphicFrame>
        <p:nvGraphicFramePr>
          <p:cNvPr id="5" name="Object 7"/>
          <p:cNvGraphicFramePr>
            <a:graphicFrameLocks noGrp="1" noChangeAspect="1"/>
          </p:cNvGraphicFramePr>
          <p:nvPr>
            <p:ph idx="1"/>
            <p:extLst>
              <p:ext uri="{D42A27DB-BD31-4B8C-83A1-F6EECF244321}">
                <p14:modId xmlns:p14="http://schemas.microsoft.com/office/powerpoint/2010/main" val="1963820569"/>
              </p:ext>
            </p:extLst>
          </p:nvPr>
        </p:nvGraphicFramePr>
        <p:xfrm>
          <a:off x="4114800" y="1981200"/>
          <a:ext cx="1993900" cy="584200"/>
        </p:xfrm>
        <a:graphic>
          <a:graphicData uri="http://schemas.openxmlformats.org/presentationml/2006/ole">
            <mc:AlternateContent xmlns:mc="http://schemas.openxmlformats.org/markup-compatibility/2006">
              <mc:Choice xmlns:v="urn:schemas-microsoft-com:vml" Requires="v">
                <p:oleObj spid="_x0000_s689164" name="Equation" r:id="rId3" imgW="1993680" imgH="583920" progId="Equation.3">
                  <p:embed/>
                </p:oleObj>
              </mc:Choice>
              <mc:Fallback>
                <p:oleObj name="Equation" r:id="rId3" imgW="1993680" imgH="58392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981200"/>
                        <a:ext cx="19939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89371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p:txBody>
          <a:bodyPr/>
          <a:lstStyle/>
          <a:p>
            <a:pPr marL="346075" indent="-346075" algn="just">
              <a:lnSpc>
                <a:spcPct val="120000"/>
              </a:lnSpc>
              <a:buFont typeface="Wingdings" pitchFamily="2" charset="2"/>
              <a:buChar char="v"/>
            </a:pPr>
            <a:r>
              <a:rPr lang="en-US" sz="2800" dirty="0">
                <a:solidFill>
                  <a:srgbClr val="0000FF"/>
                </a:solidFill>
              </a:rPr>
              <a:t>Example 2</a:t>
            </a:r>
          </a:p>
          <a:p>
            <a:pPr marL="0" indent="0" algn="just">
              <a:lnSpc>
                <a:spcPct val="120000"/>
              </a:lnSpc>
              <a:buNone/>
            </a:pPr>
            <a:r>
              <a:rPr lang="en-US" sz="2800" dirty="0">
                <a:solidFill>
                  <a:srgbClr val="0000FF"/>
                </a:solidFill>
              </a:rPr>
              <a:t>In a three-phase four-wire system, the line voltage is 400V and resistive loads of 10 kW, 8 kW and 5 kW are connected between the three lines and neutral.  Calculate (a) the current in each line and (b) the current in the neutral conductor</a:t>
            </a:r>
            <a:r>
              <a:rPr lang="en-US" sz="2800" dirty="0" smtClean="0">
                <a:solidFill>
                  <a:srgbClr val="0000FF"/>
                </a:solidFill>
              </a:rPr>
              <a:t>.</a:t>
            </a:r>
            <a:endParaRPr lang="en-US" sz="2800" dirty="0">
              <a:solidFill>
                <a:srgbClr val="0000FF"/>
              </a:solidFill>
            </a:endParaRPr>
          </a:p>
          <a:p>
            <a:pPr algn="just">
              <a:lnSpc>
                <a:spcPct val="120000"/>
              </a:lnSpc>
              <a:buFont typeface="Wingdings" pitchFamily="2" charset="2"/>
              <a:buChar char="v"/>
            </a:pPr>
            <a:r>
              <a:rPr lang="en-US" sz="2800" dirty="0">
                <a:solidFill>
                  <a:srgbClr val="0000FF"/>
                </a:solidFill>
              </a:rPr>
              <a:t>Solution</a:t>
            </a:r>
          </a:p>
          <a:p>
            <a:pPr marL="0" indent="0" algn="just">
              <a:lnSpc>
                <a:spcPct val="120000"/>
              </a:lnSpc>
              <a:buNone/>
            </a:pPr>
            <a:r>
              <a:rPr lang="en-US" sz="2800" dirty="0" smtClean="0">
                <a:solidFill>
                  <a:srgbClr val="0000FF"/>
                </a:solidFill>
              </a:rPr>
              <a:t>(</a:t>
            </a:r>
            <a:r>
              <a:rPr lang="en-US" sz="2800" dirty="0">
                <a:solidFill>
                  <a:srgbClr val="0000FF"/>
                </a:solidFill>
              </a:rPr>
              <a:t>a)</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37</a:t>
            </a:fld>
            <a:endParaRPr lang="ko-KR" altLang="en-US" dirty="0">
              <a:solidFill>
                <a:srgbClr val="00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3168533457"/>
              </p:ext>
            </p:extLst>
          </p:nvPr>
        </p:nvGraphicFramePr>
        <p:xfrm>
          <a:off x="2133600" y="4648200"/>
          <a:ext cx="4699000" cy="1181100"/>
        </p:xfrm>
        <a:graphic>
          <a:graphicData uri="http://schemas.openxmlformats.org/presentationml/2006/ole">
            <mc:AlternateContent xmlns:mc="http://schemas.openxmlformats.org/markup-compatibility/2006">
              <mc:Choice xmlns:v="urn:schemas-microsoft-com:vml" Requires="v">
                <p:oleObj spid="_x0000_s690188" name="Equation" r:id="rId3" imgW="4698720" imgH="1180800" progId="Equation.3">
                  <p:embed/>
                </p:oleObj>
              </mc:Choice>
              <mc:Fallback>
                <p:oleObj name="Equation" r:id="rId3" imgW="4698720" imgH="118080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648200"/>
                        <a:ext cx="46990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4856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3" name="Content Placeholder 2"/>
          <p:cNvSpPr>
            <a:spLocks noGrp="1"/>
          </p:cNvSpPr>
          <p:nvPr>
            <p:ph idx="1"/>
          </p:nvPr>
        </p:nvSpPr>
        <p:spPr>
          <a:xfrm>
            <a:off x="914400" y="1403350"/>
            <a:ext cx="10668000" cy="4692650"/>
          </a:xfrm>
        </p:spPr>
        <p:txBody>
          <a:bodyPr/>
          <a:lstStyle/>
          <a:p>
            <a:r>
              <a:rPr lang="en-US" sz="2400" dirty="0">
                <a:solidFill>
                  <a:srgbClr val="0000FF"/>
                </a:solidFill>
              </a:rPr>
              <a:t>Let </a:t>
            </a:r>
            <a:r>
              <a:rPr lang="en-US" sz="2400" dirty="0" err="1">
                <a:solidFill>
                  <a:srgbClr val="0000FF"/>
                </a:solidFill>
              </a:rPr>
              <a:t>I</a:t>
            </a:r>
            <a:r>
              <a:rPr lang="en-US" sz="2400" baseline="-25000" dirty="0" err="1">
                <a:solidFill>
                  <a:srgbClr val="0000FF"/>
                </a:solidFill>
              </a:rPr>
              <a:t>a</a:t>
            </a:r>
            <a:r>
              <a:rPr lang="en-US" sz="2400" dirty="0">
                <a:solidFill>
                  <a:srgbClr val="0000FF"/>
                </a:solidFill>
              </a:rPr>
              <a:t>, </a:t>
            </a:r>
            <a:r>
              <a:rPr lang="en-US" sz="2400" dirty="0" err="1">
                <a:solidFill>
                  <a:srgbClr val="0000FF"/>
                </a:solidFill>
              </a:rPr>
              <a:t>I</a:t>
            </a:r>
            <a:r>
              <a:rPr lang="en-US" sz="2400" baseline="-25000" dirty="0" err="1">
                <a:solidFill>
                  <a:srgbClr val="0000FF"/>
                </a:solidFill>
              </a:rPr>
              <a:t>b</a:t>
            </a:r>
            <a:r>
              <a:rPr lang="en-US" sz="2400" dirty="0">
                <a:solidFill>
                  <a:srgbClr val="0000FF"/>
                </a:solidFill>
              </a:rPr>
              <a:t> and </a:t>
            </a:r>
            <a:r>
              <a:rPr lang="en-US" sz="2400" dirty="0" err="1">
                <a:solidFill>
                  <a:srgbClr val="0000FF"/>
                </a:solidFill>
              </a:rPr>
              <a:t>I</a:t>
            </a:r>
            <a:r>
              <a:rPr lang="en-US" sz="2400" baseline="-25000" dirty="0" err="1">
                <a:solidFill>
                  <a:srgbClr val="0000FF"/>
                </a:solidFill>
              </a:rPr>
              <a:t>c</a:t>
            </a:r>
            <a:r>
              <a:rPr lang="en-US" sz="2400" dirty="0">
                <a:solidFill>
                  <a:srgbClr val="0000FF"/>
                </a:solidFill>
              </a:rPr>
              <a:t> be the currents drawn by the 10kW, 8kW and 5kW loads respectively. </a:t>
            </a:r>
          </a:p>
          <a:p>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38</a:t>
            </a:fld>
            <a:endParaRPr lang="ko-KR" altLang="en-US" dirty="0">
              <a:solidFill>
                <a:srgbClr val="000000"/>
              </a:solidFill>
            </a:endParaRPr>
          </a:p>
        </p:txBody>
      </p:sp>
      <p:graphicFrame>
        <p:nvGraphicFramePr>
          <p:cNvPr id="5" name="Object 7"/>
          <p:cNvGraphicFramePr>
            <a:graphicFrameLocks noChangeAspect="1"/>
          </p:cNvGraphicFramePr>
          <p:nvPr>
            <p:extLst>
              <p:ext uri="{D42A27DB-BD31-4B8C-83A1-F6EECF244321}">
                <p14:modId xmlns:p14="http://schemas.microsoft.com/office/powerpoint/2010/main" val="3607499608"/>
              </p:ext>
            </p:extLst>
          </p:nvPr>
        </p:nvGraphicFramePr>
        <p:xfrm>
          <a:off x="2044701" y="1989636"/>
          <a:ext cx="6642100" cy="1371600"/>
        </p:xfrm>
        <a:graphic>
          <a:graphicData uri="http://schemas.openxmlformats.org/presentationml/2006/ole">
            <mc:AlternateContent xmlns:mc="http://schemas.openxmlformats.org/markup-compatibility/2006">
              <mc:Choice xmlns:v="urn:schemas-microsoft-com:vml" Requires="v">
                <p:oleObj spid="_x0000_s691229" name="Equation" r:id="rId3" imgW="6642000" imgH="1371600" progId="Equation.3">
                  <p:embed/>
                </p:oleObj>
              </mc:Choice>
              <mc:Fallback>
                <p:oleObj name="Equation" r:id="rId3" imgW="6642000" imgH="137160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1" y="1989636"/>
                        <a:ext cx="66421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p:cNvGraphicFramePr>
            <a:graphicFrameLocks noChangeAspect="1"/>
          </p:cNvGraphicFramePr>
          <p:nvPr/>
        </p:nvGraphicFramePr>
        <p:xfrm>
          <a:off x="2057400" y="3517900"/>
          <a:ext cx="5321300" cy="1371600"/>
        </p:xfrm>
        <a:graphic>
          <a:graphicData uri="http://schemas.openxmlformats.org/presentationml/2006/ole">
            <mc:AlternateContent xmlns:mc="http://schemas.openxmlformats.org/markup-compatibility/2006">
              <mc:Choice xmlns:v="urn:schemas-microsoft-com:vml" Requires="v">
                <p:oleObj spid="_x0000_s691230" name="Equation" r:id="rId5" imgW="5321160" imgH="1371600" progId="Equation.3">
                  <p:embed/>
                </p:oleObj>
              </mc:Choice>
              <mc:Fallback>
                <p:oleObj name="Equation" r:id="rId5" imgW="5321160" imgH="1371600" progId="Equation.3">
                  <p:embed/>
                  <p:pic>
                    <p:nvPicPr>
                      <p:cNvPr id="37171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3517900"/>
                        <a:ext cx="53213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343629070"/>
              </p:ext>
            </p:extLst>
          </p:nvPr>
        </p:nvGraphicFramePr>
        <p:xfrm>
          <a:off x="2059577" y="4819287"/>
          <a:ext cx="5562600" cy="1371600"/>
        </p:xfrm>
        <a:graphic>
          <a:graphicData uri="http://schemas.openxmlformats.org/presentationml/2006/ole">
            <mc:AlternateContent xmlns:mc="http://schemas.openxmlformats.org/markup-compatibility/2006">
              <mc:Choice xmlns:v="urn:schemas-microsoft-com:vml" Requires="v">
                <p:oleObj spid="_x0000_s691231" name="Equation" r:id="rId7" imgW="5562360" imgH="1371600" progId="Equation.3">
                  <p:embed/>
                </p:oleObj>
              </mc:Choice>
              <mc:Fallback>
                <p:oleObj name="Equation" r:id="rId7" imgW="5562360" imgH="1371600" progId="Equation.3">
                  <p:embed/>
                  <p:pic>
                    <p:nvPicPr>
                      <p:cNvPr id="371716"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9577" y="4819287"/>
                        <a:ext cx="5562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0810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FF"/>
                </a:solidFill>
              </a:rPr>
              <a:t>Three-phase Circuits</a:t>
            </a:r>
            <a:endParaRPr lang="en-US" dirty="0"/>
          </a:p>
        </p:txBody>
      </p:sp>
      <p:sp>
        <p:nvSpPr>
          <p:cNvPr id="4" name="Slide Number Placeholder 3"/>
          <p:cNvSpPr>
            <a:spLocks noGrp="1"/>
          </p:cNvSpPr>
          <p:nvPr>
            <p:ph type="sldNum" sz="quarter" idx="12"/>
          </p:nvPr>
        </p:nvSpPr>
        <p:spPr/>
        <p:txBody>
          <a:bodyPr/>
          <a:lstStyle/>
          <a:p>
            <a:pPr>
              <a:defRPr/>
            </a:pPr>
            <a:fld id="{5108976E-6AE4-44AB-8D6B-682B655BED09}" type="slidenum">
              <a:rPr lang="ko-KR" altLang="en-US" smtClean="0">
                <a:solidFill>
                  <a:srgbClr val="000000"/>
                </a:solidFill>
              </a:rPr>
              <a:pPr>
                <a:defRPr/>
              </a:pPr>
              <a:t>39</a:t>
            </a:fld>
            <a:endParaRPr lang="ko-KR" altLang="en-US" dirty="0">
              <a:solidFill>
                <a:srgbClr val="000000"/>
              </a:solidFill>
            </a:endParaRPr>
          </a:p>
        </p:txBody>
      </p:sp>
      <p:graphicFrame>
        <p:nvGraphicFramePr>
          <p:cNvPr id="5" name="Object 7"/>
          <p:cNvGraphicFramePr>
            <a:graphicFrameLocks noGrp="1" noChangeAspect="1"/>
          </p:cNvGraphicFramePr>
          <p:nvPr>
            <p:ph idx="1"/>
            <p:extLst>
              <p:ext uri="{D42A27DB-BD31-4B8C-83A1-F6EECF244321}">
                <p14:modId xmlns:p14="http://schemas.microsoft.com/office/powerpoint/2010/main" val="3504612347"/>
              </p:ext>
            </p:extLst>
          </p:nvPr>
        </p:nvGraphicFramePr>
        <p:xfrm>
          <a:off x="1828800" y="1682750"/>
          <a:ext cx="3340100" cy="596900"/>
        </p:xfrm>
        <a:graphic>
          <a:graphicData uri="http://schemas.openxmlformats.org/presentationml/2006/ole">
            <mc:AlternateContent xmlns:mc="http://schemas.openxmlformats.org/markup-compatibility/2006">
              <mc:Choice xmlns:v="urn:schemas-microsoft-com:vml" Requires="v">
                <p:oleObj spid="_x0000_s692253" name="Equation" r:id="rId3" imgW="3340080" imgH="596880" progId="Equation.3">
                  <p:embed/>
                </p:oleObj>
              </mc:Choice>
              <mc:Fallback>
                <p:oleObj name="Equation" r:id="rId3" imgW="3340080" imgH="596880" progId="Equation.3">
                  <p:embed/>
                  <p:pic>
                    <p:nvPicPr>
                      <p:cNvPr id="3471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682750"/>
                        <a:ext cx="33401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723419151"/>
              </p:ext>
            </p:extLst>
          </p:nvPr>
        </p:nvGraphicFramePr>
        <p:xfrm>
          <a:off x="2457450" y="2667000"/>
          <a:ext cx="8470900" cy="495300"/>
        </p:xfrm>
        <a:graphic>
          <a:graphicData uri="http://schemas.openxmlformats.org/presentationml/2006/ole">
            <mc:AlternateContent xmlns:mc="http://schemas.openxmlformats.org/markup-compatibility/2006">
              <mc:Choice xmlns:v="urn:schemas-microsoft-com:vml" Requires="v">
                <p:oleObj spid="_x0000_s692254" name="Equation" r:id="rId5" imgW="8470800" imgH="495000" progId="Equation.3">
                  <p:embed/>
                </p:oleObj>
              </mc:Choice>
              <mc:Fallback>
                <p:oleObj name="Equation" r:id="rId5" imgW="8470800" imgH="495000" progId="Equation.3">
                  <p:embed/>
                  <p:pic>
                    <p:nvPicPr>
                      <p:cNvPr id="37274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7450" y="2667000"/>
                        <a:ext cx="84709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1949766223"/>
              </p:ext>
            </p:extLst>
          </p:nvPr>
        </p:nvGraphicFramePr>
        <p:xfrm>
          <a:off x="2457450" y="3678464"/>
          <a:ext cx="1714500" cy="419100"/>
        </p:xfrm>
        <a:graphic>
          <a:graphicData uri="http://schemas.openxmlformats.org/presentationml/2006/ole">
            <mc:AlternateContent xmlns:mc="http://schemas.openxmlformats.org/markup-compatibility/2006">
              <mc:Choice xmlns:v="urn:schemas-microsoft-com:vml" Requires="v">
                <p:oleObj spid="_x0000_s692255" name="Equation" r:id="rId7" imgW="1714320" imgH="419040" progId="Equation.3">
                  <p:embed/>
                </p:oleObj>
              </mc:Choice>
              <mc:Fallback>
                <p:oleObj name="Equation" r:id="rId7" imgW="1714320" imgH="419040" progId="Equation.3">
                  <p:embed/>
                  <p:pic>
                    <p:nvPicPr>
                      <p:cNvPr id="372742"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7450" y="3678464"/>
                        <a:ext cx="17145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1245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nust_telecom_tempelate [Autosaved]">
  <a:themeElements>
    <a:clrScheme name="제 23 장 2-port에서의 삽입손실 및 반사손실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제 23 장 2-port에서의 삽입손실 및 반사손실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제 23 장 2-port에서의 삽입손실 및 반사손실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제 23 장 2-port에서의 삽입손실 및 반사손실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제 23 장 2-port에서의 삽입손실 및 반사손실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제 23 장 2-port에서의 삽입손실 및 반사손실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제 23 장 2-port에서의 삽입손실 및 반사손실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제 23 장 2-port에서의 삽입손실 및 반사손실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1350</Words>
  <Application>Microsoft Office PowerPoint</Application>
  <PresentationFormat>Widescreen</PresentationFormat>
  <Paragraphs>189</Paragraphs>
  <Slides>39</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52" baseType="lpstr">
      <vt:lpstr>맑은 고딕</vt:lpstr>
      <vt:lpstr>Americana XBd BT</vt:lpstr>
      <vt:lpstr>Arial</vt:lpstr>
      <vt:lpstr>Calibri</vt:lpstr>
      <vt:lpstr>Courier New</vt:lpstr>
      <vt:lpstr>돋움</vt:lpstr>
      <vt:lpstr>Garamond</vt:lpstr>
      <vt:lpstr>굴림</vt:lpstr>
      <vt:lpstr>Wingdings</vt:lpstr>
      <vt:lpstr>한컴돋움</vt:lpstr>
      <vt:lpstr>knust_telecom_tempelate [Autosaved]</vt:lpstr>
      <vt:lpstr>Visio</vt:lpstr>
      <vt:lpstr>Equation</vt:lpstr>
      <vt:lpstr>PowerPoint Presentation</vt:lpstr>
      <vt:lpstr>Three-Phase Circuits </vt:lpstr>
      <vt:lpstr>3-Phase Winding</vt:lpstr>
      <vt:lpstr>Examples: 33 kV Transmission  (GRIDCO)</vt:lpstr>
      <vt:lpstr>Examples: 11 kV Distribution  (ECG)</vt:lpstr>
      <vt:lpstr>Examples: 415 V to Customers (ECG)</vt:lpstr>
      <vt:lpstr>Three-phase Circuits</vt:lpstr>
      <vt:lpstr> Three-phase Circuits</vt:lpstr>
      <vt:lpstr> Three-phase Circuits</vt:lpstr>
      <vt:lpstr> Three-phase Circuits</vt:lpstr>
      <vt:lpstr>Three-phase Circuits</vt:lpstr>
      <vt:lpstr>Three-phase Circuits</vt:lpstr>
      <vt:lpstr>Three-phase Circuits</vt:lpstr>
      <vt:lpstr>Three-phase Circuits</vt:lpstr>
      <vt:lpstr>Three-phase Circuits</vt:lpstr>
      <vt:lpstr>Three-phase Circuits</vt:lpstr>
      <vt:lpstr> 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lpstr>Three-phase Circuits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ELECTRICITY (EE 151)</dc:title>
  <dc:creator/>
  <cp:lastModifiedBy/>
  <cp:revision>430</cp:revision>
  <dcterms:created xsi:type="dcterms:W3CDTF">2011-09-27T20:47:54Z</dcterms:created>
  <dcterms:modified xsi:type="dcterms:W3CDTF">2021-03-18T09:18:36Z</dcterms:modified>
</cp:coreProperties>
</file>