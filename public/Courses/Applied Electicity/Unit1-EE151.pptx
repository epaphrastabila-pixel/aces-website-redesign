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99"/>
  </p:notesMasterIdLst>
  <p:sldIdLst>
    <p:sldId id="505" r:id="rId2"/>
    <p:sldId id="506" r:id="rId3"/>
    <p:sldId id="836" r:id="rId4"/>
    <p:sldId id="508" r:id="rId5"/>
    <p:sldId id="512" r:id="rId6"/>
    <p:sldId id="507" r:id="rId7"/>
    <p:sldId id="509" r:id="rId8"/>
    <p:sldId id="510" r:id="rId9"/>
    <p:sldId id="511" r:id="rId10"/>
    <p:sldId id="513" r:id="rId11"/>
    <p:sldId id="514" r:id="rId12"/>
    <p:sldId id="745" r:id="rId13"/>
    <p:sldId id="746" r:id="rId14"/>
    <p:sldId id="747" r:id="rId15"/>
    <p:sldId id="748" r:id="rId16"/>
    <p:sldId id="749" r:id="rId17"/>
    <p:sldId id="750" r:id="rId18"/>
    <p:sldId id="753" r:id="rId19"/>
    <p:sldId id="754" r:id="rId20"/>
    <p:sldId id="755" r:id="rId21"/>
    <p:sldId id="756" r:id="rId22"/>
    <p:sldId id="757" r:id="rId23"/>
    <p:sldId id="758" r:id="rId24"/>
    <p:sldId id="759" r:id="rId25"/>
    <p:sldId id="760" r:id="rId26"/>
    <p:sldId id="761" r:id="rId27"/>
    <p:sldId id="763" r:id="rId28"/>
    <p:sldId id="764" r:id="rId29"/>
    <p:sldId id="765" r:id="rId30"/>
    <p:sldId id="766" r:id="rId31"/>
    <p:sldId id="767" r:id="rId32"/>
    <p:sldId id="768" r:id="rId33"/>
    <p:sldId id="769" r:id="rId34"/>
    <p:sldId id="770" r:id="rId35"/>
    <p:sldId id="771" r:id="rId36"/>
    <p:sldId id="772" r:id="rId37"/>
    <p:sldId id="773" r:id="rId38"/>
    <p:sldId id="774" r:id="rId39"/>
    <p:sldId id="776" r:id="rId40"/>
    <p:sldId id="778" r:id="rId41"/>
    <p:sldId id="779" r:id="rId42"/>
    <p:sldId id="780" r:id="rId43"/>
    <p:sldId id="781" r:id="rId44"/>
    <p:sldId id="782" r:id="rId45"/>
    <p:sldId id="783" r:id="rId46"/>
    <p:sldId id="784" r:id="rId47"/>
    <p:sldId id="785" r:id="rId48"/>
    <p:sldId id="786" r:id="rId49"/>
    <p:sldId id="787" r:id="rId50"/>
    <p:sldId id="788" r:id="rId51"/>
    <p:sldId id="789" r:id="rId52"/>
    <p:sldId id="790" r:id="rId53"/>
    <p:sldId id="791" r:id="rId54"/>
    <p:sldId id="792" r:id="rId55"/>
    <p:sldId id="793" r:id="rId56"/>
    <p:sldId id="794" r:id="rId57"/>
    <p:sldId id="795" r:id="rId58"/>
    <p:sldId id="796" r:id="rId59"/>
    <p:sldId id="797" r:id="rId60"/>
    <p:sldId id="798" r:id="rId61"/>
    <p:sldId id="799" r:id="rId62"/>
    <p:sldId id="800" r:id="rId63"/>
    <p:sldId id="801" r:id="rId64"/>
    <p:sldId id="802" r:id="rId65"/>
    <p:sldId id="803" r:id="rId66"/>
    <p:sldId id="804" r:id="rId67"/>
    <p:sldId id="805" r:id="rId68"/>
    <p:sldId id="806" r:id="rId69"/>
    <p:sldId id="807" r:id="rId70"/>
    <p:sldId id="808" r:id="rId71"/>
    <p:sldId id="809" r:id="rId72"/>
    <p:sldId id="810" r:id="rId73"/>
    <p:sldId id="811" r:id="rId74"/>
    <p:sldId id="812" r:id="rId75"/>
    <p:sldId id="813" r:id="rId76"/>
    <p:sldId id="814" r:id="rId77"/>
    <p:sldId id="815" r:id="rId78"/>
    <p:sldId id="816" r:id="rId79"/>
    <p:sldId id="817" r:id="rId80"/>
    <p:sldId id="818" r:id="rId81"/>
    <p:sldId id="819" r:id="rId82"/>
    <p:sldId id="820" r:id="rId83"/>
    <p:sldId id="821" r:id="rId84"/>
    <p:sldId id="822" r:id="rId85"/>
    <p:sldId id="823" r:id="rId86"/>
    <p:sldId id="824" r:id="rId87"/>
    <p:sldId id="825" r:id="rId88"/>
    <p:sldId id="826" r:id="rId89"/>
    <p:sldId id="827" r:id="rId90"/>
    <p:sldId id="828" r:id="rId91"/>
    <p:sldId id="829" r:id="rId92"/>
    <p:sldId id="830" r:id="rId93"/>
    <p:sldId id="831" r:id="rId94"/>
    <p:sldId id="832" r:id="rId95"/>
    <p:sldId id="833" r:id="rId96"/>
    <p:sldId id="834" r:id="rId97"/>
    <p:sldId id="835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7" autoAdjust="0"/>
    <p:restoredTop sz="92606" autoAdjust="0"/>
  </p:normalViewPr>
  <p:slideViewPr>
    <p:cSldViewPr>
      <p:cViewPr varScale="1">
        <p:scale>
          <a:sx n="60" d="100"/>
          <a:sy n="60" d="100"/>
        </p:scale>
        <p:origin x="120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11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5" y="0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C9075B04-F8B4-4231-9661-55128646DC08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8" rIns="91436" bIns="457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685213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5" y="8685213"/>
            <a:ext cx="2971800" cy="457200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2C95E41A-7867-4B6C-8DD9-F287DAB25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B5DF85-C109-4F99-9C60-2DC78D1A5415}" type="slidenum">
              <a:rPr lang="ko-KR" altLang="en-US" smtClean="0">
                <a:solidFill>
                  <a:prstClr val="black"/>
                </a:solidFill>
                <a:latin typeface="맑은 고딕"/>
              </a:rPr>
              <a:pPr>
                <a:defRPr/>
              </a:pPr>
              <a:t>1</a:t>
            </a:fld>
            <a:endParaRPr lang="ko-KR" altLang="en-US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78174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95E41A-7867-4B6C-8DD9-F287DAB257E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9144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D3049-ED7B-4139-A9F3-1F5FC29486CF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부제목 2"/>
          <p:cNvSpPr txBox="1">
            <a:spLocks/>
          </p:cNvSpPr>
          <p:nvPr userDrawn="1"/>
        </p:nvSpPr>
        <p:spPr bwMode="auto">
          <a:xfrm>
            <a:off x="1930400" y="4648200"/>
            <a:ext cx="853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3200" kern="0">
                <a:solidFill>
                  <a:srgbClr val="000000"/>
                </a:solidFill>
              </a:rPr>
              <a:t>Click to edit Master subtitle style</a:t>
            </a:r>
            <a:endParaRPr lang="ko-KR" altLang="en-US" sz="3200" ker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41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76301" y="152400"/>
            <a:ext cx="8978900" cy="1143000"/>
          </a:xfrm>
        </p:spPr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1403350"/>
            <a:ext cx="10363200" cy="469265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>
                <a:latin typeface="Garamond" panose="02020404030301010803" pitchFamily="18" charset="0"/>
              </a:defRPr>
            </a:lvl1pPr>
            <a:lvl2pPr marL="742950" indent="-285750">
              <a:buFont typeface="Wingdings" panose="05000000000000000000" pitchFamily="2" charset="2"/>
              <a:buChar char="v"/>
              <a:defRPr>
                <a:latin typeface="Garamond" panose="02020404030301010803" pitchFamily="18" charset="0"/>
              </a:defRPr>
            </a:lvl2pPr>
            <a:lvl3pPr marL="1143000" indent="-228600">
              <a:buFont typeface="Wingdings" panose="05000000000000000000" pitchFamily="2" charset="2"/>
              <a:buChar char="Ø"/>
              <a:defRPr>
                <a:latin typeface="Garamond" panose="02020404030301010803" pitchFamily="18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>
                <a:latin typeface="Garamond" panose="02020404030301010803" pitchFamily="18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한컴돋움" pitchFamily="18" charset="2"/>
                <a:ea typeface="한컴돋움" pitchFamily="18" charset="2"/>
                <a:cs typeface="한컴돋움" pitchFamily="18" charset="2"/>
              </a:defRPr>
            </a:lvl1pPr>
          </a:lstStyle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40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6301" y="152400"/>
            <a:ext cx="90183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18710"/>
            <a:ext cx="10363200" cy="467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52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400">
                <a:latin typeface="+mn-lt"/>
                <a:ea typeface="+mn-ea"/>
              </a:defRPr>
            </a:lvl1pPr>
          </a:lstStyle>
          <a:p>
            <a:pPr latinLnBrk="1">
              <a:defRPr/>
            </a:pPr>
            <a:fld id="{EDB87C7E-3D7E-436C-9FCA-C1D813413FB6}" type="slidenum">
              <a:rPr lang="ko-KR" altLang="en-US">
                <a:solidFill>
                  <a:srgbClr val="000000"/>
                </a:solidFill>
              </a:rPr>
              <a:pPr latinLnBrk="1"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>
            <a:off x="774700" y="1357313"/>
            <a:ext cx="10560051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 latinLnBrk="1">
              <a:defRPr/>
            </a:pPr>
            <a:endParaRPr lang="ko-KR" altLang="en-US" sz="1800" dirty="0">
              <a:solidFill>
                <a:srgbClr val="000000"/>
              </a:solidFill>
            </a:endParaRPr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>
            <a:off x="878418" y="6143625"/>
            <a:ext cx="10456333" cy="0"/>
          </a:xfrm>
          <a:prstGeom prst="line">
            <a:avLst/>
          </a:prstGeom>
          <a:noFill/>
          <a:ln w="57150">
            <a:solidFill>
              <a:srgbClr val="0099FF"/>
            </a:solidFill>
            <a:round/>
            <a:headEnd/>
            <a:tailEnd/>
          </a:ln>
          <a:effectLst/>
        </p:spPr>
        <p:txBody>
          <a:bodyPr/>
          <a:lstStyle/>
          <a:p>
            <a:pPr latinLnBrk="1">
              <a:defRPr/>
            </a:pPr>
            <a:endParaRPr lang="ko-KR" altLang="en-US" sz="1800" dirty="0">
              <a:solidFill>
                <a:srgbClr val="000000"/>
              </a:solidFill>
            </a:endParaRPr>
          </a:p>
        </p:txBody>
      </p:sp>
      <p:pic>
        <p:nvPicPr>
          <p:cNvPr id="8202" name="Picture 10" descr="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7751" y="6286501"/>
            <a:ext cx="20955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/>
          <p:cNvGrpSpPr/>
          <p:nvPr userDrawn="1"/>
        </p:nvGrpSpPr>
        <p:grpSpPr>
          <a:xfrm>
            <a:off x="9894688" y="398980"/>
            <a:ext cx="2195712" cy="654095"/>
            <a:chOff x="7308304" y="11088"/>
            <a:chExt cx="1835696" cy="842466"/>
          </a:xfrm>
        </p:grpSpPr>
        <p:pic>
          <p:nvPicPr>
            <p:cNvPr id="11" name="Picture 10" descr="index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8304" y="11088"/>
              <a:ext cx="685800" cy="7620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956376" y="140012"/>
              <a:ext cx="1187624" cy="71354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Americana XBd BT" pitchFamily="18" charset="0"/>
                </a:rPr>
                <a:t>KNUST</a:t>
              </a:r>
            </a:p>
            <a:p>
              <a:pPr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Americana XBd BT" pitchFamily="18" charset="0"/>
                </a:rPr>
                <a:t>Telecomm.</a:t>
              </a:r>
            </a:p>
            <a:p>
              <a:pPr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Americana XBd BT" pitchFamily="18" charset="0"/>
                </a:rPr>
                <a:t>Engineering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27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microwaveknust.com/" TargetMode="External"/><Relationship Id="rId2" Type="http://schemas.openxmlformats.org/officeDocument/2006/relationships/hyperlink" Target="mailto:aarahman.soe@knust.edu.g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oduraa2000@gmail.com" TargetMode="External"/><Relationship Id="rId4" Type="http://schemas.openxmlformats.org/officeDocument/2006/relationships/hyperlink" Target="mailto:akamboleisaac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.docx"/><Relationship Id="rId3" Type="http://schemas.openxmlformats.org/officeDocument/2006/relationships/image" Target="../media/image19.png"/><Relationship Id="rId7" Type="http://schemas.openxmlformats.org/officeDocument/2006/relationships/package" Target="../embeddings/Microsoft_Word_Document1.docx"/><Relationship Id="rId12" Type="http://schemas.openxmlformats.org/officeDocument/2006/relationships/image" Target="../media/image23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11" Type="http://schemas.openxmlformats.org/officeDocument/2006/relationships/package" Target="../embeddings/Microsoft_Word_Document4.docx"/><Relationship Id="rId5" Type="http://schemas.openxmlformats.org/officeDocument/2006/relationships/package" Target="../embeddings/Microsoft_Word_Document.docx"/><Relationship Id="rId10" Type="http://schemas.openxmlformats.org/officeDocument/2006/relationships/image" Target="../media/image22.emf"/><Relationship Id="rId4" Type="http://schemas.openxmlformats.org/officeDocument/2006/relationships/image" Target="../media/image20.png"/><Relationship Id="rId9" Type="http://schemas.openxmlformats.org/officeDocument/2006/relationships/package" Target="../embeddings/Microsoft_Word_Document3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2.e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4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2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29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53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3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3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57.emf"/><Relationship Id="rId7" Type="http://schemas.openxmlformats.org/officeDocument/2006/relationships/image" Target="../media/image59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58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63.emf"/><Relationship Id="rId4" Type="http://schemas.openxmlformats.org/officeDocument/2006/relationships/oleObject" Target="../embeddings/oleObject4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7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6.emf"/><Relationship Id="rId4" Type="http://schemas.openxmlformats.org/officeDocument/2006/relationships/oleObject" Target="../embeddings/oleObject49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2.emf"/><Relationship Id="rId7" Type="http://schemas.openxmlformats.org/officeDocument/2006/relationships/image" Target="../media/image74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73.wmf"/><Relationship Id="rId10" Type="http://schemas.openxmlformats.org/officeDocument/2006/relationships/image" Target="../media/image76.emf"/><Relationship Id="rId4" Type="http://schemas.openxmlformats.org/officeDocument/2006/relationships/oleObject" Target="../embeddings/oleObject56.bin"/><Relationship Id="rId9" Type="http://schemas.openxmlformats.org/officeDocument/2006/relationships/oleObject" Target="../embeddings/oleObject5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77.e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80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6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8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86.emf"/><Relationship Id="rId4" Type="http://schemas.openxmlformats.org/officeDocument/2006/relationships/oleObject" Target="../embeddings/oleObject6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7.docx"/><Relationship Id="rId3" Type="http://schemas.openxmlformats.org/officeDocument/2006/relationships/image" Target="../media/image88.emf"/><Relationship Id="rId7" Type="http://schemas.openxmlformats.org/officeDocument/2006/relationships/image" Target="../media/image90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6.docx"/><Relationship Id="rId11" Type="http://schemas.openxmlformats.org/officeDocument/2006/relationships/image" Target="../media/image92.emf"/><Relationship Id="rId5" Type="http://schemas.openxmlformats.org/officeDocument/2006/relationships/image" Target="../media/image89.emf"/><Relationship Id="rId10" Type="http://schemas.openxmlformats.org/officeDocument/2006/relationships/package" Target="../embeddings/Microsoft_Word_Document8.docx"/><Relationship Id="rId4" Type="http://schemas.openxmlformats.org/officeDocument/2006/relationships/package" Target="../embeddings/Microsoft_Word_Document5.docx"/><Relationship Id="rId9" Type="http://schemas.openxmlformats.org/officeDocument/2006/relationships/image" Target="../media/image9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7" Type="http://schemas.openxmlformats.org/officeDocument/2006/relationships/image" Target="../media/image94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9.docx"/><Relationship Id="rId5" Type="http://schemas.openxmlformats.org/officeDocument/2006/relationships/image" Target="../media/image93.wmf"/><Relationship Id="rId4" Type="http://schemas.openxmlformats.org/officeDocument/2006/relationships/oleObject" Target="../embeddings/oleObject7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7" Type="http://schemas.openxmlformats.org/officeDocument/2006/relationships/image" Target="../media/image97.e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0.docx"/><Relationship Id="rId5" Type="http://schemas.openxmlformats.org/officeDocument/2006/relationships/image" Target="../media/image96.emf"/><Relationship Id="rId4" Type="http://schemas.openxmlformats.org/officeDocument/2006/relationships/oleObject" Target="../embeddings/oleObject7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101.emf"/><Relationship Id="rId3" Type="http://schemas.openxmlformats.org/officeDocument/2006/relationships/image" Target="../media/image98.emf"/><Relationship Id="rId7" Type="http://schemas.openxmlformats.org/officeDocument/2006/relationships/image" Target="../media/image96.emf"/><Relationship Id="rId12" Type="http://schemas.openxmlformats.org/officeDocument/2006/relationships/package" Target="../embeddings/Microsoft_Word_Document13.docx"/><Relationship Id="rId2" Type="http://schemas.openxmlformats.org/officeDocument/2006/relationships/package" Target="../embeddings/Microsoft_Word_Document11.docx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100.emf"/><Relationship Id="rId5" Type="http://schemas.openxmlformats.org/officeDocument/2006/relationships/image" Target="../media/image95.emf"/><Relationship Id="rId15" Type="http://schemas.openxmlformats.org/officeDocument/2006/relationships/image" Target="../media/image102.emf"/><Relationship Id="rId10" Type="http://schemas.openxmlformats.org/officeDocument/2006/relationships/package" Target="../embeddings/Microsoft_Word_Document12.docx"/><Relationship Id="rId4" Type="http://schemas.openxmlformats.org/officeDocument/2006/relationships/oleObject" Target="../embeddings/oleObject75.bin"/><Relationship Id="rId9" Type="http://schemas.openxmlformats.org/officeDocument/2006/relationships/image" Target="../media/image99.emf"/><Relationship Id="rId14" Type="http://schemas.openxmlformats.org/officeDocument/2006/relationships/package" Target="../embeddings/Microsoft_Word_Document14.docx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8.docx"/><Relationship Id="rId3" Type="http://schemas.openxmlformats.org/officeDocument/2006/relationships/image" Target="../media/image98.emf"/><Relationship Id="rId7" Type="http://schemas.openxmlformats.org/officeDocument/2006/relationships/image" Target="../media/image104.emf"/><Relationship Id="rId2" Type="http://schemas.openxmlformats.org/officeDocument/2006/relationships/package" Target="../embeddings/Microsoft_Word_Document15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7.docx"/><Relationship Id="rId5" Type="http://schemas.openxmlformats.org/officeDocument/2006/relationships/image" Target="../media/image103.emf"/><Relationship Id="rId4" Type="http://schemas.openxmlformats.org/officeDocument/2006/relationships/package" Target="../embeddings/Microsoft_Word_Document16.docx"/><Relationship Id="rId9" Type="http://schemas.openxmlformats.org/officeDocument/2006/relationships/image" Target="../media/image105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emf"/><Relationship Id="rId4" Type="http://schemas.openxmlformats.org/officeDocument/2006/relationships/oleObject" Target="../embeddings/oleObject79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108.emf"/><Relationship Id="rId7" Type="http://schemas.openxmlformats.org/officeDocument/2006/relationships/image" Target="../media/image110.e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11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emf"/><Relationship Id="rId4" Type="http://schemas.openxmlformats.org/officeDocument/2006/relationships/oleObject" Target="../embeddings/oleObject8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92.bin"/><Relationship Id="rId3" Type="http://schemas.openxmlformats.org/officeDocument/2006/relationships/image" Target="../media/image114.emf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118.e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11" Type="http://schemas.openxmlformats.org/officeDocument/2006/relationships/oleObject" Target="../embeddings/oleObject91.bin"/><Relationship Id="rId5" Type="http://schemas.openxmlformats.org/officeDocument/2006/relationships/image" Target="../media/image115.emf"/><Relationship Id="rId10" Type="http://schemas.openxmlformats.org/officeDocument/2006/relationships/image" Target="../media/image117.emf"/><Relationship Id="rId4" Type="http://schemas.openxmlformats.org/officeDocument/2006/relationships/oleObject" Target="../embeddings/oleObject87.bin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119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95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7" Type="http://schemas.openxmlformats.org/officeDocument/2006/relationships/image" Target="../media/image123.e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9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emf"/><Relationship Id="rId4" Type="http://schemas.openxmlformats.org/officeDocument/2006/relationships/oleObject" Target="../embeddings/oleObject100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image" Target="../media/image127.emf"/><Relationship Id="rId7" Type="http://schemas.openxmlformats.org/officeDocument/2006/relationships/image" Target="../media/image129.e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28.emf"/><Relationship Id="rId4" Type="http://schemas.openxmlformats.org/officeDocument/2006/relationships/package" Target="../embeddings/Microsoft_Word_Document19.docx"/><Relationship Id="rId9" Type="http://schemas.openxmlformats.org/officeDocument/2006/relationships/image" Target="../media/image130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image" Target="../media/image131.emf"/><Relationship Id="rId7" Type="http://schemas.openxmlformats.org/officeDocument/2006/relationships/image" Target="../media/image133.e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3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emf"/><Relationship Id="rId4" Type="http://schemas.openxmlformats.org/officeDocument/2006/relationships/package" Target="../embeddings/Microsoft_Word_Document20.docx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emf"/><Relationship Id="rId4" Type="http://schemas.openxmlformats.org/officeDocument/2006/relationships/oleObject" Target="../embeddings/oleObject110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44.emf"/><Relationship Id="rId3" Type="http://schemas.openxmlformats.org/officeDocument/2006/relationships/image" Target="../media/image139.emf"/><Relationship Id="rId7" Type="http://schemas.openxmlformats.org/officeDocument/2006/relationships/image" Target="../media/image141.emf"/><Relationship Id="rId12" Type="http://schemas.openxmlformats.org/officeDocument/2006/relationships/oleObject" Target="../embeddings/oleObject114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2.docx"/><Relationship Id="rId11" Type="http://schemas.openxmlformats.org/officeDocument/2006/relationships/image" Target="../media/image143.emf"/><Relationship Id="rId5" Type="http://schemas.openxmlformats.org/officeDocument/2006/relationships/image" Target="../media/image140.emf"/><Relationship Id="rId10" Type="http://schemas.openxmlformats.org/officeDocument/2006/relationships/oleObject" Target="../embeddings/oleObject113.bin"/><Relationship Id="rId4" Type="http://schemas.openxmlformats.org/officeDocument/2006/relationships/package" Target="../embeddings/Microsoft_Word_Document21.docx"/><Relationship Id="rId9" Type="http://schemas.openxmlformats.org/officeDocument/2006/relationships/image" Target="../media/image142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7" Type="http://schemas.openxmlformats.org/officeDocument/2006/relationships/image" Target="../media/image147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146.emf"/><Relationship Id="rId4" Type="http://schemas.openxmlformats.org/officeDocument/2006/relationships/oleObject" Target="../embeddings/oleObject116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emf"/><Relationship Id="rId4" Type="http://schemas.openxmlformats.org/officeDocument/2006/relationships/package" Target="../embeddings/Microsoft_Word_Document23.docx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oleObject" Target="../embeddings/oleObject119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emf"/><Relationship Id="rId4" Type="http://schemas.openxmlformats.org/officeDocument/2006/relationships/oleObject" Target="../embeddings/oleObject121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108.emf"/><Relationship Id="rId7" Type="http://schemas.openxmlformats.org/officeDocument/2006/relationships/image" Target="../media/image110.e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1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2.emf"/><Relationship Id="rId4" Type="http://schemas.openxmlformats.org/officeDocument/2006/relationships/oleObject" Target="../embeddings/oleObject127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134.bin"/><Relationship Id="rId3" Type="http://schemas.openxmlformats.org/officeDocument/2006/relationships/image" Target="../media/image114.emf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18.emf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0.bin"/><Relationship Id="rId11" Type="http://schemas.openxmlformats.org/officeDocument/2006/relationships/oleObject" Target="../embeddings/oleObject133.bin"/><Relationship Id="rId5" Type="http://schemas.openxmlformats.org/officeDocument/2006/relationships/image" Target="../media/image115.emf"/><Relationship Id="rId10" Type="http://schemas.openxmlformats.org/officeDocument/2006/relationships/image" Target="../media/image117.emf"/><Relationship Id="rId4" Type="http://schemas.openxmlformats.org/officeDocument/2006/relationships/oleObject" Target="../embeddings/oleObject129.bin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19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137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7" Type="http://schemas.openxmlformats.org/officeDocument/2006/relationships/image" Target="../media/image153.w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139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3" Type="http://schemas.openxmlformats.org/officeDocument/2006/relationships/image" Target="../media/image125.emf"/><Relationship Id="rId7" Type="http://schemas.openxmlformats.org/officeDocument/2006/relationships/image" Target="../media/image155.e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56.emf"/><Relationship Id="rId5" Type="http://schemas.openxmlformats.org/officeDocument/2006/relationships/image" Target="../media/image154.emf"/><Relationship Id="rId10" Type="http://schemas.openxmlformats.org/officeDocument/2006/relationships/oleObject" Target="../embeddings/oleObject145.bin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52.e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4.docx"/><Relationship Id="rId13" Type="http://schemas.openxmlformats.org/officeDocument/2006/relationships/image" Target="../media/image160.emf"/><Relationship Id="rId3" Type="http://schemas.openxmlformats.org/officeDocument/2006/relationships/image" Target="../media/image157.emf"/><Relationship Id="rId7" Type="http://schemas.openxmlformats.org/officeDocument/2006/relationships/image" Target="../media/image155.e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59.emf"/><Relationship Id="rId5" Type="http://schemas.openxmlformats.org/officeDocument/2006/relationships/image" Target="../media/image152.emf"/><Relationship Id="rId15" Type="http://schemas.openxmlformats.org/officeDocument/2006/relationships/image" Target="../media/image161.wmf"/><Relationship Id="rId10" Type="http://schemas.openxmlformats.org/officeDocument/2006/relationships/package" Target="../embeddings/Microsoft_Word_Document25.docx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58.emf"/><Relationship Id="rId14" Type="http://schemas.openxmlformats.org/officeDocument/2006/relationships/oleObject" Target="../embeddings/oleObject150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3" Type="http://schemas.openxmlformats.org/officeDocument/2006/relationships/image" Target="../media/image162.wmf"/><Relationship Id="rId7" Type="http://schemas.openxmlformats.org/officeDocument/2006/relationships/image" Target="../media/image164.e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3.bin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65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70.wmf"/><Relationship Id="rId3" Type="http://schemas.openxmlformats.org/officeDocument/2006/relationships/image" Target="../media/image166.e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160.bin"/><Relationship Id="rId2" Type="http://schemas.openxmlformats.org/officeDocument/2006/relationships/oleObject" Target="../embeddings/oleObject1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23.emf"/><Relationship Id="rId5" Type="http://schemas.openxmlformats.org/officeDocument/2006/relationships/image" Target="../media/image167.w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69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2.emf"/><Relationship Id="rId4" Type="http://schemas.openxmlformats.org/officeDocument/2006/relationships/oleObject" Target="../embeddings/oleObject162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7" Type="http://schemas.openxmlformats.org/officeDocument/2006/relationships/image" Target="../media/image174.wmf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5.bin"/><Relationship Id="rId5" Type="http://schemas.openxmlformats.org/officeDocument/2006/relationships/image" Target="../media/image173.wmf"/><Relationship Id="rId4" Type="http://schemas.openxmlformats.org/officeDocument/2006/relationships/oleObject" Target="../embeddings/oleObject164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6.emf"/><Relationship Id="rId4" Type="http://schemas.openxmlformats.org/officeDocument/2006/relationships/oleObject" Target="../embeddings/oleObject167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wmf"/><Relationship Id="rId4" Type="http://schemas.openxmlformats.org/officeDocument/2006/relationships/oleObject" Target="../embeddings/oleObject169.bin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emf"/><Relationship Id="rId7" Type="http://schemas.openxmlformats.org/officeDocument/2006/relationships/image" Target="../media/image181.emf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2.bin"/><Relationship Id="rId5" Type="http://schemas.openxmlformats.org/officeDocument/2006/relationships/image" Target="../media/image180.emf"/><Relationship Id="rId4" Type="http://schemas.openxmlformats.org/officeDocument/2006/relationships/oleObject" Target="../embeddings/oleObject171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image" Target="../media/image182.emf"/><Relationship Id="rId7" Type="http://schemas.openxmlformats.org/officeDocument/2006/relationships/image" Target="../media/image184.w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86.wmf"/><Relationship Id="rId5" Type="http://schemas.openxmlformats.org/officeDocument/2006/relationships/image" Target="../media/image183.wmf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85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image" Target="../media/image187.emf"/><Relationship Id="rId7" Type="http://schemas.openxmlformats.org/officeDocument/2006/relationships/image" Target="../media/image182.emf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90.wmf"/><Relationship Id="rId5" Type="http://schemas.openxmlformats.org/officeDocument/2006/relationships/image" Target="../media/image188.e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89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oleObject" Target="../embeddings/oleObject18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emf"/><Relationship Id="rId4" Type="http://schemas.openxmlformats.org/officeDocument/2006/relationships/oleObject" Target="../embeddings/oleObject184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emf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8.emf"/><Relationship Id="rId4" Type="http://schemas.openxmlformats.org/officeDocument/2006/relationships/oleObject" Target="../embeddings/oleObject186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3" Type="http://schemas.openxmlformats.org/officeDocument/2006/relationships/image" Target="../media/image188.emf"/><Relationship Id="rId7" Type="http://schemas.openxmlformats.org/officeDocument/2006/relationships/image" Target="../media/image195.wmf"/><Relationship Id="rId2" Type="http://schemas.openxmlformats.org/officeDocument/2006/relationships/oleObject" Target="../embeddings/oleObject1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197.wmf"/><Relationship Id="rId5" Type="http://schemas.openxmlformats.org/officeDocument/2006/relationships/image" Target="../media/image194.wmf"/><Relationship Id="rId10" Type="http://schemas.openxmlformats.org/officeDocument/2006/relationships/oleObject" Target="../embeddings/oleObject191.bin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196.w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3" Type="http://schemas.openxmlformats.org/officeDocument/2006/relationships/image" Target="../media/image182.emf"/><Relationship Id="rId7" Type="http://schemas.openxmlformats.org/officeDocument/2006/relationships/image" Target="../media/image199.e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4.bin"/><Relationship Id="rId5" Type="http://schemas.openxmlformats.org/officeDocument/2006/relationships/image" Target="../media/image198.emf"/><Relationship Id="rId4" Type="http://schemas.openxmlformats.org/officeDocument/2006/relationships/oleObject" Target="../embeddings/oleObject193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wmf"/><Relationship Id="rId4" Type="http://schemas.openxmlformats.org/officeDocument/2006/relationships/oleObject" Target="../embeddings/oleObject197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oleObject" Target="../embeddings/oleObject198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emf"/><Relationship Id="rId4" Type="http://schemas.openxmlformats.org/officeDocument/2006/relationships/oleObject" Target="../embeddings/oleObject200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2" Type="http://schemas.openxmlformats.org/officeDocument/2006/relationships/oleObject" Target="../embeddings/oleObject20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emf"/><Relationship Id="rId4" Type="http://schemas.openxmlformats.org/officeDocument/2006/relationships/oleObject" Target="../embeddings/oleObject202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3" Type="http://schemas.openxmlformats.org/officeDocument/2006/relationships/image" Target="../media/image204.emf"/><Relationship Id="rId7" Type="http://schemas.openxmlformats.org/officeDocument/2006/relationships/image" Target="../media/image206.wmf"/><Relationship Id="rId2" Type="http://schemas.openxmlformats.org/officeDocument/2006/relationships/oleObject" Target="../embeddings/oleObject20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5.bin"/><Relationship Id="rId5" Type="http://schemas.openxmlformats.org/officeDocument/2006/relationships/image" Target="../media/image205.emf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07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3" Type="http://schemas.openxmlformats.org/officeDocument/2006/relationships/image" Target="../media/image204.emf"/><Relationship Id="rId7" Type="http://schemas.openxmlformats.org/officeDocument/2006/relationships/image" Target="../media/image209.wmf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9.bin"/><Relationship Id="rId5" Type="http://schemas.openxmlformats.org/officeDocument/2006/relationships/image" Target="../media/image208.wmf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10.w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emf"/><Relationship Id="rId7" Type="http://schemas.openxmlformats.org/officeDocument/2006/relationships/image" Target="../media/image213.emf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3.bin"/><Relationship Id="rId5" Type="http://schemas.openxmlformats.org/officeDocument/2006/relationships/image" Target="../media/image212.emf"/><Relationship Id="rId4" Type="http://schemas.openxmlformats.org/officeDocument/2006/relationships/oleObject" Target="../embeddings/oleObject212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emf"/><Relationship Id="rId7" Type="http://schemas.openxmlformats.org/officeDocument/2006/relationships/image" Target="../media/image216.emf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6.bin"/><Relationship Id="rId5" Type="http://schemas.openxmlformats.org/officeDocument/2006/relationships/image" Target="../media/image215.emf"/><Relationship Id="rId4" Type="http://schemas.openxmlformats.org/officeDocument/2006/relationships/oleObject" Target="../embeddings/oleObject215.bin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e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981200" y="1428736"/>
            <a:ext cx="8534400" cy="4643470"/>
          </a:xfrm>
        </p:spPr>
        <p:txBody>
          <a:bodyPr/>
          <a:lstStyle/>
          <a:p>
            <a:pPr algn="ctr">
              <a:buNone/>
            </a:pPr>
            <a:r>
              <a:rPr lang="en-US" sz="4400" dirty="0">
                <a:solidFill>
                  <a:schemeClr val="accent2"/>
                </a:solidFill>
              </a:rPr>
              <a:t>EE 151</a:t>
            </a:r>
          </a:p>
          <a:p>
            <a:pPr algn="ctr">
              <a:buNone/>
            </a:pPr>
            <a:r>
              <a:rPr lang="en-US" sz="4400" dirty="0">
                <a:solidFill>
                  <a:schemeClr val="accent2"/>
                </a:solidFill>
              </a:rPr>
              <a:t>APPLIED ELECTRICITY</a:t>
            </a: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2018.09.03</a:t>
            </a:r>
          </a:p>
          <a:p>
            <a:pPr algn="ctr">
              <a:buNone/>
            </a:pPr>
            <a:endParaRPr lang="en-US" altLang="ko-KR" sz="2800" dirty="0">
              <a:solidFill>
                <a:schemeClr val="accent2"/>
              </a:solidFill>
            </a:endParaRPr>
          </a:p>
          <a:p>
            <a:pPr algn="ctr">
              <a:buNone/>
            </a:pPr>
            <a:r>
              <a:rPr lang="en-US" altLang="ko-KR" dirty="0">
                <a:solidFill>
                  <a:schemeClr val="accent2"/>
                </a:solidFill>
                <a:latin typeface="Garamond" pitchFamily="18" charset="0"/>
              </a:rPr>
              <a:t>Ing. Dr. Abdul-Rahman Ahmed</a:t>
            </a:r>
            <a:endParaRPr lang="ko-KR" altLang="en-US" dirty="0">
              <a:solidFill>
                <a:schemeClr val="accent2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2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7772400" cy="1143000"/>
          </a:xfrm>
        </p:spPr>
        <p:txBody>
          <a:bodyPr/>
          <a:lstStyle/>
          <a:p>
            <a:r>
              <a:rPr lang="en-US" sz="3200" dirty="0"/>
              <a:t>EE 151: APPLIED ELECTRICITY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439400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>
                <a:cs typeface="Gautami" pitchFamily="34" charset="0"/>
              </a:rPr>
              <a:t>Course Structure</a:t>
            </a:r>
            <a:r>
              <a:rPr lang="en-US" sz="2400" dirty="0">
                <a:cs typeface="Gautami" pitchFamily="34" charset="0"/>
              </a:rPr>
              <a:t>: 	3	2	3</a:t>
            </a:r>
          </a:p>
          <a:p>
            <a:pPr marL="0" indent="0" algn="just">
              <a:buNone/>
            </a:pPr>
            <a:endParaRPr lang="en-US" sz="2400" b="1" dirty="0">
              <a:cs typeface="Gautami" pitchFamily="34" charset="0"/>
            </a:endParaRPr>
          </a:p>
          <a:p>
            <a:pPr marL="0" indent="0" algn="just">
              <a:buNone/>
            </a:pPr>
            <a:r>
              <a:rPr lang="en-US" sz="2400" b="1" dirty="0">
                <a:cs typeface="Gautami" pitchFamily="34" charset="0"/>
              </a:rPr>
              <a:t>Course Instructor</a:t>
            </a:r>
            <a:r>
              <a:rPr lang="en-US" sz="2400" dirty="0">
                <a:cs typeface="Gautami" pitchFamily="34" charset="0"/>
              </a:rPr>
              <a:t>:     Ing. Dr. Abdul-Rahman Ahmed</a:t>
            </a:r>
          </a:p>
          <a:p>
            <a:pPr marL="0" indent="0" algn="just">
              <a:buNone/>
            </a:pPr>
            <a:r>
              <a:rPr lang="en-US" sz="2400" dirty="0">
                <a:cs typeface="Gautami" pitchFamily="34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cs typeface="Gautami" pitchFamily="34" charset="0"/>
              </a:rPr>
              <a:t>           </a:t>
            </a:r>
            <a:r>
              <a:rPr lang="en-US" sz="2400" dirty="0">
                <a:solidFill>
                  <a:srgbClr val="FF0000"/>
                </a:solidFill>
                <a:cs typeface="Gautami" pitchFamily="34" charset="0"/>
                <a:hlinkClick r:id="rId2"/>
              </a:rPr>
              <a:t>aarahman.soe@knust.edu.gh</a:t>
            </a:r>
            <a:endParaRPr lang="en-US" sz="2400" dirty="0">
              <a:solidFill>
                <a:srgbClr val="FF0000"/>
              </a:solidFill>
              <a:cs typeface="Gautami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  <a:cs typeface="Gautami" pitchFamily="34" charset="0"/>
              </a:rPr>
              <a:t>		           0508 – 351 - 438</a:t>
            </a:r>
          </a:p>
          <a:p>
            <a:pPr marL="0" indent="0" algn="just">
              <a:buNone/>
            </a:pPr>
            <a:r>
              <a:rPr lang="en-US" sz="2400" b="1" dirty="0">
                <a:cs typeface="Gautami" pitchFamily="34" charset="0"/>
              </a:rPr>
              <a:t>Course Materials:     </a:t>
            </a:r>
            <a:r>
              <a:rPr lang="en-US" sz="2400" dirty="0">
                <a:cs typeface="Gautami" pitchFamily="34" charset="0"/>
                <a:hlinkClick r:id="rId3"/>
              </a:rPr>
              <a:t>https://www.rfmicrowaveknust.com</a:t>
            </a:r>
            <a:r>
              <a:rPr lang="en-US" sz="2400" dirty="0">
                <a:cs typeface="Gautami" pitchFamily="34" charset="0"/>
              </a:rPr>
              <a:t> </a:t>
            </a:r>
            <a:endParaRPr lang="en-GB" sz="24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GB" sz="1200" dirty="0">
              <a:solidFill>
                <a:schemeClr val="accent6"/>
              </a:solidFill>
            </a:endParaRPr>
          </a:p>
          <a:p>
            <a:pPr marL="0" indent="0" algn="just">
              <a:buNone/>
            </a:pPr>
            <a:r>
              <a:rPr lang="en-US" sz="2400" b="1" dirty="0">
                <a:cs typeface="Gautami" pitchFamily="34" charset="0"/>
              </a:rPr>
              <a:t>Teaching Assistants</a:t>
            </a:r>
            <a:r>
              <a:rPr lang="en-US" sz="2400" dirty="0">
                <a:cs typeface="Gautami" pitchFamily="34" charset="0"/>
              </a:rPr>
              <a:t>: Akambole Isaac </a:t>
            </a:r>
            <a:r>
              <a:rPr lang="en-US" sz="2400" dirty="0" err="1">
                <a:cs typeface="Gautami" pitchFamily="34" charset="0"/>
              </a:rPr>
              <a:t>Ageebase</a:t>
            </a:r>
            <a:r>
              <a:rPr lang="en-US" sz="2400" dirty="0">
                <a:cs typeface="Gautami" pitchFamily="34" charset="0"/>
              </a:rPr>
              <a:t>	     Alberta </a:t>
            </a:r>
            <a:r>
              <a:rPr lang="en-US" sz="2400" dirty="0" err="1">
                <a:cs typeface="Gautami" pitchFamily="34" charset="0"/>
              </a:rPr>
              <a:t>Oduraa</a:t>
            </a:r>
            <a:r>
              <a:rPr lang="en-US" sz="2400" dirty="0">
                <a:cs typeface="Gautami" pitchFamily="34" charset="0"/>
              </a:rPr>
              <a:t> Quartey</a:t>
            </a:r>
          </a:p>
          <a:p>
            <a:pPr marL="0" indent="0" algn="just">
              <a:buNone/>
            </a:pPr>
            <a:r>
              <a:rPr lang="en-US" sz="2400" dirty="0">
                <a:cs typeface="Gautami" pitchFamily="34" charset="0"/>
              </a:rPr>
              <a:t>		            0506257842                                  0547886101</a:t>
            </a:r>
          </a:p>
          <a:p>
            <a:pPr marL="0" indent="0" algn="just">
              <a:buNone/>
            </a:pPr>
            <a:r>
              <a:rPr lang="en-US" sz="2400" dirty="0">
                <a:cs typeface="Gautami" pitchFamily="34" charset="0"/>
              </a:rPr>
              <a:t>		            </a:t>
            </a:r>
            <a:r>
              <a:rPr lang="en-US" sz="2400" dirty="0">
                <a:cs typeface="Gautami" pitchFamily="34" charset="0"/>
                <a:hlinkClick r:id="rId4"/>
              </a:rPr>
              <a:t>akamboleisaac@gmail.com</a:t>
            </a:r>
            <a:r>
              <a:rPr lang="en-US" sz="2400" dirty="0">
                <a:cs typeface="Gautami" pitchFamily="34" charset="0"/>
              </a:rPr>
              <a:t>           </a:t>
            </a:r>
            <a:r>
              <a:rPr lang="en-US" sz="2400" dirty="0">
                <a:cs typeface="Gautami" pitchFamily="34" charset="0"/>
                <a:hlinkClick r:id="rId5"/>
              </a:rPr>
              <a:t>oduraa2000@gmail.com</a:t>
            </a:r>
            <a:r>
              <a:rPr lang="en-US" sz="2400" dirty="0">
                <a:cs typeface="Gautami" pitchFamily="34" charset="0"/>
              </a:rPr>
              <a:t> </a:t>
            </a:r>
          </a:p>
          <a:p>
            <a:pPr marL="0" indent="0" algn="just">
              <a:buNone/>
            </a:pPr>
            <a:r>
              <a:rPr lang="en-US" sz="2400" dirty="0">
                <a:cs typeface="Gautami" pitchFamily="34" charset="0"/>
              </a:rPr>
              <a:t>                                  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768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4C33-C0D1-4FB6-B5BB-25176718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Website QR Code</a:t>
            </a:r>
            <a:endParaRPr lang="en-GH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49C09-16AA-4043-B245-FCE59445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1FAEF-8668-4089-8F00-4EE3C39E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1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Course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10287000" cy="4648200"/>
          </a:xfrm>
        </p:spPr>
        <p:txBody>
          <a:bodyPr/>
          <a:lstStyle/>
          <a:p>
            <a:pPr marL="571500" indent="-571500" algn="just"/>
            <a:r>
              <a:rPr lang="en-US" dirty="0"/>
              <a:t>Appreciate basic principles of Electrical Circuits</a:t>
            </a:r>
          </a:p>
          <a:p>
            <a:pPr marL="571500" indent="-571500" algn="just"/>
            <a:r>
              <a:rPr lang="en-US" dirty="0"/>
              <a:t>Be equipped with tools required to analyze </a:t>
            </a:r>
          </a:p>
          <a:p>
            <a:pPr marL="971550" lvl="1" indent="-571500" algn="just"/>
            <a:r>
              <a:rPr lang="en-US" dirty="0"/>
              <a:t>electric and </a:t>
            </a:r>
          </a:p>
          <a:p>
            <a:pPr marL="971550" lvl="1" indent="-571500" algn="just"/>
            <a:r>
              <a:rPr lang="en-US" dirty="0"/>
              <a:t>magnetic circuits</a:t>
            </a:r>
          </a:p>
          <a:p>
            <a:pPr marL="571500" indent="-571500" algn="just"/>
            <a:r>
              <a:rPr lang="en-US" dirty="0"/>
              <a:t>Develop knowledge and fundamental concepts associated  with Electrical/Electronics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463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95400"/>
            <a:ext cx="10515600" cy="4876800"/>
          </a:xfrm>
        </p:spPr>
        <p:txBody>
          <a:bodyPr/>
          <a:lstStyle/>
          <a:p>
            <a:pPr marL="457200" indent="-457200" algn="just"/>
            <a:r>
              <a:rPr lang="en-US" sz="2800" dirty="0">
                <a:solidFill>
                  <a:srgbClr val="0000FF"/>
                </a:solidFill>
              </a:rPr>
              <a:t>Unit 1: Circuits and Network Theorems: </a:t>
            </a:r>
          </a:p>
          <a:p>
            <a:pPr marL="857250" lvl="1" indent="-457200" algn="just"/>
            <a:r>
              <a:rPr lang="en-US" sz="2400" dirty="0"/>
              <a:t>Kirchhoff's laws, Thevenin’s Theorem,  Norton's Theorem, Superposition       Theorem, Reciprocity Theorem and Delta- Star Transformation.</a:t>
            </a:r>
          </a:p>
          <a:p>
            <a:pPr marL="744538" indent="-744538" algn="just"/>
            <a:r>
              <a:rPr lang="en-US" sz="2800" dirty="0">
                <a:solidFill>
                  <a:srgbClr val="0000FF"/>
                </a:solidFill>
              </a:rPr>
              <a:t>Unit 2: Alternating current circuits </a:t>
            </a:r>
          </a:p>
          <a:p>
            <a:pPr marL="1144588" lvl="1" indent="-744538" algn="just"/>
            <a:r>
              <a:rPr lang="en-US" sz="2400" dirty="0"/>
              <a:t>Determination of Average and RMS values, Harmonics, Phasors, </a:t>
            </a:r>
            <a:r>
              <a:rPr lang="en-US" sz="2400" dirty="0" err="1"/>
              <a:t>impedance,current</a:t>
            </a:r>
            <a:r>
              <a:rPr lang="en-US" sz="2400" dirty="0"/>
              <a:t>  and power in ac circuits</a:t>
            </a:r>
          </a:p>
          <a:p>
            <a:pPr marL="801688" indent="-801688" algn="just"/>
            <a:r>
              <a:rPr lang="en-US" sz="2800" dirty="0">
                <a:solidFill>
                  <a:srgbClr val="0000FF"/>
                </a:solidFill>
              </a:rPr>
              <a:t>Unit 3: Three-phase circuits </a:t>
            </a:r>
          </a:p>
          <a:p>
            <a:pPr marL="1201738" lvl="1" indent="-801688" algn="just"/>
            <a:r>
              <a:rPr lang="en-US" sz="2400" dirty="0"/>
              <a:t>Connection of three-phase windings, three phase loads, power in three-phase circuits,  solving three-phase circuit problems</a:t>
            </a:r>
          </a:p>
          <a:p>
            <a:pPr marL="457200" indent="-457200" algn="just"/>
            <a:r>
              <a:rPr lang="en-US" sz="2800" dirty="0">
                <a:solidFill>
                  <a:srgbClr val="0000FF"/>
                </a:solidFill>
              </a:rPr>
              <a:t>Unit 4: Magnetic circuits </a:t>
            </a:r>
            <a:r>
              <a:rPr lang="en-US" dirty="0">
                <a:solidFill>
                  <a:srgbClr val="0000FF"/>
                </a:solidFill>
              </a:rPr>
              <a:t>– </a:t>
            </a:r>
            <a:r>
              <a:rPr lang="en-US" sz="2400" dirty="0"/>
              <a:t>Components and terminologies, solving  magnetic circuit problems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71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0500"/>
            <a:ext cx="7772400" cy="876300"/>
          </a:xfrm>
        </p:spPr>
        <p:txBody>
          <a:bodyPr/>
          <a:lstStyle/>
          <a:p>
            <a:pPr algn="l"/>
            <a:r>
              <a:rPr lang="en-GB" dirty="0">
                <a:solidFill>
                  <a:srgbClr val="0000FF"/>
                </a:solidFill>
              </a:rPr>
              <a:t>Course Calendar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218648"/>
              </p:ext>
            </p:extLst>
          </p:nvPr>
        </p:nvGraphicFramePr>
        <p:xfrm>
          <a:off x="876300" y="1127760"/>
          <a:ext cx="9982199" cy="51206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117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4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Week 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3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rd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Se</a:t>
                      </a:r>
                      <a:r>
                        <a:rPr lang="en-US" dirty="0">
                          <a:latin typeface="Garamond" pitchFamily="18" charset="0"/>
                        </a:rPr>
                        <a:t>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Network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Theorems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Garamond" pitchFamily="18" charset="0"/>
                        </a:rPr>
                        <a:t>10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th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</a:t>
                      </a:r>
                      <a:r>
                        <a:rPr lang="en-US" dirty="0">
                          <a:latin typeface="Garamond" pitchFamily="18" charset="0"/>
                        </a:rP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Network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Theorems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aramond" pitchFamily="18" charset="0"/>
                          <a:ea typeface="+mn-ea"/>
                          <a:cs typeface="+mn-cs"/>
                        </a:rPr>
                        <a:t>17</a:t>
                      </a:r>
                      <a:r>
                        <a:rPr kumimoji="0" lang="en-US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aramond" pitchFamily="18" charset="0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aramond" pitchFamily="18" charset="0"/>
                          <a:ea typeface="+mn-ea"/>
                          <a:cs typeface="+mn-cs"/>
                        </a:rPr>
                        <a:t> 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AC Circuits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Garamond" pitchFamily="18" charset="0"/>
                        </a:rPr>
                        <a:t>24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th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September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AC Circuits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Garamond" pitchFamily="18" charset="0"/>
                        </a:rPr>
                        <a:t>1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st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October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aramond" pitchFamily="18" charset="0"/>
                        </a:rPr>
                        <a:t>3-Phase Circuits</a:t>
                      </a:r>
                      <a:endParaRPr lang="en-US" dirty="0">
                        <a:solidFill>
                          <a:srgbClr val="FF0000"/>
                        </a:solidFill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Garamond" pitchFamily="18" charset="0"/>
                        </a:rPr>
                        <a:t>8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th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</a:t>
                      </a:r>
                      <a:r>
                        <a:rPr lang="en-US" dirty="0">
                          <a:latin typeface="Garamond" pitchFamily="18" charset="0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Garamond" pitchFamily="18" charset="0"/>
                        </a:rPr>
                        <a:t>3-Phase Circuits</a:t>
                      </a:r>
                      <a:endParaRPr lang="en-US" dirty="0">
                        <a:solidFill>
                          <a:srgbClr val="FF0000"/>
                        </a:solidFill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15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th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</a:t>
                      </a:r>
                      <a:r>
                        <a:rPr lang="en-US" dirty="0">
                          <a:latin typeface="Garamond" pitchFamily="18" charset="0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Magnetic Circuits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22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nd</a:t>
                      </a:r>
                      <a:r>
                        <a:rPr lang="en-US" dirty="0">
                          <a:latin typeface="Garamond" pitchFamily="18" charset="0"/>
                        </a:rPr>
                        <a:t> 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Revision/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Tutorial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29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th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October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aramond" pitchFamily="18" charset="0"/>
                        </a:rPr>
                        <a:t>Revision/Tutorial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Garamond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Garamond" pitchFamily="18" charset="0"/>
                        </a:rPr>
                        <a:t>5</a:t>
                      </a:r>
                      <a:r>
                        <a:rPr lang="en-US" b="1" baseline="30000" dirty="0">
                          <a:solidFill>
                            <a:schemeClr val="tx1"/>
                          </a:solidFill>
                          <a:latin typeface="Garamond" pitchFamily="18" charset="0"/>
                        </a:rPr>
                        <a:t>th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Garamond" pitchFamily="18" charset="0"/>
                        </a:rPr>
                        <a:t> November</a:t>
                      </a:r>
                      <a:endParaRPr lang="en-US" b="1" dirty="0">
                        <a:solidFill>
                          <a:schemeClr val="tx1"/>
                        </a:solidFill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Garamond" pitchFamily="18" charset="0"/>
                        </a:rPr>
                        <a:t>Mid-Semester Exams</a:t>
                      </a:r>
                      <a:endParaRPr lang="en-US" b="1" dirty="0">
                        <a:solidFill>
                          <a:schemeClr val="tx1"/>
                        </a:solidFill>
                        <a:latin typeface="Garamond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latin typeface="Garamond" pitchFamily="18" charset="0"/>
                        </a:rPr>
                        <a:t>19</a:t>
                      </a:r>
                      <a:r>
                        <a:rPr lang="en-US" baseline="30000" dirty="0">
                          <a:latin typeface="Garamond" pitchFamily="18" charset="0"/>
                        </a:rPr>
                        <a:t>th</a:t>
                      </a:r>
                      <a:r>
                        <a:rPr lang="en-US" baseline="0" dirty="0">
                          <a:latin typeface="Garamond" pitchFamily="18" charset="0"/>
                        </a:rPr>
                        <a:t> November</a:t>
                      </a:r>
                      <a:endParaRPr lang="en-US" dirty="0">
                        <a:latin typeface="Garamond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Magnetic Circuits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>
                          <a:latin typeface="Garamond" pitchFamily="18" charset="0"/>
                        </a:rPr>
                        <a:t>26</a:t>
                      </a:r>
                      <a:r>
                        <a:rPr lang="en-US" baseline="30000">
                          <a:latin typeface="Garamond" pitchFamily="18" charset="0"/>
                        </a:rPr>
                        <a:t>th</a:t>
                      </a:r>
                      <a:r>
                        <a:rPr lang="en-US" baseline="0">
                          <a:latin typeface="Garamond" pitchFamily="18" charset="0"/>
                        </a:rPr>
                        <a:t> </a:t>
                      </a:r>
                      <a:r>
                        <a:rPr lang="en-US" dirty="0">
                          <a:latin typeface="Garamond" pitchFamily="18" charset="0"/>
                        </a:rPr>
                        <a:t>November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itchFamily="18" charset="0"/>
                        </a:rPr>
                        <a:t>Revision/Tutorial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24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Garamond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Garamond" pitchFamily="18" charset="0"/>
                        </a:rPr>
                        <a:t>3</a:t>
                      </a:r>
                      <a:r>
                        <a:rPr lang="en-US" b="1" baseline="30000">
                          <a:latin typeface="Garamond" pitchFamily="18" charset="0"/>
                        </a:rPr>
                        <a:t>rd</a:t>
                      </a:r>
                      <a:r>
                        <a:rPr lang="en-US" b="1" baseline="0">
                          <a:latin typeface="Garamond" pitchFamily="18" charset="0"/>
                        </a:rPr>
                        <a:t>  </a:t>
                      </a:r>
                      <a:r>
                        <a:rPr lang="en-US" b="1" dirty="0">
                          <a:latin typeface="Garamond" pitchFamily="18" charset="0"/>
                        </a:rPr>
                        <a:t>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Garamond" pitchFamily="18" charset="0"/>
                        </a:rPr>
                        <a:t>End of Semester Exams (to be confirmed)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80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Recommended 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46969"/>
            <a:ext cx="2895600" cy="41181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71" y="1651451"/>
            <a:ext cx="3157163" cy="41397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539875"/>
            <a:ext cx="357777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Course Delivery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Lectures</a:t>
            </a:r>
          </a:p>
          <a:p>
            <a:r>
              <a:rPr lang="en-GB" dirty="0">
                <a:solidFill>
                  <a:schemeClr val="accent2"/>
                </a:solidFill>
              </a:rPr>
              <a:t>Tutorials</a:t>
            </a:r>
          </a:p>
          <a:p>
            <a:r>
              <a:rPr lang="en-GB" dirty="0">
                <a:solidFill>
                  <a:schemeClr val="accent2"/>
                </a:solidFill>
              </a:rPr>
              <a:t>Circuit Design</a:t>
            </a:r>
          </a:p>
          <a:p>
            <a:r>
              <a:rPr lang="en-GB" dirty="0">
                <a:solidFill>
                  <a:schemeClr val="accent2"/>
                </a:solidFill>
              </a:rPr>
              <a:t>Simulations</a:t>
            </a:r>
          </a:p>
          <a:p>
            <a:r>
              <a:rPr lang="en-GB" dirty="0">
                <a:solidFill>
                  <a:schemeClr val="accent2"/>
                </a:solidFill>
              </a:rPr>
              <a:t>Laboratory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42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Classroom Manners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No phone usage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eating</a:t>
            </a:r>
            <a:endParaRPr lang="en-US" sz="1400" baseline="30000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noise-making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lateness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gossiping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sleeping</a:t>
            </a:r>
          </a:p>
          <a:p>
            <a:pPr algn="just"/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…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91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ASSESSMENT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Quizzes                                                </a:t>
            </a:r>
            <a:endParaRPr lang="en-US" dirty="0">
              <a:solidFill>
                <a:srgbClr val="0000FF"/>
              </a:solidFill>
            </a:endParaRPr>
          </a:p>
          <a:p>
            <a:pPr algn="just"/>
            <a:r>
              <a:rPr lang="en-US" dirty="0"/>
              <a:t>Mid-semester examination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algn="just"/>
            <a:r>
              <a:rPr lang="en-US" dirty="0"/>
              <a:t>End of semester examination           </a:t>
            </a:r>
            <a:r>
              <a:rPr lang="en-US" dirty="0">
                <a:solidFill>
                  <a:srgbClr val="0000FF"/>
                </a:solidFill>
              </a:rPr>
              <a:t>70%</a:t>
            </a:r>
          </a:p>
          <a:p>
            <a:pPr algn="just"/>
            <a:r>
              <a:rPr lang="en-US" dirty="0">
                <a:solidFill>
                  <a:srgbClr val="0000FF"/>
                </a:solidFill>
              </a:rPr>
              <a:t>Total					     100%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6172200" y="1600200"/>
            <a:ext cx="533400" cy="762000"/>
          </a:xfrm>
          <a:prstGeom prst="rightBrac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010400" y="1447800"/>
            <a:ext cx="1066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sz="3200" dirty="0">
                <a:solidFill>
                  <a:srgbClr val="0000FF"/>
                </a:solidFill>
                <a:latin typeface="Garamond" panose="02020404030301010803" pitchFamily="18" charset="0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33228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UNIT 1: CIRCUIT AND NETWORK THEOREMS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03350"/>
            <a:ext cx="11430000" cy="469265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Definition of a circuit</a:t>
            </a:r>
          </a:p>
          <a:p>
            <a:pPr lvl="1"/>
            <a:r>
              <a:rPr lang="en-US" dirty="0"/>
              <a:t>An interconnection  of elements forming a closed path along which current can flow.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algn="just"/>
            <a:r>
              <a:rPr lang="en-US" dirty="0">
                <a:solidFill>
                  <a:srgbClr val="0000FF"/>
                </a:solidFill>
              </a:rPr>
              <a:t>Elements of an electric circuit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Active elements: </a:t>
            </a:r>
            <a:r>
              <a:rPr lang="en-US" dirty="0"/>
              <a:t>Energy producing elements </a:t>
            </a:r>
            <a:r>
              <a:rPr lang="en-US" dirty="0" err="1">
                <a:solidFill>
                  <a:srgbClr val="0000FF"/>
                </a:solidFill>
              </a:rPr>
              <a:t>eg</a:t>
            </a:r>
            <a:r>
              <a:rPr lang="en-US" dirty="0">
                <a:solidFill>
                  <a:srgbClr val="0000FF"/>
                </a:solidFill>
              </a:rPr>
              <a:t>.</a:t>
            </a:r>
            <a:r>
              <a:rPr lang="en-US" dirty="0"/>
              <a:t> Batteries, Generators, solar cells etc.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Passive elements: </a:t>
            </a:r>
            <a:r>
              <a:rPr lang="en-US" dirty="0"/>
              <a:t>Energy using elements </a:t>
            </a:r>
            <a:r>
              <a:rPr lang="en-US" dirty="0" err="1">
                <a:solidFill>
                  <a:srgbClr val="0000FF"/>
                </a:solidFill>
              </a:rPr>
              <a:t>eg</a:t>
            </a:r>
            <a:r>
              <a:rPr lang="en-US" dirty="0">
                <a:solidFill>
                  <a:srgbClr val="0000FF"/>
                </a:solidFill>
              </a:rPr>
              <a:t>. </a:t>
            </a:r>
            <a:r>
              <a:rPr lang="en-US" dirty="0"/>
              <a:t>Resistors, inductors, capacitors</a:t>
            </a:r>
            <a:endParaRPr lang="en-US" sz="3200" dirty="0"/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916477"/>
              </p:ext>
            </p:extLst>
          </p:nvPr>
        </p:nvGraphicFramePr>
        <p:xfrm>
          <a:off x="5097236" y="2590800"/>
          <a:ext cx="3741964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67878" imgH="1556167" progId="Visio.Drawing.11">
                  <p:embed/>
                </p:oleObj>
              </mc:Choice>
              <mc:Fallback>
                <p:oleObj name="Visio" r:id="rId2" imgW="3067878" imgH="155616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7236" y="2590800"/>
                        <a:ext cx="3741964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515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Circuit Terminologies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Node (Junction)</a:t>
            </a:r>
          </a:p>
          <a:p>
            <a:pPr lvl="1" algn="just"/>
            <a:r>
              <a:rPr lang="en-US" dirty="0"/>
              <a:t>A point where currents split or come together  [ points c, d, e and f]</a:t>
            </a:r>
          </a:p>
          <a:p>
            <a:pPr algn="just"/>
            <a:r>
              <a:rPr lang="en-US" dirty="0">
                <a:solidFill>
                  <a:srgbClr val="0000FF"/>
                </a:solidFill>
              </a:rPr>
              <a:t>Path </a:t>
            </a:r>
          </a:p>
          <a:p>
            <a:pPr lvl="1" algn="just"/>
            <a:r>
              <a:rPr lang="en-US" dirty="0"/>
              <a:t>Any connection where current flows [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bc</a:t>
            </a:r>
            <a:r>
              <a:rPr lang="en-US" dirty="0"/>
              <a:t>, be, </a:t>
            </a:r>
            <a:r>
              <a:rPr lang="en-US" dirty="0" err="1"/>
              <a:t>etc</a:t>
            </a:r>
            <a:r>
              <a:rPr lang="en-US" dirty="0"/>
              <a:t>]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632289"/>
              </p:ext>
            </p:extLst>
          </p:nvPr>
        </p:nvGraphicFramePr>
        <p:xfrm>
          <a:off x="2362200" y="3200400"/>
          <a:ext cx="77724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630007" imgH="1588484" progId="Visio.Drawing.11">
                  <p:embed/>
                </p:oleObj>
              </mc:Choice>
              <mc:Fallback>
                <p:oleObj name="Visio" r:id="rId2" imgW="4630007" imgH="15884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00400"/>
                        <a:ext cx="77724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437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Circuit Terminologies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</a:rPr>
              <a:t>Branch</a:t>
            </a:r>
          </a:p>
          <a:p>
            <a:pPr marL="512763" lvl="1" indent="-112713" algn="just"/>
            <a:r>
              <a:rPr lang="en-US" dirty="0"/>
              <a:t>A connection (path) between two nodes [</a:t>
            </a:r>
            <a:r>
              <a:rPr lang="en-US" dirty="0" err="1"/>
              <a:t>eg</a:t>
            </a:r>
            <a:r>
              <a:rPr lang="en-US" dirty="0"/>
              <a:t>. cd, </a:t>
            </a:r>
            <a:r>
              <a:rPr lang="en-US" dirty="0" err="1"/>
              <a:t>cb</a:t>
            </a:r>
            <a:r>
              <a:rPr lang="en-US" dirty="0"/>
              <a:t>, ad, </a:t>
            </a:r>
            <a:r>
              <a:rPr lang="en-US" dirty="0" err="1"/>
              <a:t>df</a:t>
            </a:r>
            <a:r>
              <a:rPr lang="en-US" dirty="0"/>
              <a:t>]</a:t>
            </a:r>
          </a:p>
          <a:p>
            <a:pPr marL="112713" indent="-112713" algn="just"/>
            <a:r>
              <a:rPr lang="en-US" dirty="0">
                <a:solidFill>
                  <a:srgbClr val="0000FF"/>
                </a:solidFill>
              </a:rPr>
              <a:t>Loop/Mesh </a:t>
            </a:r>
            <a:endParaRPr lang="en-US" dirty="0"/>
          </a:p>
          <a:p>
            <a:pPr marL="512763" lvl="1" indent="-112713" algn="just"/>
            <a:r>
              <a:rPr lang="en-US" dirty="0"/>
              <a:t>a closed path of a circuit [ </a:t>
            </a:r>
            <a:r>
              <a:rPr lang="en-US" dirty="0" err="1"/>
              <a:t>eg</a:t>
            </a:r>
            <a:r>
              <a:rPr lang="en-US" dirty="0"/>
              <a:t>. </a:t>
            </a:r>
            <a:r>
              <a:rPr lang="en-US" dirty="0" err="1"/>
              <a:t>cghdc</a:t>
            </a:r>
            <a:r>
              <a:rPr lang="en-US" dirty="0"/>
              <a:t>]</a:t>
            </a:r>
          </a:p>
          <a:p>
            <a:pPr marL="112713" indent="-112713" algn="just"/>
            <a:endParaRPr lang="en-US" dirty="0"/>
          </a:p>
          <a:p>
            <a:pPr lvl="1"/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646985"/>
              </p:ext>
            </p:extLst>
          </p:nvPr>
        </p:nvGraphicFramePr>
        <p:xfrm>
          <a:off x="2362200" y="3200400"/>
          <a:ext cx="77724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630007" imgH="1588484" progId="Visio.Drawing.11">
                  <p:embed/>
                </p:oleObj>
              </mc:Choice>
              <mc:Fallback>
                <p:oleObj name="Visio" r:id="rId2" imgW="4630007" imgH="15884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00400"/>
                        <a:ext cx="77724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567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Circuit Terminologies 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Short-circuit</a:t>
            </a:r>
          </a:p>
          <a:p>
            <a:pPr lvl="1"/>
            <a:r>
              <a:rPr lang="en-US" dirty="0"/>
              <a:t>A branch of theoretically zero resistance.</a:t>
            </a:r>
          </a:p>
          <a:p>
            <a:pPr lvl="1"/>
            <a:r>
              <a:rPr lang="en-US" dirty="0"/>
              <a:t> It diverts to itself all currents that would have flown in adjacent     branches (branches hooked to the same node); except branches with sources.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404672"/>
              </p:ext>
            </p:extLst>
          </p:nvPr>
        </p:nvGraphicFramePr>
        <p:xfrm>
          <a:off x="3733800" y="1524000"/>
          <a:ext cx="1841500" cy="381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87384" imgH="67294" progId="Visio.Drawing.11">
                  <p:embed/>
                </p:oleObj>
              </mc:Choice>
              <mc:Fallback>
                <p:oleObj name="Visio" r:id="rId2" imgW="787384" imgH="6729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524000"/>
                        <a:ext cx="1841500" cy="381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031221"/>
              </p:ext>
            </p:extLst>
          </p:nvPr>
        </p:nvGraphicFramePr>
        <p:xfrm>
          <a:off x="2819400" y="3505200"/>
          <a:ext cx="427101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378440" imgH="1006840" progId="Visio.Drawing.11">
                  <p:embed/>
                </p:oleObj>
              </mc:Choice>
              <mc:Fallback>
                <p:oleObj name="Visio" r:id="rId4" imgW="2378440" imgH="10068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05200"/>
                        <a:ext cx="427101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347421"/>
              </p:ext>
            </p:extLst>
          </p:nvPr>
        </p:nvGraphicFramePr>
        <p:xfrm>
          <a:off x="7198996" y="3541394"/>
          <a:ext cx="4053840" cy="2326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966920" imgH="842463" progId="Visio.Drawing.11">
                  <p:embed/>
                </p:oleObj>
              </mc:Choice>
              <mc:Fallback>
                <p:oleObj name="Visio" r:id="rId6" imgW="2966920" imgH="84246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8996" y="3541394"/>
                        <a:ext cx="4053840" cy="2326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958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Circuit Terminologies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439400" cy="469265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Short-circuit </a:t>
            </a:r>
            <a:r>
              <a:rPr lang="en-US" i="1" dirty="0">
                <a:solidFill>
                  <a:srgbClr val="0000FF"/>
                </a:solidFill>
              </a:rPr>
              <a:t>cont</a:t>
            </a:r>
            <a:r>
              <a:rPr lang="en-US" dirty="0">
                <a:solidFill>
                  <a:srgbClr val="0000FF"/>
                </a:solidFill>
              </a:rPr>
              <a:t>.</a:t>
            </a:r>
          </a:p>
          <a:p>
            <a:pPr algn="just"/>
            <a:r>
              <a:rPr lang="en-US" i="1" dirty="0">
                <a:solidFill>
                  <a:srgbClr val="0000FF"/>
                </a:solidFill>
              </a:rPr>
              <a:t>Self assessment</a:t>
            </a:r>
          </a:p>
          <a:p>
            <a:pPr lvl="1" algn="just"/>
            <a:r>
              <a:rPr lang="en-US" dirty="0"/>
              <a:t>Which of the resistors in the circuit below have been short-circuited?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117532"/>
              </p:ext>
            </p:extLst>
          </p:nvPr>
        </p:nvGraphicFramePr>
        <p:xfrm>
          <a:off x="2241551" y="2971800"/>
          <a:ext cx="6248400" cy="2936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66920" imgH="842463" progId="Visio.Drawing.11">
                  <p:embed/>
                </p:oleObj>
              </mc:Choice>
              <mc:Fallback>
                <p:oleObj name="Visio" r:id="rId2" imgW="2966920" imgH="84246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1" y="2971800"/>
                        <a:ext cx="6248400" cy="2936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39200" y="37338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rgbClr val="0000FF"/>
                </a:solidFill>
                <a:latin typeface="Garamond" panose="02020404030301010803" pitchFamily="18" charset="0"/>
              </a:rPr>
              <a:t>Ans</a:t>
            </a:r>
            <a:r>
              <a:rPr lang="en-GB" sz="2400" b="1" dirty="0">
                <a:solidFill>
                  <a:srgbClr val="0000FF"/>
                </a:solidFill>
                <a:latin typeface="Garamond" panose="02020404030301010803" pitchFamily="18" charset="0"/>
              </a:rPr>
              <a:t>: </a:t>
            </a:r>
            <a:r>
              <a:rPr lang="en-GB" sz="2400" b="1" i="1" dirty="0">
                <a:solidFill>
                  <a:srgbClr val="0000FF"/>
                </a:solidFill>
                <a:latin typeface="Garamond" panose="02020404030301010803" pitchFamily="18" charset="0"/>
              </a:rPr>
              <a:t>R</a:t>
            </a:r>
            <a:r>
              <a:rPr lang="en-GB" sz="2400" b="1" baseline="-25000" dirty="0">
                <a:solidFill>
                  <a:srgbClr val="0000FF"/>
                </a:solidFill>
                <a:latin typeface="Garamond" panose="02020404030301010803" pitchFamily="18" charset="0"/>
              </a:rPr>
              <a:t>2</a:t>
            </a:r>
            <a:r>
              <a:rPr lang="en-GB" sz="2400" b="1" dirty="0">
                <a:solidFill>
                  <a:srgbClr val="0000FF"/>
                </a:solidFill>
                <a:latin typeface="Garamond" panose="02020404030301010803" pitchFamily="18" charset="0"/>
              </a:rPr>
              <a:t> and </a:t>
            </a:r>
            <a:r>
              <a:rPr lang="en-GB" sz="2400" b="1" i="1" dirty="0">
                <a:solidFill>
                  <a:srgbClr val="0000FF"/>
                </a:solidFill>
                <a:latin typeface="Garamond" panose="02020404030301010803" pitchFamily="18" charset="0"/>
              </a:rPr>
              <a:t>R</a:t>
            </a:r>
            <a:r>
              <a:rPr lang="en-GB" sz="2400" b="1" baseline="-25000" dirty="0">
                <a:solidFill>
                  <a:srgbClr val="0000FF"/>
                </a:solidFill>
                <a:latin typeface="Garamond" panose="02020404030301010803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0124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Circuit Terminologies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Open circuit </a:t>
            </a:r>
            <a:r>
              <a:rPr lang="en-US" dirty="0"/>
              <a:t>– A branch of theoretically infinite resistance. It prevents current from flowing in its branch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463010"/>
              </p:ext>
            </p:extLst>
          </p:nvPr>
        </p:nvGraphicFramePr>
        <p:xfrm>
          <a:off x="8458200" y="2009274"/>
          <a:ext cx="2514600" cy="352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82881" imgH="102845" progId="Visio.Drawing.11">
                  <p:embed/>
                </p:oleObj>
              </mc:Choice>
              <mc:Fallback>
                <p:oleObj name="Visio" r:id="rId2" imgW="1182881" imgH="1028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009274"/>
                        <a:ext cx="2514600" cy="352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143421"/>
              </p:ext>
            </p:extLst>
          </p:nvPr>
        </p:nvGraphicFramePr>
        <p:xfrm>
          <a:off x="1752600" y="2641120"/>
          <a:ext cx="7772400" cy="3226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340579" imgH="837874" progId="Visio.Drawing.11">
                  <p:embed/>
                </p:oleObj>
              </mc:Choice>
              <mc:Fallback>
                <p:oleObj name="Visio" r:id="rId4" imgW="3340579" imgH="8378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641120"/>
                        <a:ext cx="7772400" cy="3226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393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Resistors in Series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03350"/>
            <a:ext cx="10515600" cy="4692650"/>
          </a:xfrm>
        </p:spPr>
        <p:txBody>
          <a:bodyPr/>
          <a:lstStyle/>
          <a:p>
            <a:pPr algn="just"/>
            <a:r>
              <a:rPr lang="en-US" dirty="0"/>
              <a:t>Resistors are in series </a:t>
            </a:r>
          </a:p>
          <a:p>
            <a:pPr lvl="1" algn="just"/>
            <a:r>
              <a:rPr lang="en-US" dirty="0"/>
              <a:t>when the same current flows through them. </a:t>
            </a:r>
          </a:p>
          <a:p>
            <a:pPr lvl="1" algn="just"/>
            <a:r>
              <a:rPr lang="en-US" dirty="0"/>
              <a:t>There is </a:t>
            </a:r>
            <a:r>
              <a:rPr lang="en-US" dirty="0">
                <a:solidFill>
                  <a:srgbClr val="0000FF"/>
                </a:solidFill>
              </a:rPr>
              <a:t>NO JUNCTION </a:t>
            </a:r>
            <a:r>
              <a:rPr lang="en-US" dirty="0"/>
              <a:t>between them.</a:t>
            </a:r>
            <a:r>
              <a:rPr lang="en-US" dirty="0">
                <a:solidFill>
                  <a:srgbClr val="0000FF"/>
                </a:solidFill>
              </a:rPr>
              <a:t>                                                                       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0000FF"/>
              </a:solidFill>
            </a:endParaRPr>
          </a:p>
          <a:p>
            <a:pPr lvl="1" algn="just"/>
            <a:r>
              <a:rPr lang="en-US" dirty="0">
                <a:solidFill>
                  <a:srgbClr val="0000FF"/>
                </a:solidFill>
              </a:rPr>
              <a:t>In Fig. 1 : </a:t>
            </a: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 are in series</a:t>
            </a:r>
          </a:p>
          <a:p>
            <a:pPr lvl="1" algn="just"/>
            <a:r>
              <a:rPr lang="en-US" dirty="0">
                <a:solidFill>
                  <a:srgbClr val="0000FF"/>
                </a:solidFill>
              </a:rPr>
              <a:t>In Fig. 2: </a:t>
            </a:r>
            <a:r>
              <a:rPr lang="en-US" dirty="0"/>
              <a:t>None of the resistors are in series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966915"/>
              </p:ext>
            </p:extLst>
          </p:nvPr>
        </p:nvGraphicFramePr>
        <p:xfrm>
          <a:off x="3886200" y="2895600"/>
          <a:ext cx="5969001" cy="2058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62309" imgH="1275886" progId="Visio.Drawing.11">
                  <p:embed/>
                </p:oleObj>
              </mc:Choice>
              <mc:Fallback>
                <p:oleObj name="Visio" r:id="rId2" imgW="4762309" imgH="127588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895600"/>
                        <a:ext cx="5969001" cy="2058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08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Resistors In Series 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5425" indent="-225425" algn="just">
              <a:buFont typeface="Wingdings" pitchFamily="2" charset="2"/>
              <a:buChar char="v"/>
            </a:pPr>
            <a:r>
              <a:rPr lang="en-US" dirty="0">
                <a:solidFill>
                  <a:srgbClr val="0000FF"/>
                </a:solidFill>
              </a:rPr>
              <a:t>Self assessment 1</a:t>
            </a:r>
          </a:p>
          <a:p>
            <a:pPr marL="625475" lvl="1" indent="-225425" algn="just"/>
            <a:r>
              <a:rPr lang="en-US" dirty="0"/>
              <a:t>Which of the following resistors are in series?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694562"/>
              </p:ext>
            </p:extLst>
          </p:nvPr>
        </p:nvGraphicFramePr>
        <p:xfrm>
          <a:off x="2362200" y="2500053"/>
          <a:ext cx="6019800" cy="2681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4419" imgH="1543750" progId="Visio.Drawing.11">
                  <p:embed/>
                </p:oleObj>
              </mc:Choice>
              <mc:Fallback>
                <p:oleObj name="Visio" r:id="rId2" imgW="3244419" imgH="154375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00053"/>
                        <a:ext cx="6019800" cy="2681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364423" y="5454134"/>
            <a:ext cx="4368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5425" indent="-225425" algn="just"/>
            <a:r>
              <a:rPr lang="en-US" sz="2400" dirty="0">
                <a:solidFill>
                  <a:srgbClr val="0000FF"/>
                </a:solidFill>
              </a:rPr>
              <a:t>ANS: </a:t>
            </a:r>
            <a:r>
              <a:rPr lang="en-US" sz="2400" dirty="0"/>
              <a:t>R</a:t>
            </a:r>
            <a:r>
              <a:rPr lang="en-US" sz="2400" baseline="-25000" dirty="0"/>
              <a:t>1</a:t>
            </a:r>
            <a:r>
              <a:rPr lang="en-US" sz="2400" dirty="0"/>
              <a:t>&amp;R</a:t>
            </a:r>
            <a:r>
              <a:rPr lang="en-US" sz="2400" baseline="-25000" dirty="0"/>
              <a:t>2</a:t>
            </a:r>
            <a:r>
              <a:rPr lang="en-US" sz="2400" dirty="0"/>
              <a:t>, R</a:t>
            </a:r>
            <a:r>
              <a:rPr lang="en-US" sz="2400" baseline="-25000" dirty="0"/>
              <a:t>3</a:t>
            </a:r>
            <a:r>
              <a:rPr lang="en-US" sz="2400" dirty="0"/>
              <a:t> &amp; R</a:t>
            </a:r>
            <a:r>
              <a:rPr lang="en-US" sz="2400" baseline="-25000" dirty="0"/>
              <a:t>4</a:t>
            </a:r>
            <a:r>
              <a:rPr lang="en-US" sz="2400" dirty="0"/>
              <a:t> and R</a:t>
            </a:r>
            <a:r>
              <a:rPr lang="en-US" sz="2400" baseline="-25000" dirty="0"/>
              <a:t>5</a:t>
            </a:r>
            <a:r>
              <a:rPr lang="en-US" sz="2400" dirty="0"/>
              <a:t> &amp; R</a:t>
            </a:r>
            <a:r>
              <a:rPr lang="en-US" sz="2400" baseline="-250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401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Resistors in Series 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439400" cy="469265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Total (effective) resistance of series resistors</a:t>
            </a:r>
          </a:p>
          <a:p>
            <a:pPr lvl="1" algn="just"/>
            <a:r>
              <a:rPr lang="en-US" dirty="0"/>
              <a:t>total resistance R</a:t>
            </a:r>
            <a:r>
              <a:rPr lang="en-US" baseline="-25000" dirty="0"/>
              <a:t>T </a:t>
            </a:r>
            <a:r>
              <a:rPr lang="en-US" dirty="0"/>
              <a:t>for resistors R</a:t>
            </a:r>
            <a:r>
              <a:rPr lang="en-US" baseline="-25000" dirty="0"/>
              <a:t>1</a:t>
            </a:r>
            <a:r>
              <a:rPr lang="en-US" dirty="0"/>
              <a:t>, R</a:t>
            </a:r>
            <a:r>
              <a:rPr lang="en-US" baseline="-25000" dirty="0"/>
              <a:t>2</a:t>
            </a:r>
            <a:r>
              <a:rPr lang="en-US" dirty="0"/>
              <a:t>, R</a:t>
            </a:r>
            <a:r>
              <a:rPr lang="en-US" baseline="-25000" dirty="0"/>
              <a:t>3</a:t>
            </a:r>
            <a:r>
              <a:rPr lang="en-US" dirty="0"/>
              <a:t>, ….., R</a:t>
            </a:r>
            <a:r>
              <a:rPr lang="en-US" baseline="-25000" dirty="0"/>
              <a:t>N</a:t>
            </a:r>
            <a:r>
              <a:rPr lang="en-US" dirty="0"/>
              <a:t> which are in series if given by: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695587"/>
              </p:ext>
            </p:extLst>
          </p:nvPr>
        </p:nvGraphicFramePr>
        <p:xfrm>
          <a:off x="1962150" y="3105150"/>
          <a:ext cx="762000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431640" progId="Equation.DSMT4">
                  <p:embed/>
                </p:oleObj>
              </mc:Choice>
              <mc:Fallback>
                <p:oleObj name="Equation" r:id="rId2" imgW="2031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2150" y="3105150"/>
                        <a:ext cx="7620000" cy="16192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013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Resistors in Parallel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91800" cy="4692650"/>
          </a:xfrm>
        </p:spPr>
        <p:txBody>
          <a:bodyPr/>
          <a:lstStyle/>
          <a:p>
            <a:r>
              <a:rPr lang="en-US" dirty="0"/>
              <a:t>Resistors are said to be in parallel when the voltage across them is the same.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2100264"/>
            <a:ext cx="3352800" cy="1736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9702" y="2113237"/>
            <a:ext cx="3592286" cy="1736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7639" y="4142869"/>
            <a:ext cx="4490357" cy="1856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77811"/>
              </p:ext>
            </p:extLst>
          </p:nvPr>
        </p:nvGraphicFramePr>
        <p:xfrm>
          <a:off x="3962400" y="3363574"/>
          <a:ext cx="893082" cy="376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1147142" imgH="500031" progId="Word.Document.12">
                  <p:embed/>
                </p:oleObj>
              </mc:Choice>
              <mc:Fallback>
                <p:oleObj name="Document" r:id="rId5" imgW="1147142" imgH="50003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363574"/>
                        <a:ext cx="893082" cy="376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607685"/>
              </p:ext>
            </p:extLst>
          </p:nvPr>
        </p:nvGraphicFramePr>
        <p:xfrm>
          <a:off x="7714922" y="3347578"/>
          <a:ext cx="893082" cy="376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1147142" imgH="500031" progId="Word.Document.12">
                  <p:embed/>
                </p:oleObj>
              </mc:Choice>
              <mc:Fallback>
                <p:oleObj name="Document" r:id="rId7" imgW="1147142" imgH="50003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4922" y="3347578"/>
                        <a:ext cx="893082" cy="376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324784"/>
              </p:ext>
            </p:extLst>
          </p:nvPr>
        </p:nvGraphicFramePr>
        <p:xfrm>
          <a:off x="7977296" y="4182705"/>
          <a:ext cx="893082" cy="376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147142" imgH="500031" progId="Word.Document.12">
                  <p:embed/>
                </p:oleObj>
              </mc:Choice>
              <mc:Fallback>
                <p:oleObj name="Document" r:id="rId8" imgW="1147142" imgH="50003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296" y="4182705"/>
                        <a:ext cx="893082" cy="376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489639"/>
              </p:ext>
            </p:extLst>
          </p:nvPr>
        </p:nvGraphicFramePr>
        <p:xfrm>
          <a:off x="7987653" y="4892592"/>
          <a:ext cx="893082" cy="385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1147142" imgH="500752" progId="Word.Document.12">
                  <p:embed/>
                </p:oleObj>
              </mc:Choice>
              <mc:Fallback>
                <p:oleObj name="Document" r:id="rId9" imgW="1147142" imgH="500752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7653" y="4892592"/>
                        <a:ext cx="893082" cy="385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359362"/>
              </p:ext>
            </p:extLst>
          </p:nvPr>
        </p:nvGraphicFramePr>
        <p:xfrm>
          <a:off x="7983954" y="5461394"/>
          <a:ext cx="894329" cy="385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1" imgW="1147142" imgH="500752" progId="Word.Document.12">
                  <p:embed/>
                </p:oleObj>
              </mc:Choice>
              <mc:Fallback>
                <p:oleObj name="Document" r:id="rId11" imgW="1147142" imgH="500752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954" y="5461394"/>
                        <a:ext cx="894329" cy="385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330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469" y="2286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Resistors in Parallel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4495800"/>
            <a:ext cx="549463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ubtitle 2"/>
          <p:cNvSpPr txBox="1">
            <a:spLocks/>
          </p:cNvSpPr>
          <p:nvPr/>
        </p:nvSpPr>
        <p:spPr bwMode="auto">
          <a:xfrm>
            <a:off x="381000" y="1295400"/>
            <a:ext cx="10896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sz="3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Garamond" panose="02020404030301010803" pitchFamily="18" charset="0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Garamond" panose="02020404030301010803" pitchFamily="18" charset="0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kumimoji="1" sz="2000">
                <a:solidFill>
                  <a:schemeClr val="tx1"/>
                </a:solidFill>
                <a:latin typeface="Garamond" panose="02020404030301010803" pitchFamily="18" charset="0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Garamond" panose="02020404030301010803" pitchFamily="18" charset="0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/>
            <a:r>
              <a:rPr lang="en-US" sz="2800" kern="0" dirty="0"/>
              <a:t>  Colloquially, </a:t>
            </a:r>
            <a:r>
              <a:rPr lang="en-US" sz="2800" kern="0" dirty="0">
                <a:solidFill>
                  <a:srgbClr val="0000FF"/>
                </a:solidFill>
              </a:rPr>
              <a:t>TWO</a:t>
            </a:r>
            <a:r>
              <a:rPr lang="en-US" sz="2800" kern="0" dirty="0"/>
              <a:t> resistors are in parallel if it is possible to move from   one to the other without passing through another element. i.e., the </a:t>
            </a:r>
            <a:r>
              <a:rPr lang="en-US" sz="2800" kern="0" dirty="0">
                <a:solidFill>
                  <a:srgbClr val="0000FF"/>
                </a:solidFill>
              </a:rPr>
              <a:t>two</a:t>
            </a:r>
            <a:r>
              <a:rPr lang="en-US" sz="2800" kern="0" dirty="0"/>
              <a:t> can be circled without passing through another circuit element.</a:t>
            </a:r>
          </a:p>
          <a:p>
            <a:pPr algn="just"/>
            <a:endParaRPr lang="en-US" sz="2800" kern="0" dirty="0"/>
          </a:p>
          <a:p>
            <a:pPr algn="just"/>
            <a:endParaRPr lang="en-US" sz="1800" kern="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endParaRPr lang="en-US" sz="1800" kern="0" dirty="0">
              <a:solidFill>
                <a:srgbClr val="0000FF"/>
              </a:solidFill>
            </a:endParaRPr>
          </a:p>
          <a:p>
            <a:pPr algn="just"/>
            <a:endParaRPr lang="en-US" sz="1800" kern="0" dirty="0">
              <a:solidFill>
                <a:srgbClr val="0000FF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sz="1800" kern="0" dirty="0">
              <a:solidFill>
                <a:srgbClr val="0000FF"/>
              </a:solidFill>
            </a:endParaRPr>
          </a:p>
          <a:p>
            <a:pPr algn="just"/>
            <a:endParaRPr lang="en-US" sz="1800" kern="0" dirty="0">
              <a:solidFill>
                <a:srgbClr val="0000FF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sz="1800" kern="0" dirty="0">
              <a:solidFill>
                <a:srgbClr val="0000FF"/>
              </a:solidFill>
            </a:endParaRPr>
          </a:p>
          <a:p>
            <a:pPr algn="just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  <a:p>
            <a:pPr algn="r"/>
            <a:endParaRPr lang="en-US" sz="1800" kern="0" dirty="0">
              <a:solidFill>
                <a:srgbClr val="0000FF"/>
              </a:solidFill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667000"/>
            <a:ext cx="4736757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2895600" y="2600325"/>
            <a:ext cx="284206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807087"/>
              </p:ext>
            </p:extLst>
          </p:nvPr>
        </p:nvGraphicFramePr>
        <p:xfrm>
          <a:off x="5488458" y="2743200"/>
          <a:ext cx="4073611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321862" imgH="1161145" progId="Visio.Drawing.11">
                  <p:embed/>
                </p:oleObj>
              </mc:Choice>
              <mc:Fallback>
                <p:oleObj name="Visio" r:id="rId4" imgW="2321862" imgH="11611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8458" y="2743200"/>
                        <a:ext cx="4073611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/>
          <p:cNvSpPr/>
          <p:nvPr/>
        </p:nvSpPr>
        <p:spPr>
          <a:xfrm>
            <a:off x="7364497" y="2714625"/>
            <a:ext cx="284206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276600" y="4419600"/>
            <a:ext cx="284206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19351" y="6096000"/>
            <a:ext cx="284206" cy="2286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1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409 -0.01135 L 0.09258 -0.01135 L 0.09258 0.2162 L -0.07409 0.2162 L -0.07409 -0.01135 Z " pathEditMode="relative" rAng="0" ptsTypes="AAAAA">
                                      <p:cBhvr>
                                        <p:cTn id="11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82 0.00254 L 0.25235 0.00254 L 0.25235 0.23009 L -0.02682 0.23009 L -0.02682 0.00254 Z " pathEditMode="relative" rAng="0" ptsTypes="AAAAA">
                                      <p:cBhvr>
                                        <p:cTn id="25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58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1.11111E-6 L 0.38333 -1.11111E-6 L 0.38333 0.24977 L 0.00417 0.24977 L 0.00417 -1.11111E-6 Z " pathEditMode="relative" rAng="0" ptsTypes="AAAAA">
                                      <p:cBhvr>
                                        <p:cTn id="39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58" y="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75 0.00555 L -0.1875 -0.24977 L 0.00417 0.00555 L -0.1875 0.00555 Z " pathEditMode="relative" rAng="0" ptsTypes="AAAA">
                                      <p:cBhvr>
                                        <p:cTn id="48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-1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Resistors in Parallel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3048000" y="5029200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186" imgH="155212" progId="Equation.3">
                  <p:embed/>
                </p:oleObj>
              </mc:Choice>
              <mc:Fallback>
                <p:oleObj name="Equation" r:id="rId2" imgW="290186" imgH="1552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29200"/>
                        <a:ext cx="762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981200" y="1563469"/>
            <a:ext cx="9525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solidFill>
                  <a:srgbClr val="0000FF"/>
                </a:solidFill>
              </a:rPr>
              <a:t>Self assessment </a:t>
            </a:r>
          </a:p>
          <a:p>
            <a:pPr algn="just"/>
            <a:r>
              <a:rPr lang="en-US" sz="3200" dirty="0"/>
              <a:t>Which of the resistors in the circuit below are in parallel?</a:t>
            </a: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914327"/>
              </p:ext>
            </p:extLst>
          </p:nvPr>
        </p:nvGraphicFramePr>
        <p:xfrm>
          <a:off x="3048000" y="2667000"/>
          <a:ext cx="37338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567035" imgH="1702927" progId="Visio.Drawing.11">
                  <p:embed/>
                </p:oleObj>
              </mc:Choice>
              <mc:Fallback>
                <p:oleObj name="Visio" r:id="rId4" imgW="2567035" imgH="170292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667000"/>
                        <a:ext cx="373380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10"/>
          <p:cNvSpPr/>
          <p:nvPr/>
        </p:nvSpPr>
        <p:spPr>
          <a:xfrm>
            <a:off x="4267200" y="4648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343400" y="2743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5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7.40741E-7 L 0.17839 -0.26667 L 0.17839 -0.00324 L 0.00352 -0.00787 " pathEditMode="relative" rAng="0" ptsTypes="AAAA">
                                      <p:cBhvr>
                                        <p:cTn id="18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19" y="-1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1.11111E-6 C 0.01016 -1.11111E-6 0.0207 -1.11111E-6 0.03112 -1.11111E-6 L 0.16875 -1.11111E-6 L 0.16875 0.26829 L -0.00117 0.26667 L -0.00039 -1.11111E-6 Z " pathEditMode="relative" rAng="0" ptsTypes="AAAAAA">
                                      <p:cBhvr>
                                        <p:cTn id="3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11" y="1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Resistors in Parallel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15600" cy="469265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Total resistance </a:t>
            </a:r>
          </a:p>
          <a:p>
            <a:pPr algn="just"/>
            <a:r>
              <a:rPr lang="en-US" dirty="0"/>
              <a:t>When resistors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are in parallel, the total resistance </a:t>
            </a:r>
            <a:r>
              <a:rPr lang="en-US" i="1" dirty="0"/>
              <a:t>R</a:t>
            </a:r>
            <a:r>
              <a:rPr lang="en-US" i="1" baseline="-25000" dirty="0"/>
              <a:t>T</a:t>
            </a:r>
            <a:r>
              <a:rPr lang="en-US" baseline="-25000" dirty="0"/>
              <a:t> </a:t>
            </a:r>
            <a:r>
              <a:rPr lang="en-US" dirty="0"/>
              <a:t>is given by: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598006"/>
              </p:ext>
            </p:extLst>
          </p:nvPr>
        </p:nvGraphicFramePr>
        <p:xfrm>
          <a:off x="3048000" y="3200401"/>
          <a:ext cx="6096000" cy="1550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65965" imgH="447010" progId="Equation.3">
                  <p:embed/>
                </p:oleObj>
              </mc:Choice>
              <mc:Fallback>
                <p:oleObj name="Equation" r:id="rId2" imgW="2165965" imgH="4470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00401"/>
                        <a:ext cx="6096000" cy="155073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781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Effective Resistance of a Circuit 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 circuit resistance is found by </a:t>
            </a:r>
          </a:p>
          <a:p>
            <a:pPr lvl="1"/>
            <a:r>
              <a:rPr lang="en-US" dirty="0"/>
              <a:t>identifying and putting together series and or parallel resistors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Eg</a:t>
            </a:r>
            <a:r>
              <a:rPr lang="en-US" dirty="0">
                <a:solidFill>
                  <a:srgbClr val="0000FF"/>
                </a:solidFill>
              </a:rPr>
              <a:t> 1. Find the total resistance of the circuit below.</a:t>
            </a:r>
          </a:p>
          <a:p>
            <a:pPr marL="457200" lvl="1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056731"/>
            <a:ext cx="3809999" cy="13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5867400" y="3657600"/>
            <a:ext cx="1219200" cy="304800"/>
          </a:xfrm>
          <a:prstGeom prst="rightArrow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1" y="2971800"/>
            <a:ext cx="2743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urved Left Arrow 7"/>
          <p:cNvSpPr/>
          <p:nvPr/>
        </p:nvSpPr>
        <p:spPr>
          <a:xfrm>
            <a:off x="10210800" y="3962400"/>
            <a:ext cx="762000" cy="1447800"/>
          </a:xfrm>
          <a:prstGeom prst="curvedLeftArrow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0230" y="4607714"/>
            <a:ext cx="268877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305236"/>
              </p:ext>
            </p:extLst>
          </p:nvPr>
        </p:nvGraphicFramePr>
        <p:xfrm>
          <a:off x="7821385" y="5495365"/>
          <a:ext cx="3352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61707" imgH="391224" progId="Equation.3">
                  <p:embed/>
                </p:oleObj>
              </mc:Choice>
              <mc:Fallback>
                <p:oleObj name="Equation" r:id="rId5" imgW="2061707" imgH="391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385" y="5495365"/>
                        <a:ext cx="3352800" cy="6096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063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Effective Resistance of a Circuit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the effective resistance of the circuit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5334000" y="4572000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169821"/>
              </p:ext>
            </p:extLst>
          </p:nvPr>
        </p:nvGraphicFramePr>
        <p:xfrm>
          <a:off x="7949874" y="5286375"/>
          <a:ext cx="311943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393480" progId="Equation.3">
                  <p:embed/>
                </p:oleObj>
              </mc:Choice>
              <mc:Fallback>
                <p:oleObj name="Equation" r:id="rId2" imgW="1917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9874" y="5286375"/>
                        <a:ext cx="3119437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49689" y="2025650"/>
            <a:ext cx="3428999" cy="148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57400" y="3733800"/>
            <a:ext cx="3200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43600" y="3733800"/>
            <a:ext cx="2667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9027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Effective Resistance of a Circuit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Self Assessment 1</a:t>
            </a:r>
          </a:p>
          <a:p>
            <a:pPr lvl="1" algn="just"/>
            <a:r>
              <a:rPr lang="en-US" dirty="0"/>
              <a:t>Find the total resistance of the circuit below.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344005"/>
              </p:ext>
            </p:extLst>
          </p:nvPr>
        </p:nvGraphicFramePr>
        <p:xfrm>
          <a:off x="2971800" y="2742570"/>
          <a:ext cx="6019800" cy="2386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17445" imgH="1576054" progId="Visio.Drawing.11">
                  <p:embed/>
                </p:oleObj>
              </mc:Choice>
              <mc:Fallback>
                <p:oleObj name="Visio" r:id="rId2" imgW="2417445" imgH="157605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742570"/>
                        <a:ext cx="6019800" cy="2386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324663"/>
              </p:ext>
            </p:extLst>
          </p:nvPr>
        </p:nvGraphicFramePr>
        <p:xfrm>
          <a:off x="1670551" y="5298230"/>
          <a:ext cx="6178050" cy="81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77040" imgH="888840" progId="Equation.3">
                  <p:embed/>
                </p:oleObj>
              </mc:Choice>
              <mc:Fallback>
                <p:oleObj name="Equation" r:id="rId4" imgW="72770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551" y="5298230"/>
                        <a:ext cx="6178050" cy="81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48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Effective Resistance of a Circuit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Self Assessment 2</a:t>
            </a:r>
          </a:p>
          <a:p>
            <a:pPr lvl="1" algn="just"/>
            <a:r>
              <a:rPr lang="en-US" dirty="0"/>
              <a:t>Find the total resistance of the circuit below.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2409663"/>
            <a:ext cx="6477000" cy="232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573345"/>
              </p:ext>
            </p:extLst>
          </p:nvPr>
        </p:nvGraphicFramePr>
        <p:xfrm>
          <a:off x="3505199" y="4946140"/>
          <a:ext cx="6142249" cy="997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4840" imgH="431640" progId="Equation.3">
                  <p:embed/>
                </p:oleObj>
              </mc:Choice>
              <mc:Fallback>
                <p:oleObj name="Equation" r:id="rId4" imgW="3174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199" y="4946140"/>
                        <a:ext cx="6142249" cy="997459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15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Current Division Rule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current division rule is applied to share current between parallel branches. Consider the circuits below</a:t>
            </a:r>
            <a:endParaRPr lang="en-US" sz="2000" dirty="0">
              <a:solidFill>
                <a:srgbClr val="0000FF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471889"/>
              </p:ext>
            </p:extLst>
          </p:nvPr>
        </p:nvGraphicFramePr>
        <p:xfrm>
          <a:off x="4572000" y="2302319"/>
          <a:ext cx="3648269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77024" imgH="1352740" progId="Visio.Drawing.11">
                  <p:embed/>
                </p:oleObj>
              </mc:Choice>
              <mc:Fallback>
                <p:oleObj name="Visio" r:id="rId2" imgW="2477024" imgH="13527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02319"/>
                        <a:ext cx="3648269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852279"/>
              </p:ext>
            </p:extLst>
          </p:nvPr>
        </p:nvGraphicFramePr>
        <p:xfrm>
          <a:off x="1447800" y="3046444"/>
          <a:ext cx="2326432" cy="68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7973" imgH="429014" progId="Equation.3">
                  <p:embed/>
                </p:oleObj>
              </mc:Choice>
              <mc:Fallback>
                <p:oleObj name="Equation" r:id="rId4" imgW="867973" imgH="4290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46444"/>
                        <a:ext cx="2326432" cy="687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134380"/>
              </p:ext>
            </p:extLst>
          </p:nvPr>
        </p:nvGraphicFramePr>
        <p:xfrm>
          <a:off x="1524000" y="3865984"/>
          <a:ext cx="2749420" cy="116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7890" imgH="657558" progId="Equation.3">
                  <p:embed/>
                </p:oleObj>
              </mc:Choice>
              <mc:Fallback>
                <p:oleObj name="Equation" r:id="rId6" imgW="1287890" imgH="657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65984"/>
                        <a:ext cx="2749420" cy="1163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411713"/>
              </p:ext>
            </p:extLst>
          </p:nvPr>
        </p:nvGraphicFramePr>
        <p:xfrm>
          <a:off x="6704045" y="4424284"/>
          <a:ext cx="4917234" cy="1639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95480" imgH="863280" progId="Equation.3">
                  <p:embed/>
                </p:oleObj>
              </mc:Choice>
              <mc:Fallback>
                <p:oleObj name="Equation" r:id="rId8" imgW="28954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45" y="4424284"/>
                        <a:ext cx="4917234" cy="1639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69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Current Division Rule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Similarly,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656936"/>
              </p:ext>
            </p:extLst>
          </p:nvPr>
        </p:nvGraphicFramePr>
        <p:xfrm>
          <a:off x="3048000" y="1268655"/>
          <a:ext cx="7315200" cy="306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77024" imgH="1352740" progId="Visio.Drawing.11">
                  <p:embed/>
                </p:oleObj>
              </mc:Choice>
              <mc:Fallback>
                <p:oleObj name="Visio" r:id="rId2" imgW="2477024" imgH="13527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268655"/>
                        <a:ext cx="7315200" cy="3069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687278"/>
              </p:ext>
            </p:extLst>
          </p:nvPr>
        </p:nvGraphicFramePr>
        <p:xfrm>
          <a:off x="5181600" y="4410517"/>
          <a:ext cx="3352800" cy="1420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6314" imgH="657558" progId="Equation.3">
                  <p:embed/>
                </p:oleObj>
              </mc:Choice>
              <mc:Fallback>
                <p:oleObj name="Equation" r:id="rId4" imgW="916314" imgH="657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410517"/>
                        <a:ext cx="3352800" cy="142091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5742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Current Division Rule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165222"/>
              </p:ext>
            </p:extLst>
          </p:nvPr>
        </p:nvGraphicFramePr>
        <p:xfrm>
          <a:off x="3194376" y="1389903"/>
          <a:ext cx="6781800" cy="2845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76977" imgH="1352907" progId="Visio.Drawing.11">
                  <p:embed/>
                </p:oleObj>
              </mc:Choice>
              <mc:Fallback>
                <p:oleObj name="Visio" r:id="rId2" imgW="2476977" imgH="135290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376" y="1389903"/>
                        <a:ext cx="6781800" cy="2845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286579"/>
              </p:ext>
            </p:extLst>
          </p:nvPr>
        </p:nvGraphicFramePr>
        <p:xfrm>
          <a:off x="6934200" y="4249284"/>
          <a:ext cx="2785382" cy="1634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6314" imgH="657558" progId="Equation.3">
                  <p:embed/>
                </p:oleObj>
              </mc:Choice>
              <mc:Fallback>
                <p:oleObj name="Equation" r:id="rId4" imgW="916314" imgH="657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249284"/>
                        <a:ext cx="2785382" cy="163489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958975"/>
              </p:ext>
            </p:extLst>
          </p:nvPr>
        </p:nvGraphicFramePr>
        <p:xfrm>
          <a:off x="3595170" y="4235837"/>
          <a:ext cx="2785382" cy="1574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1447560" progId="Equation.3">
                  <p:embed/>
                </p:oleObj>
              </mc:Choice>
              <mc:Fallback>
                <p:oleObj name="Equation" r:id="rId6" imgW="198108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170" y="4235837"/>
                        <a:ext cx="2785382" cy="157434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203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Current Division Rule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the circuit below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239400"/>
              </p:ext>
            </p:extLst>
          </p:nvPr>
        </p:nvGraphicFramePr>
        <p:xfrm>
          <a:off x="3490546" y="1665393"/>
          <a:ext cx="6477000" cy="305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19290" imgH="1342882" progId="Visio.Drawing.11">
                  <p:embed/>
                </p:oleObj>
              </mc:Choice>
              <mc:Fallback>
                <p:oleObj name="Visio" r:id="rId2" imgW="2319290" imgH="134288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546" y="1665393"/>
                        <a:ext cx="6477000" cy="305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892250"/>
              </p:ext>
            </p:extLst>
          </p:nvPr>
        </p:nvGraphicFramePr>
        <p:xfrm>
          <a:off x="2276108" y="4476750"/>
          <a:ext cx="2428875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1447560" progId="Equation.3">
                  <p:embed/>
                </p:oleObj>
              </mc:Choice>
              <mc:Fallback>
                <p:oleObj name="Equation" r:id="rId4" imgW="184140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108" y="4476750"/>
                        <a:ext cx="2428875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407198"/>
              </p:ext>
            </p:extLst>
          </p:nvPr>
        </p:nvGraphicFramePr>
        <p:xfrm>
          <a:off x="6400800" y="4428392"/>
          <a:ext cx="2491154" cy="174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31034" imgH="657558" progId="Equation.3">
                  <p:embed/>
                </p:oleObj>
              </mc:Choice>
              <mc:Fallback>
                <p:oleObj name="Equation" r:id="rId6" imgW="1031034" imgH="657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428392"/>
                        <a:ext cx="2491154" cy="1743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992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Current Division Rule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Example 1 </a:t>
            </a:r>
          </a:p>
          <a:p>
            <a:pPr lvl="1" algn="just"/>
            <a:r>
              <a:rPr lang="en-US" dirty="0"/>
              <a:t>Find the values of I</a:t>
            </a:r>
            <a:r>
              <a:rPr lang="en-US" baseline="-25000" dirty="0"/>
              <a:t>1 </a:t>
            </a:r>
            <a:r>
              <a:rPr lang="en-US" dirty="0"/>
              <a:t>and I</a:t>
            </a:r>
            <a:r>
              <a:rPr lang="en-US" baseline="-25000" dirty="0"/>
              <a:t>2</a:t>
            </a:r>
            <a:r>
              <a:rPr lang="en-US" dirty="0"/>
              <a:t> in the circuit below.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01086"/>
              </p:ext>
            </p:extLst>
          </p:nvPr>
        </p:nvGraphicFramePr>
        <p:xfrm>
          <a:off x="1292592" y="2523282"/>
          <a:ext cx="6019800" cy="209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78012" imgH="1342882" progId="Visio.Drawing.11">
                  <p:embed/>
                </p:oleObj>
              </mc:Choice>
              <mc:Fallback>
                <p:oleObj name="Visio" r:id="rId2" imgW="2378012" imgH="134288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592" y="2523282"/>
                        <a:ext cx="6019800" cy="209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587231"/>
              </p:ext>
            </p:extLst>
          </p:nvPr>
        </p:nvGraphicFramePr>
        <p:xfrm>
          <a:off x="7639793" y="2864227"/>
          <a:ext cx="4055444" cy="14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54480" imgH="1447560" progId="Equation.3">
                  <p:embed/>
                </p:oleObj>
              </mc:Choice>
              <mc:Fallback>
                <p:oleObj name="Equation" r:id="rId4" imgW="425448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9793" y="2864227"/>
                        <a:ext cx="4055444" cy="14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32677"/>
              </p:ext>
            </p:extLst>
          </p:nvPr>
        </p:nvGraphicFramePr>
        <p:xfrm>
          <a:off x="3001477" y="4582216"/>
          <a:ext cx="4689107" cy="14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00887" imgH="657558" progId="Equation.3">
                  <p:embed/>
                </p:oleObj>
              </mc:Choice>
              <mc:Fallback>
                <p:oleObj name="Equation" r:id="rId6" imgW="2300887" imgH="657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477" y="4582216"/>
                        <a:ext cx="4689107" cy="14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97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Current Division Rule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Example 2 </a:t>
            </a:r>
          </a:p>
          <a:p>
            <a:pPr lvl="1" algn="just"/>
            <a:r>
              <a:rPr lang="en-US" dirty="0"/>
              <a:t>Find the value of I</a:t>
            </a:r>
            <a:r>
              <a:rPr lang="en-US" baseline="-25000" dirty="0"/>
              <a:t>1 </a:t>
            </a:r>
            <a:r>
              <a:rPr lang="en-US" dirty="0"/>
              <a:t>in the circuit below.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209476"/>
              </p:ext>
            </p:extLst>
          </p:nvPr>
        </p:nvGraphicFramePr>
        <p:xfrm>
          <a:off x="5257800" y="2362200"/>
          <a:ext cx="4800600" cy="196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4263" imgH="1342882" progId="Visio.Drawing.11">
                  <p:embed/>
                </p:oleObj>
              </mc:Choice>
              <mc:Fallback>
                <p:oleObj name="Visio" r:id="rId2" imgW="3244263" imgH="134288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362200"/>
                        <a:ext cx="4800600" cy="1969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8499"/>
              </p:ext>
            </p:extLst>
          </p:nvPr>
        </p:nvGraphicFramePr>
        <p:xfrm>
          <a:off x="1447800" y="3886200"/>
          <a:ext cx="4308231" cy="196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364724" imgH="1342882" progId="Visio.Drawing.11">
                  <p:embed/>
                </p:oleObj>
              </mc:Choice>
              <mc:Fallback>
                <p:oleObj name="Visio" r:id="rId4" imgW="2364724" imgH="134288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886200"/>
                        <a:ext cx="4308231" cy="1969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991217"/>
              </p:ext>
            </p:extLst>
          </p:nvPr>
        </p:nvGraphicFramePr>
        <p:xfrm>
          <a:off x="6304084" y="4492599"/>
          <a:ext cx="2708031" cy="1292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6231" imgH="628405" progId="Equation.3">
                  <p:embed/>
                </p:oleObj>
              </mc:Choice>
              <mc:Fallback>
                <p:oleObj name="Equation" r:id="rId6" imgW="1336231" imgH="6284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4084" y="4492599"/>
                        <a:ext cx="2708031" cy="1292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208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Voltage Drop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>
              <a:buFont typeface="Wingdings" pitchFamily="2" charset="2"/>
              <a:buChar char="v"/>
            </a:pPr>
            <a:r>
              <a:rPr lang="en-US" dirty="0"/>
              <a:t>Any time a voltage drives current through a resistor, some of  the voltage drops across the resistor.</a:t>
            </a:r>
          </a:p>
          <a:p>
            <a:pPr marL="290513" indent="-290513" algn="just">
              <a:buFont typeface="Wingdings" pitchFamily="2" charset="2"/>
              <a:buChar char="v"/>
            </a:pPr>
            <a:r>
              <a:rPr lang="en-US" dirty="0"/>
              <a:t>The magnitude of the drop is the product of the resistance     and current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2362200" y="3048000"/>
          <a:ext cx="75438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46823" imgH="1138850" progId="Visio.Drawing.11">
                  <p:embed/>
                </p:oleObj>
              </mc:Choice>
              <mc:Fallback>
                <p:oleObj name="Visio" r:id="rId2" imgW="3046823" imgH="113885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48000"/>
                        <a:ext cx="75438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4724400" y="3124201"/>
          <a:ext cx="533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98825" imgH="242400" progId="Visio.Drawing.11">
                  <p:embed/>
                </p:oleObj>
              </mc:Choice>
              <mc:Fallback>
                <p:oleObj name="Visio" r:id="rId4" imgW="298825" imgH="2424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124201"/>
                        <a:ext cx="5334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6934200" y="3124201"/>
          <a:ext cx="533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98825" imgH="242400" progId="Visio.Drawing.11">
                  <p:embed/>
                </p:oleObj>
              </mc:Choice>
              <mc:Fallback>
                <p:oleObj name="Visio" r:id="rId6" imgW="298825" imgH="2424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124201"/>
                        <a:ext cx="5334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Notched Right Arrow 12"/>
          <p:cNvSpPr/>
          <p:nvPr/>
        </p:nvSpPr>
        <p:spPr>
          <a:xfrm>
            <a:off x="3886200" y="3505200"/>
            <a:ext cx="304800" cy="2286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Notched Right Arrow 13"/>
          <p:cNvSpPr/>
          <p:nvPr/>
        </p:nvSpPr>
        <p:spPr>
          <a:xfrm>
            <a:off x="6096000" y="3505200"/>
            <a:ext cx="304800" cy="2286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644611"/>
              </p:ext>
            </p:extLst>
          </p:nvPr>
        </p:nvGraphicFramePr>
        <p:xfrm>
          <a:off x="9003702" y="5454127"/>
          <a:ext cx="3124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279" imgH="419637" progId="Equation.3">
                  <p:embed/>
                </p:oleObj>
              </mc:Choice>
              <mc:Fallback>
                <p:oleObj name="Equation" r:id="rId8" imgW="1498279" imgH="4196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3702" y="5454127"/>
                        <a:ext cx="3124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73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2.22222E-6 L 0.16667 2.22222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.16667 2.22222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Voltage Drop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/>
            <a:r>
              <a:rPr lang="en-US" dirty="0">
                <a:solidFill>
                  <a:srgbClr val="0000FF"/>
                </a:solidFill>
              </a:rPr>
              <a:t>Example</a:t>
            </a:r>
          </a:p>
          <a:p>
            <a:pPr marL="746125" lvl="1" indent="-346075" algn="just"/>
            <a:r>
              <a:rPr lang="en-US" dirty="0"/>
              <a:t>Find the values of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/>
              <a:t> and R in the circuit below.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988959"/>
              </p:ext>
            </p:extLst>
          </p:nvPr>
        </p:nvGraphicFramePr>
        <p:xfrm>
          <a:off x="4851401" y="2438400"/>
          <a:ext cx="3886199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96831" imgH="1192836" progId="Visio.Drawing.11">
                  <p:embed/>
                </p:oleObj>
              </mc:Choice>
              <mc:Fallback>
                <p:oleObj name="Visio" r:id="rId2" imgW="2596831" imgH="119283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401" y="2438400"/>
                        <a:ext cx="3886199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803401" y="4307919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6075" indent="-346075"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marL="346075" indent="-346075" algn="just"/>
            <a:r>
              <a:rPr lang="en-US" sz="2800" dirty="0"/>
              <a:t>Voltage across 3</a:t>
            </a:r>
            <a:r>
              <a:rPr lang="el-GR" sz="2800" dirty="0"/>
              <a:t>Ω</a:t>
            </a:r>
            <a:r>
              <a:rPr lang="en-US" sz="2800" dirty="0"/>
              <a:t> resistor = 10 – 4 = 6V</a:t>
            </a:r>
          </a:p>
          <a:p>
            <a:pPr marL="346075" indent="-346075" algn="just"/>
            <a:r>
              <a:rPr lang="en-US" sz="2800" dirty="0"/>
              <a:t>Current in 3</a:t>
            </a:r>
            <a:r>
              <a:rPr lang="el-GR" sz="2800" dirty="0"/>
              <a:t>Ω</a:t>
            </a:r>
            <a:r>
              <a:rPr lang="en-US" sz="2800" dirty="0"/>
              <a:t> resistor =</a:t>
            </a:r>
            <a:r>
              <a:rPr lang="en-US" sz="2800" dirty="0">
                <a:latin typeface="Bodoni MT Condensed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2800" dirty="0">
                <a:cs typeface="Times New Roman" pitchFamily="18" charset="0"/>
              </a:rPr>
              <a:t>= 6/3 = 2A</a:t>
            </a:r>
          </a:p>
          <a:p>
            <a:pPr marL="346075" indent="-346075" algn="just"/>
            <a:r>
              <a:rPr lang="en-US" sz="2800" dirty="0">
                <a:cs typeface="Times New Roman" pitchFamily="18" charset="0"/>
              </a:rPr>
              <a:t>Resistance R = 4V/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cs typeface="Times New Roman" pitchFamily="18" charset="0"/>
              </a:rPr>
              <a:t>= 4/2 = 2</a:t>
            </a:r>
            <a:r>
              <a:rPr lang="el-GR" sz="2800" dirty="0">
                <a:cs typeface="Times New Roman" pitchFamily="18" charset="0"/>
              </a:rPr>
              <a:t>Ω</a:t>
            </a:r>
            <a:endParaRPr lang="en-US" sz="2800" dirty="0">
              <a:cs typeface="Times New Roman" pitchFamily="18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24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Revision Exercise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value of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/>
              <a:t> </a:t>
            </a:r>
            <a:r>
              <a:rPr lang="en-US" dirty="0"/>
              <a:t>in the circuit below.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097140"/>
              </p:ext>
            </p:extLst>
          </p:nvPr>
        </p:nvGraphicFramePr>
        <p:xfrm>
          <a:off x="4478768" y="1827905"/>
          <a:ext cx="5105400" cy="1982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94822" imgH="1163288" progId="Visio.Drawing.11">
                  <p:embed/>
                </p:oleObj>
              </mc:Choice>
              <mc:Fallback>
                <p:oleObj name="Visio" r:id="rId2" imgW="4294822" imgH="116328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768" y="1827905"/>
                        <a:ext cx="5105400" cy="1982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114311"/>
              </p:ext>
            </p:extLst>
          </p:nvPr>
        </p:nvGraphicFramePr>
        <p:xfrm>
          <a:off x="2362200" y="4414221"/>
          <a:ext cx="3183367" cy="1681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40710" imgH="1163144" progId="Visio.Drawing.11">
                  <p:embed/>
                </p:oleObj>
              </mc:Choice>
              <mc:Fallback>
                <p:oleObj name="Visio" r:id="rId4" imgW="2740710" imgH="116314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414221"/>
                        <a:ext cx="3183367" cy="1681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120740"/>
              </p:ext>
            </p:extLst>
          </p:nvPr>
        </p:nvGraphicFramePr>
        <p:xfrm>
          <a:off x="6680500" y="4414221"/>
          <a:ext cx="2522668" cy="1681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740710" imgH="1163144" progId="Visio.Drawing.11">
                  <p:embed/>
                </p:oleObj>
              </mc:Choice>
              <mc:Fallback>
                <p:oleObj name="Visio" r:id="rId6" imgW="2740710" imgH="116314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500" y="4414221"/>
                        <a:ext cx="2522668" cy="1681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573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Revision Exercise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193239"/>
              </p:ext>
            </p:extLst>
          </p:nvPr>
        </p:nvGraphicFramePr>
        <p:xfrm>
          <a:off x="1509657" y="4365090"/>
          <a:ext cx="3693459" cy="125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393480" progId="Equation.DSMT4">
                  <p:embed/>
                </p:oleObj>
              </mc:Choice>
              <mc:Fallback>
                <p:oleObj name="Equation" r:id="rId2" imgW="660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657" y="4365090"/>
                        <a:ext cx="3693459" cy="1252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378104"/>
              </p:ext>
            </p:extLst>
          </p:nvPr>
        </p:nvGraphicFramePr>
        <p:xfrm>
          <a:off x="3352800" y="1951209"/>
          <a:ext cx="6781800" cy="237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09048" imgH="1084053" progId="Visio.Drawing.11">
                  <p:embed/>
                </p:oleObj>
              </mc:Choice>
              <mc:Fallback>
                <p:oleObj name="Visio" r:id="rId4" imgW="2109048" imgH="108405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951209"/>
                        <a:ext cx="6781800" cy="237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32529"/>
              </p:ext>
            </p:extLst>
          </p:nvPr>
        </p:nvGraphicFramePr>
        <p:xfrm>
          <a:off x="6019800" y="4419600"/>
          <a:ext cx="3581400" cy="125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06931" imgH="400529" progId="Equation.3">
                  <p:embed/>
                </p:oleObj>
              </mc:Choice>
              <mc:Fallback>
                <p:oleObj name="Equation" r:id="rId6" imgW="1506931" imgH="400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419600"/>
                        <a:ext cx="3581400" cy="1253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915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Revision Exercise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209648"/>
              </p:ext>
            </p:extLst>
          </p:nvPr>
        </p:nvGraphicFramePr>
        <p:xfrm>
          <a:off x="2503487" y="1469231"/>
          <a:ext cx="6248400" cy="2879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33476" imgH="1162136" progId="Visio.Drawing.11">
                  <p:embed/>
                </p:oleObj>
              </mc:Choice>
              <mc:Fallback>
                <p:oleObj name="Visio" r:id="rId2" imgW="2733476" imgH="116213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7" y="1469231"/>
                        <a:ext cx="6248400" cy="2879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793854"/>
              </p:ext>
            </p:extLst>
          </p:nvPr>
        </p:nvGraphicFramePr>
        <p:xfrm>
          <a:off x="3657600" y="4522227"/>
          <a:ext cx="4343400" cy="1526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1676400" progId="Equation.3">
                  <p:embed/>
                </p:oleObj>
              </mc:Choice>
              <mc:Fallback>
                <p:oleObj name="Equation" r:id="rId4" imgW="3200400" imgH="167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22227"/>
                        <a:ext cx="4343400" cy="15265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524001" y="1482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480223"/>
              </p:ext>
            </p:extLst>
          </p:nvPr>
        </p:nvGraphicFramePr>
        <p:xfrm>
          <a:off x="7010400" y="2286000"/>
          <a:ext cx="533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825480" progId="Equation.3">
                  <p:embed/>
                </p:oleObj>
              </mc:Choice>
              <mc:Fallback>
                <p:oleObj name="Equation" r:id="rId6" imgW="5331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286000"/>
                        <a:ext cx="533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773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Group Assignment 1</a:t>
            </a:r>
            <a:br>
              <a:rPr lang="en-US" dirty="0">
                <a:solidFill>
                  <a:srgbClr val="0070C0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Find the value of the current in all resistors of the circuit below using total resistance and voltage drop principles. </a:t>
            </a:r>
            <a:r>
              <a:rPr lang="en-US" dirty="0">
                <a:solidFill>
                  <a:srgbClr val="0000FF"/>
                </a:solidFill>
              </a:rPr>
              <a:t>DO NOT </a:t>
            </a:r>
            <a:r>
              <a:rPr lang="en-US" dirty="0"/>
              <a:t>use current division rule.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996268"/>
              </p:ext>
            </p:extLst>
          </p:nvPr>
        </p:nvGraphicFramePr>
        <p:xfrm>
          <a:off x="3086100" y="2819400"/>
          <a:ext cx="6019800" cy="2310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94759" imgH="1163144" progId="Visio.Drawing.11">
                  <p:embed/>
                </p:oleObj>
              </mc:Choice>
              <mc:Fallback>
                <p:oleObj name="Visio" r:id="rId2" imgW="4294759" imgH="116314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2819400"/>
                        <a:ext cx="6019800" cy="23106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8151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kern="1200" dirty="0">
                <a:solidFill>
                  <a:srgbClr val="0000FF"/>
                </a:solidFill>
                <a:latin typeface="+mn-lt"/>
              </a:rPr>
              <a:t>Kirchhoff's Current Law(KCL)</a:t>
            </a:r>
            <a:endParaRPr lang="en-US" sz="4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Font typeface="Wingdings" pitchFamily="2" charset="2"/>
              <a:buChar char="v"/>
            </a:pPr>
            <a:r>
              <a:rPr kumimoji="0" lang="en-US" sz="1800" kern="1200" dirty="0">
                <a:solidFill>
                  <a:srgbClr val="0000FF"/>
                </a:solidFill>
                <a:latin typeface="Calibri"/>
              </a:rPr>
              <a:t> </a:t>
            </a:r>
            <a:r>
              <a:rPr kumimoji="0" lang="en-US" kern="1200" dirty="0">
                <a:solidFill>
                  <a:srgbClr val="0000FF"/>
                </a:solidFill>
                <a:latin typeface="+mj-lt"/>
              </a:rPr>
              <a:t>The Law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prstClr val="black"/>
                </a:solidFill>
                <a:latin typeface="+mn-lt"/>
              </a:rPr>
              <a:t>The sum of currents entering a node equals the sum of currents leaving the node.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200402" y="2438400"/>
          <a:ext cx="4419599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326130" imgH="1056340" progId="Visio.Drawing.11">
                  <p:embed/>
                </p:oleObj>
              </mc:Choice>
              <mc:Fallback>
                <p:oleObj name="Visio" r:id="rId2" imgW="1326130" imgH="1056340" progId="Visio.Drawing.11">
                  <p:embed/>
                  <p:pic>
                    <p:nvPicPr>
                      <p:cNvPr id="256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2" y="2438400"/>
                        <a:ext cx="4419599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48112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</a:rPr>
              <a:t>Sum of currents entering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aramond" panose="02020404030301010803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5080545" y="4742734"/>
            <a:ext cx="304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142398"/>
              </p:ext>
            </p:extLst>
          </p:nvPr>
        </p:nvGraphicFramePr>
        <p:xfrm>
          <a:off x="5943600" y="4558665"/>
          <a:ext cx="1587500" cy="47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31640" progId="Equation.3">
                  <p:embed/>
                </p:oleObj>
              </mc:Choice>
              <mc:Fallback>
                <p:oleObj name="Equation" r:id="rId4" imgW="1218960" imgH="431640" progId="Equation.3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558665"/>
                        <a:ext cx="1587500" cy="472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958851" y="498131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Bef>
                <a:spcPct val="20000"/>
              </a:spcBef>
            </a:pPr>
            <a:r>
              <a:rPr lang="en-US" sz="2800" dirty="0">
                <a:solidFill>
                  <a:prstClr val="black"/>
                </a:solidFill>
                <a:latin typeface="Garamond" panose="02020404030301010803" pitchFamily="18" charset="0"/>
              </a:rPr>
              <a:t>Sum of currents Leaving 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80545" y="5273403"/>
            <a:ext cx="304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589324"/>
              </p:ext>
            </p:extLst>
          </p:nvPr>
        </p:nvGraphicFramePr>
        <p:xfrm>
          <a:off x="5691414" y="5031599"/>
          <a:ext cx="1699986" cy="47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431640" progId="Equation.3">
                  <p:embed/>
                </p:oleObj>
              </mc:Choice>
              <mc:Fallback>
                <p:oleObj name="Equation" r:id="rId6" imgW="1269720" imgH="431640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414" y="5031599"/>
                        <a:ext cx="1699986" cy="472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271" y="5328984"/>
            <a:ext cx="2274005" cy="749873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>
            <a:off x="3235236" y="5586354"/>
            <a:ext cx="304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773764"/>
              </p:ext>
            </p:extLst>
          </p:nvPr>
        </p:nvGraphicFramePr>
        <p:xfrm>
          <a:off x="3672114" y="5439421"/>
          <a:ext cx="4038600" cy="536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9191" imgH="247619" progId="Equation.3">
                  <p:embed/>
                </p:oleObj>
              </mc:Choice>
              <mc:Fallback>
                <p:oleObj name="Equation" r:id="rId9" imgW="1489191" imgH="247619" progId="Equation.3">
                  <p:embed/>
                  <p:pic>
                    <p:nvPicPr>
                      <p:cNvPr id="256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114" y="5439421"/>
                        <a:ext cx="4038600" cy="536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977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Kirchhoff's Current Law(KCL)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057400"/>
            <a:ext cx="5715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Find the value of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/>
              <a:t> in the figure below.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425328"/>
              </p:ext>
            </p:extLst>
          </p:nvPr>
        </p:nvGraphicFramePr>
        <p:xfrm>
          <a:off x="2971800" y="2438400"/>
          <a:ext cx="4724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11230" imgH="905607" progId="Visio.Drawing.11">
                  <p:embed/>
                </p:oleObj>
              </mc:Choice>
              <mc:Fallback>
                <p:oleObj name="Visio" r:id="rId2" imgW="1011230" imgH="905607" progId="Visio.Drawing.11">
                  <p:embed/>
                  <p:pic>
                    <p:nvPicPr>
                      <p:cNvPr id="563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438400"/>
                        <a:ext cx="4724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255814" y="4419600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057878"/>
              </p:ext>
            </p:extLst>
          </p:nvPr>
        </p:nvGraphicFramePr>
        <p:xfrm>
          <a:off x="2286000" y="4942821"/>
          <a:ext cx="4876800" cy="281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2715" imgH="315448" progId="Equation.3">
                  <p:embed/>
                </p:oleObj>
              </mc:Choice>
              <mc:Fallback>
                <p:oleObj name="Equation" r:id="rId4" imgW="2202715" imgH="315448" progId="Equation.3">
                  <p:embed/>
                  <p:pic>
                    <p:nvPicPr>
                      <p:cNvPr id="563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942821"/>
                        <a:ext cx="4876800" cy="281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08017"/>
              </p:ext>
            </p:extLst>
          </p:nvPr>
        </p:nvGraphicFramePr>
        <p:xfrm>
          <a:off x="3505200" y="5332639"/>
          <a:ext cx="2782887" cy="310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317160" progId="Equation.3">
                  <p:embed/>
                </p:oleObj>
              </mc:Choice>
              <mc:Fallback>
                <p:oleObj name="Equation" r:id="rId6" imgW="1257120" imgH="317160" progId="Equation.3">
                  <p:embed/>
                  <p:pic>
                    <p:nvPicPr>
                      <p:cNvPr id="563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2639"/>
                        <a:ext cx="2782887" cy="310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146035"/>
              </p:ext>
            </p:extLst>
          </p:nvPr>
        </p:nvGraphicFramePr>
        <p:xfrm>
          <a:off x="4634707" y="5667049"/>
          <a:ext cx="1462087" cy="276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317160" progId="Equation.3">
                  <p:embed/>
                </p:oleObj>
              </mc:Choice>
              <mc:Fallback>
                <p:oleObj name="Equation" r:id="rId8" imgW="660240" imgH="317160" progId="Equation.3">
                  <p:embed/>
                  <p:pic>
                    <p:nvPicPr>
                      <p:cNvPr id="563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707" y="5667049"/>
                        <a:ext cx="1462087" cy="276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42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Current Law(KCL)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 Self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1411" y="182880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dirty="0"/>
              <a:t>Find the value of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/>
              <a:t> in the figure below.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168554"/>
              </p:ext>
            </p:extLst>
          </p:nvPr>
        </p:nvGraphicFramePr>
        <p:xfrm>
          <a:off x="2927351" y="2209800"/>
          <a:ext cx="48768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13088" imgH="900498" progId="Visio.Drawing.11">
                  <p:embed/>
                </p:oleObj>
              </mc:Choice>
              <mc:Fallback>
                <p:oleObj name="Visio" r:id="rId2" imgW="1013088" imgH="900498" progId="Visio.Drawing.11">
                  <p:embed/>
                  <p:pic>
                    <p:nvPicPr>
                      <p:cNvPr id="563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209800"/>
                        <a:ext cx="48768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143000" y="4648200"/>
            <a:ext cx="877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ANS</a:t>
            </a: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566241"/>
              </p:ext>
            </p:extLst>
          </p:nvPr>
        </p:nvGraphicFramePr>
        <p:xfrm>
          <a:off x="2590800" y="5111750"/>
          <a:ext cx="1917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317160" progId="Equation.3">
                  <p:embed/>
                </p:oleObj>
              </mc:Choice>
              <mc:Fallback>
                <p:oleObj name="Equation" r:id="rId4" imgW="672840" imgH="317160" progId="Equation.3">
                  <p:embed/>
                  <p:pic>
                    <p:nvPicPr>
                      <p:cNvPr id="57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111750"/>
                        <a:ext cx="1917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19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Voltage Law(KVL)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363200" cy="5454650"/>
          </a:xfrm>
        </p:spPr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 The law</a:t>
            </a:r>
          </a:p>
          <a:p>
            <a:pPr algn="just"/>
            <a:r>
              <a:rPr lang="en-US" sz="2800" dirty="0"/>
              <a:t>The algebraic sum of the voltages in a loop (closed path) equals zero.  Alternatively, in a loop, the algebraic sum of voltage sources equals the algebraic sum of voltage drops.</a:t>
            </a: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Loop </a:t>
            </a:r>
            <a:r>
              <a:rPr lang="en-US" sz="2800" dirty="0" err="1">
                <a:solidFill>
                  <a:srgbClr val="0000FF"/>
                </a:solidFill>
              </a:rPr>
              <a:t>abgha</a:t>
            </a:r>
            <a:r>
              <a:rPr lang="en-US" sz="2800" dirty="0">
                <a:solidFill>
                  <a:srgbClr val="0000FF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Loop </a:t>
            </a:r>
            <a:r>
              <a:rPr lang="en-US" sz="2800" dirty="0" err="1">
                <a:solidFill>
                  <a:srgbClr val="0000FF"/>
                </a:solidFill>
              </a:rPr>
              <a:t>adeha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077327"/>
              </p:ext>
            </p:extLst>
          </p:nvPr>
        </p:nvGraphicFramePr>
        <p:xfrm>
          <a:off x="3251201" y="3200400"/>
          <a:ext cx="5486399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8131" imgH="1467629" progId="Visio.Drawing.11">
                  <p:embed/>
                </p:oleObj>
              </mc:Choice>
              <mc:Fallback>
                <p:oleObj name="Visio" r:id="rId2" imgW="3968131" imgH="1467629" progId="Visio.Drawing.11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3200400"/>
                        <a:ext cx="5486399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611" y="4873836"/>
            <a:ext cx="1813177" cy="5092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57600" y="352978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317318"/>
              </p:ext>
            </p:extLst>
          </p:nvPr>
        </p:nvGraphicFramePr>
        <p:xfrm>
          <a:off x="2819400" y="5375860"/>
          <a:ext cx="304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375349" imgH="240241" progId="Visio.Drawing.11">
                  <p:embed/>
                </p:oleObj>
              </mc:Choice>
              <mc:Fallback>
                <p:oleObj name="Visio" r:id="rId5" imgW="1375349" imgH="240241" progId="Visio.Drawing.11">
                  <p:embed/>
                  <p:pic>
                    <p:nvPicPr>
                      <p:cNvPr id="583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75860"/>
                        <a:ext cx="3048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5400000" flipH="1" flipV="1">
            <a:off x="3848894" y="421732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7658894" y="4280177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13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11111E-6 L -4.16667E-7 0.00023 C 0.00287 -0.0007 0.00612 -0.00093 0.00885 -0.00185 C 0.01719 -0.00463 0.025 -0.01042 0.03333 -0.01111 C 0.05052 -0.0132 0.06771 -0.00995 0.0849 -0.00949 C 0.09414 0.00231 0.08828 -0.00232 0.103 1.11111E-6 C 0.12305 0.05255 0.12448 0.05 0.10208 0.17384 C 0.09935 0.1875 0.08633 0.17523 0.07878 0.17616 C 0.06029 0.18727 0.06823 0.1831 0.02513 0.17616 C 0.02266 0.17546 0.02135 0.16852 0.01914 0.16829 L -0.00325 0.1662 C -0.00338 0.16366 -0.00378 0.16111 -0.00417 0.15856 C -0.00469 0.15486 -0.00599 0.14745 -0.00599 0.14768 C -0.00638 0.1368 -0.0069 0.12592 -0.0069 0.11528 C -0.0069 0.11065 -0.00612 0.10648 -0.00599 0.10208 C -0.0056 0.07292 -0.00586 0.04421 -0.00508 0.01505 C -0.00495 0.00995 -0.00456 0.00463 -0.00325 1.11111E-6 C -0.0026 -0.00139 -0.00052 1.11111E-6 -4.16667E-7 1.11111E-6 Z " pathEditMode="relative" rAng="0" ptsTypes="AAAAAAAAAAAAAAAAAA">
                                      <p:cBhvr>
                                        <p:cTn id="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73" y="8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6315 0.05602 0.00743 0.00949 0.1918 0.00579 C 0.19323 0.00556 0.19466 0.00394 0.1961 0.0037 L 0.31823 0 C 0.32826 0.00023 0.37396 -0.02986 0.37396 0.01134 C 0.37396 0.01782 0.37357 0.02431 0.37279 0.03056 C 0.37253 0.03264 0.37136 0.03426 0.37071 0.03611 C 0.36706 0.06227 0.37123 0.02917 0.37175 0.09537 C 0.37201 0.1213 0.37565 0.14884 0.37071 0.17338 C 0.36901 0.18194 0.36068 0.175 0.35573 0.17546 L 0.20573 0.1831 L 0.15651 0.18102 C 0.1543 0.18102 0.15209 0.18056 0.15 0.17917 C 0.14831 0.17801 0.14714 0.17523 0.14571 0.17338 C 0.14466 0.17222 0.14362 0.17083 0.14258 0.16968 C 0.11966 0.17477 0.1461 0.16968 0.09753 0.16968 C 0.08151 0.16968 0.06537 0.17083 0.04935 0.17153 C 0.04714 0.17292 0.04519 0.17477 0.04297 0.17546 C 0.01888 0.18148 0.03334 0.17338 0.02357 0.17917 C 0.01511 0.17847 0.00534 0.18472 -0.00208 0.17732 C -0.00299 0.17639 -0.00182 0.15532 0 0.14861 C 0.00065 0.14653 0.00144 0.14491 0.00222 0.14306 C 0.00261 0.14051 0.00287 0.13773 0.00326 0.13542 C 0.00365 0.13333 0.0043 0.13171 0.0043 0.12963 C 0.0043 0.10602 0.00352 0.08264 0.00326 0.05903 C 0.00313 0.0419 0.00326 0.02477 0.00326 0.00764 " pathEditMode="relative" ptsTypes="AAAAAAAAAAAAAAAAAAAAAAAAAAA">
                                      <p:cBhvr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8" grpId="4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Voltage Law(KVL)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661938"/>
              </p:ext>
            </p:extLst>
          </p:nvPr>
        </p:nvGraphicFramePr>
        <p:xfrm>
          <a:off x="2209800" y="1571624"/>
          <a:ext cx="6781800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8131" imgH="1467629" progId="Visio.Drawing.11">
                  <p:embed/>
                </p:oleObj>
              </mc:Choice>
              <mc:Fallback>
                <p:oleObj name="Visio" r:id="rId2" imgW="3968131" imgH="1467629" progId="Visio.Drawing.11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571624"/>
                        <a:ext cx="6781800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 rot="5400000" flipH="1" flipV="1">
            <a:off x="3010694" y="2704864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7658894" y="273099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09800" y="4168169"/>
            <a:ext cx="1784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Loop </a:t>
            </a:r>
            <a:r>
              <a:rPr lang="en-US" sz="2800" dirty="0" err="1">
                <a:solidFill>
                  <a:srgbClr val="0000FF"/>
                </a:solidFill>
              </a:rPr>
              <a:t>cbgfc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553200" y="1828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531308"/>
              </p:ext>
            </p:extLst>
          </p:nvPr>
        </p:nvGraphicFramePr>
        <p:xfrm>
          <a:off x="4572000" y="4005589"/>
          <a:ext cx="297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356183" imgH="240241" progId="Visio.Drawing.11">
                  <p:embed/>
                </p:oleObj>
              </mc:Choice>
              <mc:Fallback>
                <p:oleObj name="Visio" r:id="rId4" imgW="1356183" imgH="240241" progId="Visio.Drawing.11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05589"/>
                        <a:ext cx="297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Oval 11"/>
          <p:cNvSpPr/>
          <p:nvPr/>
        </p:nvSpPr>
        <p:spPr>
          <a:xfrm>
            <a:off x="2743200" y="185492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72101" y="4940349"/>
            <a:ext cx="18565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Loop </a:t>
            </a:r>
            <a:r>
              <a:rPr lang="en-US" sz="2800" dirty="0" err="1">
                <a:solidFill>
                  <a:srgbClr val="0000FF"/>
                </a:solidFill>
              </a:rPr>
              <a:t>acfha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213367"/>
              </p:ext>
            </p:extLst>
          </p:nvPr>
        </p:nvGraphicFramePr>
        <p:xfrm>
          <a:off x="4552406" y="4777769"/>
          <a:ext cx="2819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316232" imgH="240241" progId="Visio.Drawing.11">
                  <p:embed/>
                </p:oleObj>
              </mc:Choice>
              <mc:Fallback>
                <p:oleObj name="Visio" r:id="rId6" imgW="1316232" imgH="240241" progId="Visio.Drawing.11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406" y="4777769"/>
                        <a:ext cx="2819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629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33333E-6 L -0.16563 0.00116 L -0.16563 0.20556 L 5E-6 0.20556 L 5E-6 -3.33333E-6 Z " pathEditMode="relative" rAng="0" ptsTypes="AAAAA">
                                      <p:cBhvr>
                                        <p:cTn id="3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81" y="1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3 L 0.31576 -0.00162 L 0.31576 0.20578 L -0.00117 0.20578 L -0.00013 -0.00023 Z " pathEditMode="relative" rAng="0" ptsTypes="AAAAA">
                                      <p:cBhvr>
                                        <p:cTn id="54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2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9" grpId="1" animBg="1"/>
      <p:bldP spid="9" grpId="2" animBg="1"/>
      <p:bldP spid="12" grpId="0" animBg="1"/>
      <p:bldP spid="12" grpId="1" animBg="1"/>
      <p:bldP spid="12" grpId="2" animBg="1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Voltage Law(KVL)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853" y="1394199"/>
            <a:ext cx="10363200" cy="469265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Example 1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prstClr val="black"/>
                </a:solidFill>
                <a:latin typeface="Calibri"/>
              </a:rPr>
              <a:t>Find the current in all parts of the circuit below.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919691"/>
              </p:ext>
            </p:extLst>
          </p:nvPr>
        </p:nvGraphicFramePr>
        <p:xfrm>
          <a:off x="228600" y="2214656"/>
          <a:ext cx="7874000" cy="254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391791" imgH="3005710" progId="Visio.Drawing.11">
                  <p:embed/>
                </p:oleObj>
              </mc:Choice>
              <mc:Fallback>
                <p:oleObj name="Visio" r:id="rId2" imgW="7391791" imgH="3005710" progId="Visio.Drawing.11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14656"/>
                        <a:ext cx="7874000" cy="2541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433745" y="4494328"/>
            <a:ext cx="46907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800" dirty="0"/>
              <a:t>Applying KVL to loop </a:t>
            </a:r>
            <a:r>
              <a:rPr lang="en-US" sz="2800" dirty="0" err="1"/>
              <a:t>bcdab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419177"/>
              </p:ext>
            </p:extLst>
          </p:nvPr>
        </p:nvGraphicFramePr>
        <p:xfrm>
          <a:off x="6447732" y="4529137"/>
          <a:ext cx="2743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205184" imgH="204050" progId="Word.Document.12">
                  <p:embed/>
                </p:oleObj>
              </mc:Choice>
              <mc:Fallback>
                <p:oleObj name="Document" r:id="rId4" imgW="1205184" imgH="204050" progId="Word.Document.12">
                  <p:embed/>
                  <p:pic>
                    <p:nvPicPr>
                      <p:cNvPr id="604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7732" y="4529137"/>
                        <a:ext cx="27432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ight Arrow 9"/>
          <p:cNvSpPr/>
          <p:nvPr/>
        </p:nvSpPr>
        <p:spPr>
          <a:xfrm>
            <a:off x="5676511" y="5018504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412656"/>
              </p:ext>
            </p:extLst>
          </p:nvPr>
        </p:nvGraphicFramePr>
        <p:xfrm>
          <a:off x="6343794" y="4855369"/>
          <a:ext cx="32877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684663" imgH="175570" progId="Word.Document.12">
                  <p:embed/>
                </p:oleObj>
              </mc:Choice>
              <mc:Fallback>
                <p:oleObj name="Document" r:id="rId6" imgW="1684663" imgH="175570" progId="Word.Document.12">
                  <p:embed/>
                  <p:pic>
                    <p:nvPicPr>
                      <p:cNvPr id="604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794" y="4855369"/>
                        <a:ext cx="32877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1413308" y="5170904"/>
            <a:ext cx="4682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800" dirty="0"/>
              <a:t>Applying KVL to loop </a:t>
            </a:r>
            <a:r>
              <a:rPr lang="en-US" sz="2800" dirty="0" err="1"/>
              <a:t>ecdfe</a:t>
            </a:r>
            <a:r>
              <a:rPr lang="en-US" sz="2800" dirty="0">
                <a:solidFill>
                  <a:srgbClr val="0000FF"/>
                </a:solidFill>
              </a:rPr>
              <a:t>  </a:t>
            </a:r>
          </a:p>
        </p:txBody>
      </p:sp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27382"/>
              </p:ext>
            </p:extLst>
          </p:nvPr>
        </p:nvGraphicFramePr>
        <p:xfrm>
          <a:off x="6248400" y="5247084"/>
          <a:ext cx="243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098834" imgH="175570" progId="Word.Document.12">
                  <p:embed/>
                </p:oleObj>
              </mc:Choice>
              <mc:Fallback>
                <p:oleObj name="Document" r:id="rId8" imgW="1098834" imgH="175570" progId="Word.Document.12">
                  <p:embed/>
                  <p:pic>
                    <p:nvPicPr>
                      <p:cNvPr id="604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247084"/>
                        <a:ext cx="2438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ight Arrow 13"/>
          <p:cNvSpPr/>
          <p:nvPr/>
        </p:nvSpPr>
        <p:spPr>
          <a:xfrm>
            <a:off x="5638022" y="5814286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541421"/>
              </p:ext>
            </p:extLst>
          </p:nvPr>
        </p:nvGraphicFramePr>
        <p:xfrm>
          <a:off x="6257232" y="5559589"/>
          <a:ext cx="3124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844008" imgH="175570" progId="Word.Document.12">
                  <p:embed/>
                </p:oleObj>
              </mc:Choice>
              <mc:Fallback>
                <p:oleObj name="Document" r:id="rId10" imgW="1844008" imgH="175570" progId="Word.Document.12">
                  <p:embed/>
                  <p:pic>
                    <p:nvPicPr>
                      <p:cNvPr id="604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7232" y="5559589"/>
                        <a:ext cx="3124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875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Voltage Law(KVL)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endParaRPr lang="en-US" sz="2800" dirty="0">
              <a:solidFill>
                <a:srgbClr val="0000FF"/>
              </a:solidFill>
            </a:endParaRPr>
          </a:p>
          <a:p>
            <a:endParaRPr lang="en-US" sz="2800" dirty="0">
              <a:solidFill>
                <a:srgbClr val="0000FF"/>
              </a:solidFill>
            </a:endParaRPr>
          </a:p>
          <a:p>
            <a:endParaRPr lang="en-US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r>
              <a:rPr lang="en-US" sz="2800" dirty="0">
                <a:solidFill>
                  <a:srgbClr val="0000FF"/>
                </a:solidFill>
              </a:rPr>
              <a:t>Applying KCL to node c: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217658"/>
              </p:ext>
            </p:extLst>
          </p:nvPr>
        </p:nvGraphicFramePr>
        <p:xfrm>
          <a:off x="914400" y="1180737"/>
          <a:ext cx="84582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391791" imgH="3005710" progId="Visio.Drawing.11">
                  <p:embed/>
                </p:oleObj>
              </mc:Choice>
              <mc:Fallback>
                <p:oleObj name="Visio" r:id="rId2" imgW="7391791" imgH="3005710" progId="Visio.Drawing.11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80737"/>
                        <a:ext cx="84582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95634"/>
              </p:ext>
            </p:extLst>
          </p:nvPr>
        </p:nvGraphicFramePr>
        <p:xfrm>
          <a:off x="5105400" y="4032250"/>
          <a:ext cx="419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431640" progId="Equation.3">
                  <p:embed/>
                </p:oleObj>
              </mc:Choice>
              <mc:Fallback>
                <p:oleObj name="Equation" r:id="rId4" imgW="2374560" imgH="431640" progId="Equation.3">
                  <p:embed/>
                  <p:pic>
                    <p:nvPicPr>
                      <p:cNvPr id="655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032250"/>
                        <a:ext cx="419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295400" y="4807605"/>
            <a:ext cx="61591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Solving the equations simultaneously yields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385133"/>
              </p:ext>
            </p:extLst>
          </p:nvPr>
        </p:nvGraphicFramePr>
        <p:xfrm>
          <a:off x="1898651" y="5483225"/>
          <a:ext cx="6934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842620" imgH="180977" progId="Word.Document.12">
                  <p:embed/>
                </p:oleObj>
              </mc:Choice>
              <mc:Fallback>
                <p:oleObj name="Document" r:id="rId6" imgW="2842620" imgH="180977" progId="Word.Document.12">
                  <p:embed/>
                  <p:pic>
                    <p:nvPicPr>
                      <p:cNvPr id="655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1" y="5483225"/>
                        <a:ext cx="6934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743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Voltage Law(KVL)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Example 2</a:t>
            </a:r>
          </a:p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+mn-lt"/>
              </a:rPr>
              <a:t>Find the currents in all parts of the circuit below</a:t>
            </a:r>
            <a:r>
              <a:rPr kumimoji="0" lang="en-US" sz="2800" kern="1200" dirty="0">
                <a:solidFill>
                  <a:srgbClr val="0000FF"/>
                </a:solidFill>
                <a:latin typeface="Calibri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933955"/>
              </p:ext>
            </p:extLst>
          </p:nvPr>
        </p:nvGraphicFramePr>
        <p:xfrm>
          <a:off x="1784351" y="2051048"/>
          <a:ext cx="7162799" cy="2971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97172" imgH="1707060" progId="Visio.Drawing.11">
                  <p:embed/>
                </p:oleObj>
              </mc:Choice>
              <mc:Fallback>
                <p:oleObj name="Visio" r:id="rId2" imgW="5197172" imgH="1707060" progId="Visio.Drawing.11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1" y="2051048"/>
                        <a:ext cx="7162799" cy="2971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5137150" y="4092575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085019"/>
              </p:ext>
            </p:extLst>
          </p:nvPr>
        </p:nvGraphicFramePr>
        <p:xfrm>
          <a:off x="5271994" y="3689407"/>
          <a:ext cx="2857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245" imgH="419637" progId="Equation.3">
                  <p:embed/>
                </p:oleObj>
              </mc:Choice>
              <mc:Fallback>
                <p:oleObj name="Equation" r:id="rId4" imgW="286245" imgH="419637" progId="Equation.3">
                  <p:embed/>
                  <p:pic>
                    <p:nvPicPr>
                      <p:cNvPr id="665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1994" y="3689407"/>
                        <a:ext cx="2857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0" y="4545796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Apply KVL to loop </a:t>
            </a:r>
            <a:r>
              <a:rPr lang="en-US" sz="2800" dirty="0" err="1">
                <a:solidFill>
                  <a:srgbClr val="0000FF"/>
                </a:solidFill>
              </a:rPr>
              <a:t>cefdc</a:t>
            </a:r>
            <a:endParaRPr 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902663"/>
              </p:ext>
            </p:extLst>
          </p:nvPr>
        </p:nvGraphicFramePr>
        <p:xfrm>
          <a:off x="2878044" y="5518150"/>
          <a:ext cx="6096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613696" imgH="180977" progId="Word.Document.12">
                  <p:embed/>
                </p:oleObj>
              </mc:Choice>
              <mc:Fallback>
                <p:oleObj name="Document" r:id="rId6" imgW="2613696" imgH="180977" progId="Word.Document.12">
                  <p:embed/>
                  <p:pic>
                    <p:nvPicPr>
                      <p:cNvPr id="665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044" y="5518150"/>
                        <a:ext cx="6096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600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Kirchhoff's Voltage Law(KVL)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104185" y="1501976"/>
            <a:ext cx="685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508384"/>
              </p:ext>
            </p:extLst>
          </p:nvPr>
        </p:nvGraphicFramePr>
        <p:xfrm>
          <a:off x="2005577" y="1411709"/>
          <a:ext cx="480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146115" imgH="175570" progId="Word.Document.12">
                  <p:embed/>
                </p:oleObj>
              </mc:Choice>
              <mc:Fallback>
                <p:oleObj name="Document" r:id="rId2" imgW="2146115" imgH="175570" progId="Word.Document.12">
                  <p:embed/>
                  <p:pic>
                    <p:nvPicPr>
                      <p:cNvPr id="67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577" y="1411709"/>
                        <a:ext cx="4800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028241"/>
              </p:ext>
            </p:extLst>
          </p:nvPr>
        </p:nvGraphicFramePr>
        <p:xfrm>
          <a:off x="1129541" y="1665222"/>
          <a:ext cx="6934200" cy="2582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197172" imgH="1707060" progId="Visio.Drawing.11">
                  <p:embed/>
                </p:oleObj>
              </mc:Choice>
              <mc:Fallback>
                <p:oleObj name="Visio" r:id="rId4" imgW="5197172" imgH="1707060" progId="Visio.Drawing.11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541" y="1665222"/>
                        <a:ext cx="6934200" cy="2582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H="1">
            <a:off x="4253477" y="338184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264859"/>
              </p:ext>
            </p:extLst>
          </p:nvPr>
        </p:nvGraphicFramePr>
        <p:xfrm>
          <a:off x="4437253" y="3016200"/>
          <a:ext cx="2857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245" imgH="419637" progId="Equation.3">
                  <p:embed/>
                </p:oleObj>
              </mc:Choice>
              <mc:Fallback>
                <p:oleObj name="Equation" r:id="rId6" imgW="286245" imgH="419637" progId="Equation.3">
                  <p:embed/>
                  <p:pic>
                    <p:nvPicPr>
                      <p:cNvPr id="665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253" y="3016200"/>
                        <a:ext cx="2857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885266" y="4182049"/>
            <a:ext cx="39276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 KVL to loop </a:t>
            </a:r>
            <a:r>
              <a:rPr lang="en-US" sz="2800" dirty="0" err="1">
                <a:solidFill>
                  <a:srgbClr val="0000FF"/>
                </a:solidFill>
              </a:rPr>
              <a:t>abcda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397938"/>
              </p:ext>
            </p:extLst>
          </p:nvPr>
        </p:nvGraphicFramePr>
        <p:xfrm>
          <a:off x="4835347" y="4228581"/>
          <a:ext cx="3219450" cy="42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466681" imgH="176292" progId="Word.Document.12">
                  <p:embed/>
                </p:oleObj>
              </mc:Choice>
              <mc:Fallback>
                <p:oleObj name="Document" r:id="rId8" imgW="1466681" imgH="176292" progId="Word.Document.12">
                  <p:embed/>
                  <p:pic>
                    <p:nvPicPr>
                      <p:cNvPr id="675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347" y="4228581"/>
                        <a:ext cx="3219450" cy="426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4101077" y="4679358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607776"/>
              </p:ext>
            </p:extLst>
          </p:nvPr>
        </p:nvGraphicFramePr>
        <p:xfrm>
          <a:off x="4835347" y="4654697"/>
          <a:ext cx="4419600" cy="450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971268" imgH="175570" progId="Word.Document.12">
                  <p:embed/>
                </p:oleObj>
              </mc:Choice>
              <mc:Fallback>
                <p:oleObj name="Document" r:id="rId10" imgW="1971268" imgH="175570" progId="Word.Document.12">
                  <p:embed/>
                  <p:pic>
                    <p:nvPicPr>
                      <p:cNvPr id="675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347" y="4654697"/>
                        <a:ext cx="4419600" cy="450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1013119" y="4958247"/>
            <a:ext cx="38619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 KVL to loop </a:t>
            </a:r>
            <a:r>
              <a:rPr lang="en-US" sz="2800" dirty="0" err="1">
                <a:solidFill>
                  <a:srgbClr val="0000FF"/>
                </a:solidFill>
              </a:rPr>
              <a:t>ghfeg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035579"/>
              </p:ext>
            </p:extLst>
          </p:nvPr>
        </p:nvGraphicFramePr>
        <p:xfrm>
          <a:off x="4927600" y="4998116"/>
          <a:ext cx="3810000" cy="483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1659787" imgH="180977" progId="Word.Document.12">
                  <p:embed/>
                </p:oleObj>
              </mc:Choice>
              <mc:Fallback>
                <p:oleObj name="Document" r:id="rId12" imgW="1659787" imgH="180977" progId="Word.Document.12">
                  <p:embed/>
                  <p:pic>
                    <p:nvPicPr>
                      <p:cNvPr id="67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4998116"/>
                        <a:ext cx="3810000" cy="483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259766"/>
              </p:ext>
            </p:extLst>
          </p:nvPr>
        </p:nvGraphicFramePr>
        <p:xfrm>
          <a:off x="4273071" y="5528218"/>
          <a:ext cx="3962400" cy="436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2031834" imgH="175570" progId="Word.Document.12">
                  <p:embed/>
                </p:oleObj>
              </mc:Choice>
              <mc:Fallback>
                <p:oleObj name="Document" r:id="rId14" imgW="2031834" imgH="175570" progId="Word.Document.12">
                  <p:embed/>
                  <p:pic>
                    <p:nvPicPr>
                      <p:cNvPr id="675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071" y="5528218"/>
                        <a:ext cx="3962400" cy="436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ight Arrow 17"/>
          <p:cNvSpPr/>
          <p:nvPr/>
        </p:nvSpPr>
        <p:spPr>
          <a:xfrm>
            <a:off x="4203344" y="5545635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Kirchhoff's Voltage Law(KVL) 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srgbClr val="0000FF"/>
                </a:solidFill>
                <a:latin typeface="Calibri"/>
              </a:rPr>
              <a:t>Solving the three equations: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2895600" y="1905000"/>
          <a:ext cx="480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146115" imgH="175570" progId="Word.Document.12">
                  <p:embed/>
                </p:oleObj>
              </mc:Choice>
              <mc:Fallback>
                <p:oleObj name="Document" r:id="rId2" imgW="2146115" imgH="175570" progId="Word.Document.12">
                  <p:embed/>
                  <p:pic>
                    <p:nvPicPr>
                      <p:cNvPr id="686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05000"/>
                        <a:ext cx="4800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3048000" y="2438401"/>
          <a:ext cx="4572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046254" imgH="272187" progId="Word.Document.12">
                  <p:embed/>
                </p:oleObj>
              </mc:Choice>
              <mc:Fallback>
                <p:oleObj name="Document" r:id="rId4" imgW="2046254" imgH="272187" progId="Word.Document.12">
                  <p:embed/>
                  <p:pic>
                    <p:nvPicPr>
                      <p:cNvPr id="686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438401"/>
                        <a:ext cx="4572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2924176" y="3048001"/>
          <a:ext cx="4772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639959" imgH="175570" progId="Word.Document.12">
                  <p:embed/>
                </p:oleObj>
              </mc:Choice>
              <mc:Fallback>
                <p:oleObj name="Document" r:id="rId6" imgW="1639959" imgH="175570" progId="Word.Document.12">
                  <p:embed/>
                  <p:pic>
                    <p:nvPicPr>
                      <p:cNvPr id="686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6" y="3048001"/>
                        <a:ext cx="4772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918754" y="3969407"/>
            <a:ext cx="23231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Simultaneously</a:t>
            </a:r>
            <a:r>
              <a:rPr lang="en-US" dirty="0">
                <a:solidFill>
                  <a:srgbClr val="0000FF"/>
                </a:solidFill>
              </a:rPr>
              <a:t>,</a:t>
            </a: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895600" y="4638676"/>
          <a:ext cx="6400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251024" imgH="175570" progId="Word.Document.12">
                  <p:embed/>
                </p:oleObj>
              </mc:Choice>
              <mc:Fallback>
                <p:oleObj name="Document" r:id="rId8" imgW="2251024" imgH="175570" progId="Word.Document.12">
                  <p:embed/>
                  <p:pic>
                    <p:nvPicPr>
                      <p:cNvPr id="68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638676"/>
                        <a:ext cx="64008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8266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fontAlgn="auto" latinLnBrk="0">
              <a:spcAft>
                <a:spcPts val="0"/>
              </a:spcAft>
              <a:buNone/>
            </a:pPr>
            <a:r>
              <a:rPr kumimoji="0" lang="en-US" kern="1200" dirty="0">
                <a:solidFill>
                  <a:srgbClr val="0000FF"/>
                </a:solidFill>
                <a:latin typeface="+mj-lt"/>
              </a:rPr>
              <a:t>Theorem: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828801"/>
            <a:ext cx="11049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Any linear circuit connected between two terminal can be replaced by a Thevenin’s voltage(V</a:t>
            </a:r>
            <a:r>
              <a:rPr lang="en-US" sz="2800" baseline="-25000" dirty="0"/>
              <a:t>TH</a:t>
            </a:r>
            <a:r>
              <a:rPr lang="en-US" sz="2800" dirty="0"/>
              <a:t>) in series with a Thevenin's resistance (R</a:t>
            </a:r>
            <a:r>
              <a:rPr lang="en-US" sz="2800" baseline="-25000" dirty="0"/>
              <a:t>TH</a:t>
            </a:r>
            <a:r>
              <a:rPr lang="en-US" sz="2800" dirty="0"/>
              <a:t>). </a:t>
            </a:r>
          </a:p>
          <a:p>
            <a:pPr algn="just"/>
            <a:endParaRPr lang="en-US" sz="2800" b="1" dirty="0">
              <a:solidFill>
                <a:srgbClr val="0000FF"/>
              </a:solidFill>
            </a:endParaRP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V</a:t>
            </a:r>
            <a:r>
              <a:rPr lang="en-US" sz="2800" baseline="-25000" dirty="0">
                <a:solidFill>
                  <a:srgbClr val="0000FF"/>
                </a:solidFill>
              </a:rPr>
              <a:t>TH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is the open-circuit voltage across the two terminals</a:t>
            </a:r>
          </a:p>
          <a:p>
            <a:pPr marL="685800" indent="-685800" algn="just"/>
            <a:r>
              <a:rPr lang="en-US" sz="2800" dirty="0">
                <a:solidFill>
                  <a:srgbClr val="0000FF"/>
                </a:solidFill>
              </a:rPr>
              <a:t>R</a:t>
            </a:r>
            <a:r>
              <a:rPr lang="en-US" sz="2800" baseline="-25000" dirty="0">
                <a:solidFill>
                  <a:srgbClr val="0000FF"/>
                </a:solidFill>
              </a:rPr>
              <a:t>TH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is the resistance seen from the two terminals when all sources have been deactivated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676780"/>
              </p:ext>
            </p:extLst>
          </p:nvPr>
        </p:nvGraphicFramePr>
        <p:xfrm>
          <a:off x="1066800" y="4267200"/>
          <a:ext cx="3962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696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7200"/>
                        <a:ext cx="3962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981009"/>
              </p:ext>
            </p:extLst>
          </p:nvPr>
        </p:nvGraphicFramePr>
        <p:xfrm>
          <a:off x="5791200" y="4343400"/>
          <a:ext cx="3124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12557" imgH="1224419" progId="Visio.Drawing.11">
                  <p:embed/>
                </p:oleObj>
              </mc:Choice>
              <mc:Fallback>
                <p:oleObj name="Visio" r:id="rId4" imgW="2112557" imgH="1224419" progId="Visio.Drawing.11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343400"/>
                        <a:ext cx="3124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43961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668000" cy="4692650"/>
          </a:xfrm>
        </p:spPr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To find the current through a resistor in a circuit, the following steps are taken:</a:t>
            </a:r>
          </a:p>
          <a:p>
            <a:pPr marL="514350" lvl="0" indent="-514350" algn="just" fontAlgn="auto" latinLnBrk="0">
              <a:spcAft>
                <a:spcPts val="0"/>
              </a:spcAft>
              <a:buFont typeface="Arial" pitchFamily="34" charset="0"/>
              <a:buAutoNum type="arabicPeriod"/>
            </a:pPr>
            <a:r>
              <a:rPr kumimoji="0" lang="en-US" sz="2800" kern="1200" dirty="0">
                <a:solidFill>
                  <a:prstClr val="black"/>
                </a:solidFill>
              </a:rPr>
              <a:t>Remove the resistor from the circuit and mark the two terminals</a:t>
            </a:r>
            <a:r>
              <a:rPr kumimoji="0" lang="en-US" sz="2800" b="1" kern="1200" dirty="0">
                <a:solidFill>
                  <a:prstClr val="black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003319"/>
              </p:ext>
            </p:extLst>
          </p:nvPr>
        </p:nvGraphicFramePr>
        <p:xfrm>
          <a:off x="2286000" y="2970711"/>
          <a:ext cx="69342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727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70711"/>
                        <a:ext cx="69342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051661"/>
              </p:ext>
            </p:extLst>
          </p:nvPr>
        </p:nvGraphicFramePr>
        <p:xfrm>
          <a:off x="5753100" y="3352800"/>
          <a:ext cx="2057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934805" imgH="479672" progId="Visio.Drawing.11">
                  <p:embed/>
                </p:oleObj>
              </mc:Choice>
              <mc:Fallback>
                <p:oleObj name="Visio" r:id="rId4" imgW="934805" imgH="479672" progId="Visio.Drawing.11">
                  <p:embed/>
                  <p:pic>
                    <p:nvPicPr>
                      <p:cNvPr id="72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3352800"/>
                        <a:ext cx="2057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412513"/>
              </p:ext>
            </p:extLst>
          </p:nvPr>
        </p:nvGraphicFramePr>
        <p:xfrm>
          <a:off x="5768340" y="3576637"/>
          <a:ext cx="7508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34997" imgH="233223" progId="Visio.Drawing.11">
                  <p:embed/>
                </p:oleObj>
              </mc:Choice>
              <mc:Fallback>
                <p:oleObj name="Visio" r:id="rId6" imgW="334997" imgH="233223" progId="Visio.Drawing.11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340" y="3576637"/>
                        <a:ext cx="7508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7021512" y="3616326"/>
          <a:ext cx="75088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334997" imgH="233223" progId="Visio.Drawing.11">
                  <p:embed/>
                </p:oleObj>
              </mc:Choice>
              <mc:Fallback>
                <p:oleObj name="Visio" r:id="rId8" imgW="334997" imgH="233223" progId="Visio.Drawing.11">
                  <p:embed/>
                  <p:pic>
                    <p:nvPicPr>
                      <p:cNvPr id="72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2" y="3616326"/>
                        <a:ext cx="75088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092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231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2. </a:t>
            </a:r>
            <a:r>
              <a:rPr lang="en-US" sz="2800" dirty="0"/>
              <a:t>Find the open-circuit voltage (V</a:t>
            </a:r>
            <a:r>
              <a:rPr lang="en-US" sz="2800" baseline="-25000" dirty="0"/>
              <a:t>TH</a:t>
            </a:r>
            <a:r>
              <a:rPr lang="en-US" sz="2800" dirty="0"/>
              <a:t>) across the two terminals by  applying KVL. Treat V</a:t>
            </a:r>
            <a:r>
              <a:rPr lang="en-US" sz="2800" baseline="-25000" dirty="0"/>
              <a:t>TH</a:t>
            </a:r>
            <a:r>
              <a:rPr lang="en-US" sz="2800" dirty="0"/>
              <a:t> as a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010800"/>
              </p:ext>
            </p:extLst>
          </p:nvPr>
        </p:nvGraphicFramePr>
        <p:xfrm>
          <a:off x="1600381" y="2546350"/>
          <a:ext cx="78486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73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381" y="2546350"/>
                        <a:ext cx="78486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 rot="10800000">
            <a:off x="6324600" y="35814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843968"/>
              </p:ext>
            </p:extLst>
          </p:nvPr>
        </p:nvGraphicFramePr>
        <p:xfrm>
          <a:off x="6324600" y="3725726"/>
          <a:ext cx="8175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62383" imgH="239431" progId="Visio.Drawing.11">
                  <p:embed/>
                </p:oleObj>
              </mc:Choice>
              <mc:Fallback>
                <p:oleObj name="Visio" r:id="rId4" imgW="262383" imgH="239431" progId="Visio.Drawing.11">
                  <p:embed/>
                  <p:pic>
                    <p:nvPicPr>
                      <p:cNvPr id="73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725726"/>
                        <a:ext cx="817562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429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 fontAlgn="auto" latinLnBrk="0">
              <a:spcAft>
                <a:spcPts val="0"/>
              </a:spcAft>
              <a:buNone/>
            </a:pPr>
            <a:r>
              <a:rPr kumimoji="0" lang="en-US" sz="2800" b="1" kern="1200" dirty="0">
                <a:solidFill>
                  <a:prstClr val="black"/>
                </a:solidFill>
                <a:latin typeface="Calibri"/>
              </a:rPr>
              <a:t>3.</a:t>
            </a:r>
            <a:r>
              <a:rPr lang="en-US" sz="2800" b="1" dirty="0"/>
              <a:t> </a:t>
            </a:r>
            <a:r>
              <a:rPr lang="en-US" sz="2800" dirty="0"/>
              <a:t>Recall the circuit created before step 2 and deactivate all sources. Short-circuit voltage sources and Open-circuit current sources.</a:t>
            </a:r>
          </a:p>
          <a:p>
            <a:pPr marL="514350" lvl="0" indent="-514350" algn="just" fontAlgn="auto" latinLnBrk="0">
              <a:spcAft>
                <a:spcPts val="0"/>
              </a:spcAft>
              <a:buNone/>
            </a:pPr>
            <a:r>
              <a:rPr kumimoji="0" lang="en-US" sz="2800" b="1" kern="1200" dirty="0">
                <a:solidFill>
                  <a:prstClr val="black"/>
                </a:solidFill>
                <a:latin typeface="Calibri"/>
              </a:rPr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166974"/>
              </p:ext>
            </p:extLst>
          </p:nvPr>
        </p:nvGraphicFramePr>
        <p:xfrm>
          <a:off x="1905000" y="2035175"/>
          <a:ext cx="78486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71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35175"/>
                        <a:ext cx="78486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432004"/>
              </p:ext>
            </p:extLst>
          </p:nvPr>
        </p:nvGraphicFramePr>
        <p:xfrm>
          <a:off x="2514600" y="3749675"/>
          <a:ext cx="11890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97353" imgH="397342" progId="Visio.Drawing.11">
                  <p:embed/>
                </p:oleObj>
              </mc:Choice>
              <mc:Fallback>
                <p:oleObj name="Visio" r:id="rId4" imgW="397353" imgH="397342" progId="Visio.Drawing.11">
                  <p:embed/>
                  <p:pic>
                    <p:nvPicPr>
                      <p:cNvPr id="71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49675"/>
                        <a:ext cx="11890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960659"/>
              </p:ext>
            </p:extLst>
          </p:nvPr>
        </p:nvGraphicFramePr>
        <p:xfrm>
          <a:off x="7924800" y="3657600"/>
          <a:ext cx="11890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97353" imgH="397342" progId="Visio.Drawing.11">
                  <p:embed/>
                </p:oleObj>
              </mc:Choice>
              <mc:Fallback>
                <p:oleObj name="Visio" r:id="rId6" imgW="397353" imgH="397342" progId="Visio.Drawing.11">
                  <p:embed/>
                  <p:pic>
                    <p:nvPicPr>
                      <p:cNvPr id="71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657600"/>
                        <a:ext cx="11890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335660"/>
              </p:ext>
            </p:extLst>
          </p:nvPr>
        </p:nvGraphicFramePr>
        <p:xfrm>
          <a:off x="2084546" y="3683726"/>
          <a:ext cx="10398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553919" imgH="234302" progId="Visio.Drawing.11">
                  <p:embed/>
                </p:oleObj>
              </mc:Choice>
              <mc:Fallback>
                <p:oleObj name="Visio" r:id="rId7" imgW="553919" imgH="234302" progId="Visio.Drawing.11">
                  <p:embed/>
                  <p:pic>
                    <p:nvPicPr>
                      <p:cNvPr id="716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546" y="3683726"/>
                        <a:ext cx="1039812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074268"/>
              </p:ext>
            </p:extLst>
          </p:nvPr>
        </p:nvGraphicFramePr>
        <p:xfrm>
          <a:off x="8028146" y="3036026"/>
          <a:ext cx="1905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228501" imgH="390324" progId="Visio.Drawing.11">
                  <p:embed/>
                </p:oleObj>
              </mc:Choice>
              <mc:Fallback>
                <p:oleObj name="Visio" r:id="rId9" imgW="1228501" imgH="390324" progId="Visio.Drawing.11">
                  <p:embed/>
                  <p:pic>
                    <p:nvPicPr>
                      <p:cNvPr id="716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146" y="3036026"/>
                        <a:ext cx="1905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403947"/>
              </p:ext>
            </p:extLst>
          </p:nvPr>
        </p:nvGraphicFramePr>
        <p:xfrm>
          <a:off x="3102904" y="3452018"/>
          <a:ext cx="5715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571735" imgH="931541" progId="Visio.Drawing.11">
                  <p:embed/>
                </p:oleObj>
              </mc:Choice>
              <mc:Fallback>
                <p:oleObj name="Visio" r:id="rId11" imgW="571735" imgH="931541" progId="Visio.Drawing.11">
                  <p:embed/>
                  <p:pic>
                    <p:nvPicPr>
                      <p:cNvPr id="716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904" y="3452018"/>
                        <a:ext cx="5715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744427"/>
              </p:ext>
            </p:extLst>
          </p:nvPr>
        </p:nvGraphicFramePr>
        <p:xfrm>
          <a:off x="7969590" y="3452018"/>
          <a:ext cx="5715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571735" imgH="931541" progId="Visio.Drawing.11">
                  <p:embed/>
                </p:oleObj>
              </mc:Choice>
              <mc:Fallback>
                <p:oleObj name="Visio" r:id="rId13" imgW="571735" imgH="931541" progId="Visio.Drawing.11">
                  <p:embed/>
                  <p:pic>
                    <p:nvPicPr>
                      <p:cNvPr id="7169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590" y="3452018"/>
                        <a:ext cx="5715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Connector 22"/>
          <p:cNvCxnSpPr/>
          <p:nvPr/>
        </p:nvCxnSpPr>
        <p:spPr>
          <a:xfrm rot="5400000">
            <a:off x="2581184" y="4282281"/>
            <a:ext cx="1066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7985124" y="4113145"/>
            <a:ext cx="1066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76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337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7442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4. </a:t>
            </a:r>
            <a:r>
              <a:rPr lang="en-US" dirty="0"/>
              <a:t>Find the total resistance of the circuit resulting from step 3 </a:t>
            </a:r>
            <a:r>
              <a:rPr lang="en-US" dirty="0">
                <a:solidFill>
                  <a:srgbClr val="0000FF"/>
                </a:solidFill>
              </a:rPr>
              <a:t>as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    seen from</a:t>
            </a:r>
            <a:r>
              <a:rPr lang="en-US" dirty="0"/>
              <a:t> the </a:t>
            </a:r>
            <a:r>
              <a:rPr lang="en-US" dirty="0">
                <a:solidFill>
                  <a:srgbClr val="0000FF"/>
                </a:solidFill>
              </a:rPr>
              <a:t>two terminals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11645"/>
              </p:ext>
            </p:extLst>
          </p:nvPr>
        </p:nvGraphicFramePr>
        <p:xfrm>
          <a:off x="1092200" y="2016125"/>
          <a:ext cx="89154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747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016125"/>
                        <a:ext cx="89154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00" y="2971800"/>
            <a:ext cx="1852612" cy="1309687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12693" y="3094831"/>
            <a:ext cx="1800225" cy="13096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3185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AutoNum type="arabicPeriod" startAt="5"/>
            </a:pPr>
            <a:r>
              <a:rPr lang="en-US" sz="2800" dirty="0"/>
              <a:t>Reproduce the Thevenin’s equivalent circuit and connect the resistor whose current is to be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280084"/>
              </p:ext>
            </p:extLst>
          </p:nvPr>
        </p:nvGraphicFramePr>
        <p:xfrm>
          <a:off x="1752600" y="2035629"/>
          <a:ext cx="67056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12557" imgH="1224419" progId="Visio.Drawing.11">
                  <p:embed/>
                </p:oleObj>
              </mc:Choice>
              <mc:Fallback>
                <p:oleObj name="Visio" r:id="rId2" imgW="2112557" imgH="1224419" progId="Visio.Drawing.11">
                  <p:embed/>
                  <p:pic>
                    <p:nvPicPr>
                      <p:cNvPr id="757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35629"/>
                        <a:ext cx="67056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015851"/>
              </p:ext>
            </p:extLst>
          </p:nvPr>
        </p:nvGraphicFramePr>
        <p:xfrm>
          <a:off x="7467600" y="3005092"/>
          <a:ext cx="144303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43931" imgH="934780" progId="Visio.Drawing.11">
                  <p:embed/>
                </p:oleObj>
              </mc:Choice>
              <mc:Fallback>
                <p:oleObj name="Visio" r:id="rId4" imgW="543931" imgH="934780" progId="Visio.Drawing.11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005092"/>
                        <a:ext cx="1443037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39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sz="2800" dirty="0"/>
              <a:t>Calculate the current in the circuit in step 5. This is the  current being sought for.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305736"/>
              </p:ext>
            </p:extLst>
          </p:nvPr>
        </p:nvGraphicFramePr>
        <p:xfrm>
          <a:off x="1447800" y="1797413"/>
          <a:ext cx="67056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12557" imgH="1224419" progId="Visio.Drawing.11">
                  <p:embed/>
                </p:oleObj>
              </mc:Choice>
              <mc:Fallback>
                <p:oleObj name="Visio" r:id="rId2" imgW="2112557" imgH="1224419" progId="Visio.Drawing.11">
                  <p:embed/>
                  <p:pic>
                    <p:nvPicPr>
                      <p:cNvPr id="757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797413"/>
                        <a:ext cx="67056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>
          <a:xfrm>
            <a:off x="3505200" y="2743200"/>
            <a:ext cx="304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053225"/>
              </p:ext>
            </p:extLst>
          </p:nvPr>
        </p:nvGraphicFramePr>
        <p:xfrm>
          <a:off x="4129088" y="3886200"/>
          <a:ext cx="2473325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914400" progId="Equation.3">
                  <p:embed/>
                </p:oleObj>
              </mc:Choice>
              <mc:Fallback>
                <p:oleObj name="Equation" r:id="rId4" imgW="1574640" imgH="914400" progId="Equation.3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088" y="3886200"/>
                        <a:ext cx="2473325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137246"/>
              </p:ext>
            </p:extLst>
          </p:nvPr>
        </p:nvGraphicFramePr>
        <p:xfrm>
          <a:off x="7086600" y="2780211"/>
          <a:ext cx="144303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43931" imgH="934780" progId="Visio.Drawing.11">
                  <p:embed/>
                </p:oleObj>
              </mc:Choice>
              <mc:Fallback>
                <p:oleObj name="Visio" r:id="rId6" imgW="543931" imgH="934780" progId="Visio.Drawing.11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780211"/>
                        <a:ext cx="1443037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405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156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0000FF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800" dirty="0"/>
              <a:t>Using Thevenin’s theorem, determine the current in the 3-</a:t>
            </a:r>
            <a:r>
              <a:rPr lang="el-GR" sz="2800" dirty="0"/>
              <a:t>Ω</a:t>
            </a:r>
            <a:r>
              <a:rPr lang="en-US" sz="2800" dirty="0"/>
              <a:t> resistor of the circuit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987173"/>
              </p:ext>
            </p:extLst>
          </p:nvPr>
        </p:nvGraphicFramePr>
        <p:xfrm>
          <a:off x="6139543" y="2057400"/>
          <a:ext cx="4876800" cy="237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24566" imgH="1374502" progId="Visio.Drawing.11">
                  <p:embed/>
                </p:oleObj>
              </mc:Choice>
              <mc:Fallback>
                <p:oleObj name="Visio" r:id="rId2" imgW="3124566" imgH="1374502" progId="Visio.Drawing.11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9543" y="2057400"/>
                        <a:ext cx="4876800" cy="237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295400" y="4437062"/>
            <a:ext cx="2209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5400" y="5068232"/>
            <a:ext cx="228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Steps 1 &amp; 2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810487"/>
              </p:ext>
            </p:extLst>
          </p:nvPr>
        </p:nvGraphicFramePr>
        <p:xfrm>
          <a:off x="3073401" y="3735388"/>
          <a:ext cx="4584700" cy="236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518008" imgH="1338061" progId="Visio.Drawing.11">
                  <p:embed/>
                </p:oleObj>
              </mc:Choice>
              <mc:Fallback>
                <p:oleObj name="Visio" r:id="rId4" imgW="2518008" imgH="1338061" progId="Visio.Drawing.11">
                  <p:embed/>
                  <p:pic>
                    <p:nvPicPr>
                      <p:cNvPr id="77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1" y="3735388"/>
                        <a:ext cx="4584700" cy="236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262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654923"/>
              </p:ext>
            </p:extLst>
          </p:nvPr>
        </p:nvGraphicFramePr>
        <p:xfrm>
          <a:off x="4038600" y="1447800"/>
          <a:ext cx="37338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57637" imgH="1216591" progId="Visio.Drawing.11">
                  <p:embed/>
                </p:oleObj>
              </mc:Choice>
              <mc:Fallback>
                <p:oleObj name="Visio" r:id="rId2" imgW="2157637" imgH="1216591" progId="Visio.Drawing.11">
                  <p:embed/>
                  <p:pic>
                    <p:nvPicPr>
                      <p:cNvPr id="77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447800"/>
                        <a:ext cx="37338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148736" y="3733800"/>
            <a:ext cx="4413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dcbed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193158"/>
              </p:ext>
            </p:extLst>
          </p:nvPr>
        </p:nvGraphicFramePr>
        <p:xfrm>
          <a:off x="5486400" y="3802667"/>
          <a:ext cx="2514600" cy="511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221047" imgH="180977" progId="Word.Document.12">
                  <p:embed/>
                </p:oleObj>
              </mc:Choice>
              <mc:Fallback>
                <p:oleObj name="Document" r:id="rId4" imgW="1221047" imgH="180977" progId="Word.Document.12">
                  <p:embed/>
                  <p:pic>
                    <p:nvPicPr>
                      <p:cNvPr id="78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802667"/>
                        <a:ext cx="2514600" cy="511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219200" y="4452610"/>
            <a:ext cx="4648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fabef</a:t>
            </a:r>
            <a:r>
              <a:rPr lang="en-US" sz="2800" dirty="0">
                <a:solidFill>
                  <a:srgbClr val="0000FF"/>
                </a:solidFill>
              </a:rPr>
              <a:t>: 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615279"/>
              </p:ext>
            </p:extLst>
          </p:nvPr>
        </p:nvGraphicFramePr>
        <p:xfrm>
          <a:off x="5568108" y="4591050"/>
          <a:ext cx="1975692" cy="412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2006" imgH="391877" progId="Equation.3">
                  <p:embed/>
                </p:oleObj>
              </mc:Choice>
              <mc:Fallback>
                <p:oleObj name="Equation" r:id="rId6" imgW="2012006" imgH="391877" progId="Equation.3">
                  <p:embed/>
                  <p:pic>
                    <p:nvPicPr>
                      <p:cNvPr id="788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108" y="4591050"/>
                        <a:ext cx="1975692" cy="412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ight Arrow 10"/>
          <p:cNvSpPr/>
          <p:nvPr/>
        </p:nvSpPr>
        <p:spPr>
          <a:xfrm>
            <a:off x="5562600" y="5252710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01068"/>
              </p:ext>
            </p:extLst>
          </p:nvPr>
        </p:nvGraphicFramePr>
        <p:xfrm>
          <a:off x="6400800" y="5073323"/>
          <a:ext cx="8382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8096" imgH="820166" progId="Equation.3">
                  <p:embed/>
                </p:oleObj>
              </mc:Choice>
              <mc:Fallback>
                <p:oleObj name="Equation" r:id="rId8" imgW="1058096" imgH="820166" progId="Equation.3">
                  <p:embed/>
                  <p:pic>
                    <p:nvPicPr>
                      <p:cNvPr id="788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073323"/>
                        <a:ext cx="83820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903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Substituting for 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in equation </a:t>
            </a:r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104153"/>
              </p:ext>
            </p:extLst>
          </p:nvPr>
        </p:nvGraphicFramePr>
        <p:xfrm>
          <a:off x="7848600" y="1629670"/>
          <a:ext cx="2840037" cy="9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64501" imgH="820166" progId="Equation.3">
                  <p:embed/>
                </p:oleObj>
              </mc:Choice>
              <mc:Fallback>
                <p:oleObj name="Equation" r:id="rId2" imgW="2164501" imgH="820166" progId="Equation.3">
                  <p:embed/>
                  <p:pic>
                    <p:nvPicPr>
                      <p:cNvPr id="798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629670"/>
                        <a:ext cx="2840037" cy="9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3265488"/>
            <a:ext cx="17952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Steps 3 &amp; 4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827812"/>
              </p:ext>
            </p:extLst>
          </p:nvPr>
        </p:nvGraphicFramePr>
        <p:xfrm>
          <a:off x="8382000" y="3150507"/>
          <a:ext cx="2168952" cy="507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03040" progId="Equation.DSMT4">
                  <p:embed/>
                </p:oleObj>
              </mc:Choice>
              <mc:Fallback>
                <p:oleObj name="Equation" r:id="rId4" imgW="812520" imgH="203040" progId="Equation.DSMT4">
                  <p:embed/>
                  <p:pic>
                    <p:nvPicPr>
                      <p:cNvPr id="79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3150507"/>
                        <a:ext cx="2168952" cy="507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133478"/>
              </p:ext>
            </p:extLst>
          </p:nvPr>
        </p:nvGraphicFramePr>
        <p:xfrm>
          <a:off x="2421616" y="3471182"/>
          <a:ext cx="4572001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134692" imgH="1198235" progId="Visio.Drawing.11">
                  <p:embed/>
                </p:oleObj>
              </mc:Choice>
              <mc:Fallback>
                <p:oleObj name="Visio" r:id="rId6" imgW="2134692" imgH="1198235" progId="Visio.Drawing.11">
                  <p:embed/>
                  <p:pic>
                    <p:nvPicPr>
                      <p:cNvPr id="798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616" y="3471182"/>
                        <a:ext cx="4572001" cy="265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265298"/>
              </p:ext>
            </p:extLst>
          </p:nvPr>
        </p:nvGraphicFramePr>
        <p:xfrm>
          <a:off x="7772400" y="4287487"/>
          <a:ext cx="3048000" cy="79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39208" imgH="820166" progId="Equation.3">
                  <p:embed/>
                </p:oleObj>
              </mc:Choice>
              <mc:Fallback>
                <p:oleObj name="Equation" r:id="rId8" imgW="3739208" imgH="820166" progId="Equation.3">
                  <p:embed/>
                  <p:pic>
                    <p:nvPicPr>
                      <p:cNvPr id="798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287487"/>
                        <a:ext cx="3048000" cy="792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269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Steps 5 &amp; 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307469"/>
              </p:ext>
            </p:extLst>
          </p:nvPr>
        </p:nvGraphicFramePr>
        <p:xfrm>
          <a:off x="2667726" y="1066800"/>
          <a:ext cx="6096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08143" imgH="1258970" progId="Visio.Drawing.11">
                  <p:embed/>
                </p:oleObj>
              </mc:Choice>
              <mc:Fallback>
                <p:oleObj name="Visio" r:id="rId2" imgW="2408143" imgH="1258970" progId="Visio.Drawing.11">
                  <p:embed/>
                  <p:pic>
                    <p:nvPicPr>
                      <p:cNvPr id="809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726" y="1066800"/>
                        <a:ext cx="60960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687713"/>
              </p:ext>
            </p:extLst>
          </p:nvPr>
        </p:nvGraphicFramePr>
        <p:xfrm>
          <a:off x="3810000" y="4848637"/>
          <a:ext cx="4724400" cy="1136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46032" imgH="448117" progId="Word.Document.12">
                  <p:embed/>
                </p:oleObj>
              </mc:Choice>
              <mc:Fallback>
                <p:oleObj name="Document" r:id="rId4" imgW="1946032" imgH="448117" progId="Word.Document.12">
                  <p:embed/>
                  <p:pic>
                    <p:nvPicPr>
                      <p:cNvPr id="809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848637"/>
                        <a:ext cx="4724400" cy="1136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12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334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Example 2</a:t>
            </a:r>
          </a:p>
          <a:p>
            <a:pPr marL="0" indent="0" algn="just">
              <a:buNone/>
            </a:pPr>
            <a:r>
              <a:rPr lang="en-US" dirty="0"/>
              <a:t>Find the current in the 10-</a:t>
            </a:r>
            <a:r>
              <a:rPr lang="el-GR" dirty="0"/>
              <a:t>Ω</a:t>
            </a:r>
            <a:r>
              <a:rPr lang="en-US" dirty="0"/>
              <a:t> resistor of the circuit below using Thevenin’s theorem.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00007"/>
              </p:ext>
            </p:extLst>
          </p:nvPr>
        </p:nvGraphicFramePr>
        <p:xfrm>
          <a:off x="5486400" y="2362200"/>
          <a:ext cx="6019800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15525" imgH="1439527" progId="Visio.Drawing.11">
                  <p:embed/>
                </p:oleObj>
              </mc:Choice>
              <mc:Fallback>
                <p:oleObj name="Visio" r:id="rId2" imgW="4415525" imgH="1439527" progId="Visio.Drawing.11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362200"/>
                        <a:ext cx="6019800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240212" y="4419600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0212" y="5257800"/>
            <a:ext cx="17952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Steps 1 &amp; 2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996526"/>
              </p:ext>
            </p:extLst>
          </p:nvPr>
        </p:nvGraphicFramePr>
        <p:xfrm>
          <a:off x="3949700" y="4119860"/>
          <a:ext cx="6172200" cy="197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15525" imgH="1592384" progId="Visio.Drawing.11">
                  <p:embed/>
                </p:oleObj>
              </mc:Choice>
              <mc:Fallback>
                <p:oleObj name="Visio" r:id="rId4" imgW="4415525" imgH="1592384" progId="Visio.Drawing.11">
                  <p:embed/>
                  <p:pic>
                    <p:nvPicPr>
                      <p:cNvPr id="819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4119860"/>
                        <a:ext cx="6172200" cy="1976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746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7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309777"/>
              </p:ext>
            </p:extLst>
          </p:nvPr>
        </p:nvGraphicFramePr>
        <p:xfrm>
          <a:off x="3084513" y="1197269"/>
          <a:ext cx="5449887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10024" imgH="1586400" progId="Visio.Drawing.11">
                  <p:embed/>
                </p:oleObj>
              </mc:Choice>
              <mc:Fallback>
                <p:oleObj name="Visio" r:id="rId2" imgW="4410024" imgH="1586400" progId="Visio.Drawing.11">
                  <p:embed/>
                  <p:pic>
                    <p:nvPicPr>
                      <p:cNvPr id="819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1197269"/>
                        <a:ext cx="5449887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477277" y="3493371"/>
            <a:ext cx="4275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cbgfc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834191"/>
              </p:ext>
            </p:extLst>
          </p:nvPr>
        </p:nvGraphicFramePr>
        <p:xfrm>
          <a:off x="6093465" y="3502913"/>
          <a:ext cx="2209800" cy="513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135246" imgH="180977" progId="Word.Document.12">
                  <p:embed/>
                </p:oleObj>
              </mc:Choice>
              <mc:Fallback>
                <p:oleObj name="Document" r:id="rId4" imgW="1135246" imgH="180977" progId="Word.Document.12">
                  <p:embed/>
                  <p:pic>
                    <p:nvPicPr>
                      <p:cNvPr id="829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65" y="3502913"/>
                        <a:ext cx="2209800" cy="513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416362" y="4278202"/>
            <a:ext cx="43364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abgha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324486"/>
              </p:ext>
            </p:extLst>
          </p:nvPr>
        </p:nvGraphicFramePr>
        <p:xfrm>
          <a:off x="5981406" y="4315122"/>
          <a:ext cx="1981200" cy="4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91680" imgH="180977" progId="Word.Document.12">
                  <p:embed/>
                </p:oleObj>
              </mc:Choice>
              <mc:Fallback>
                <p:oleObj name="Document" r:id="rId6" imgW="791680" imgH="180977" progId="Word.Document.12">
                  <p:embed/>
                  <p:pic>
                    <p:nvPicPr>
                      <p:cNvPr id="82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406" y="4315122"/>
                        <a:ext cx="1981200" cy="48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ight Arrow 11"/>
          <p:cNvSpPr/>
          <p:nvPr/>
        </p:nvSpPr>
        <p:spPr>
          <a:xfrm>
            <a:off x="8034005" y="4539812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445470"/>
              </p:ext>
            </p:extLst>
          </p:nvPr>
        </p:nvGraphicFramePr>
        <p:xfrm>
          <a:off x="8757882" y="4128001"/>
          <a:ext cx="1295400" cy="748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6499" imgH="820166" progId="Equation.3">
                  <p:embed/>
                </p:oleObj>
              </mc:Choice>
              <mc:Fallback>
                <p:oleObj name="Equation" r:id="rId8" imgW="1116499" imgH="820166" progId="Equation.3">
                  <p:embed/>
                  <p:pic>
                    <p:nvPicPr>
                      <p:cNvPr id="829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7882" y="4128001"/>
                        <a:ext cx="1295400" cy="748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1517897" y="5008323"/>
            <a:ext cx="42915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dcfed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  <a:endParaRPr lang="en-US" sz="2800" dirty="0"/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148801"/>
              </p:ext>
            </p:extLst>
          </p:nvPr>
        </p:nvGraphicFramePr>
        <p:xfrm>
          <a:off x="6090905" y="5036243"/>
          <a:ext cx="2133600" cy="39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7363" imgH="419637" progId="Equation.3">
                  <p:embed/>
                </p:oleObj>
              </mc:Choice>
              <mc:Fallback>
                <p:oleObj name="Equation" r:id="rId10" imgW="1897363" imgH="419637" progId="Equation.3">
                  <p:embed/>
                  <p:pic>
                    <p:nvPicPr>
                      <p:cNvPr id="829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905" y="5036243"/>
                        <a:ext cx="2133600" cy="391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ight Arrow 15"/>
          <p:cNvSpPr/>
          <p:nvPr/>
        </p:nvSpPr>
        <p:spPr>
          <a:xfrm>
            <a:off x="5175251" y="5738036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224813"/>
              </p:ext>
            </p:extLst>
          </p:nvPr>
        </p:nvGraphicFramePr>
        <p:xfrm>
          <a:off x="6023365" y="5427663"/>
          <a:ext cx="16764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07569" imgH="820166" progId="Equation.3">
                  <p:embed/>
                </p:oleObj>
              </mc:Choice>
              <mc:Fallback>
                <p:oleObj name="Equation" r:id="rId12" imgW="1307569" imgH="820166" progId="Equation.3">
                  <p:embed/>
                  <p:pic>
                    <p:nvPicPr>
                      <p:cNvPr id="829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365" y="5427663"/>
                        <a:ext cx="16764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996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 animBg="1"/>
      <p:bldP spid="14" grpId="0"/>
      <p:bldP spid="1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Substituting for I</a:t>
            </a:r>
            <a:r>
              <a:rPr lang="en-US" baseline="-25000" dirty="0">
                <a:solidFill>
                  <a:srgbClr val="0000FF"/>
                </a:solidFill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 and I</a:t>
            </a:r>
            <a:r>
              <a:rPr lang="en-US" baseline="-25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 in equation 1 yields: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4240214" y="1905001"/>
          <a:ext cx="37115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1088" imgH="887582" progId="Equation.3">
                  <p:embed/>
                </p:oleObj>
              </mc:Choice>
              <mc:Fallback>
                <p:oleObj name="Equation" r:id="rId2" imgW="3711088" imgH="887582" progId="Equation.3">
                  <p:embed/>
                  <p:pic>
                    <p:nvPicPr>
                      <p:cNvPr id="839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4" y="1905001"/>
                        <a:ext cx="371157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806827"/>
              </p:ext>
            </p:extLst>
          </p:nvPr>
        </p:nvGraphicFramePr>
        <p:xfrm>
          <a:off x="3276600" y="2645519"/>
          <a:ext cx="61722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10024" imgH="1586400" progId="Visio.Drawing.11">
                  <p:embed/>
                </p:oleObj>
              </mc:Choice>
              <mc:Fallback>
                <p:oleObj name="Visio" r:id="rId4" imgW="4410024" imgH="1586400" progId="Visio.Drawing.11">
                  <p:embed/>
                  <p:pic>
                    <p:nvPicPr>
                      <p:cNvPr id="8397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645519"/>
                        <a:ext cx="61722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200060" y="3565009"/>
            <a:ext cx="17952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Steps 3 &amp; 4</a:t>
            </a: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606032"/>
              </p:ext>
            </p:extLst>
          </p:nvPr>
        </p:nvGraphicFramePr>
        <p:xfrm>
          <a:off x="3871119" y="5072434"/>
          <a:ext cx="49831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81200" imgH="825480" progId="Equation.3">
                  <p:embed/>
                </p:oleObj>
              </mc:Choice>
              <mc:Fallback>
                <p:oleObj name="Equation" r:id="rId6" imgW="4381200" imgH="825480" progId="Equation.3">
                  <p:embed/>
                  <p:pic>
                    <p:nvPicPr>
                      <p:cNvPr id="839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119" y="5072434"/>
                        <a:ext cx="49831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889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Thevenin’s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Steps 5 &amp; 6</a:t>
            </a:r>
            <a:endParaRPr lang="en-US" sz="14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339170"/>
              </p:ext>
            </p:extLst>
          </p:nvPr>
        </p:nvGraphicFramePr>
        <p:xfrm>
          <a:off x="3022600" y="1524000"/>
          <a:ext cx="57150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40370" imgH="1414992" progId="Visio.Drawing.11">
                  <p:embed/>
                </p:oleObj>
              </mc:Choice>
              <mc:Fallback>
                <p:oleObj name="Visio" r:id="rId2" imgW="3240370" imgH="1414992" progId="Visio.Drawing.11">
                  <p:embed/>
                  <p:pic>
                    <p:nvPicPr>
                      <p:cNvPr id="849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1524000"/>
                        <a:ext cx="57150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007325"/>
              </p:ext>
            </p:extLst>
          </p:nvPr>
        </p:nvGraphicFramePr>
        <p:xfrm>
          <a:off x="3009537" y="4381500"/>
          <a:ext cx="66294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43147" imgH="651807" progId="Word.Document.12">
                  <p:embed/>
                </p:oleObj>
              </mc:Choice>
              <mc:Fallback>
                <p:oleObj name="Document" r:id="rId4" imgW="3243147" imgH="651807" progId="Word.Document.12">
                  <p:embed/>
                  <p:pic>
                    <p:nvPicPr>
                      <p:cNvPr id="849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537" y="4381500"/>
                        <a:ext cx="66294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4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Group Assignment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Thevenin’s theorem to find the current in the 5</a:t>
            </a:r>
            <a:r>
              <a:rPr lang="el-GR" dirty="0"/>
              <a:t>Ω</a:t>
            </a:r>
            <a:r>
              <a:rPr lang="en-US" dirty="0"/>
              <a:t> resistor of the circuit below.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209801" y="2133601"/>
          <a:ext cx="6489701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07925" imgH="1706666" progId="Visio.Drawing.11">
                  <p:embed/>
                </p:oleObj>
              </mc:Choice>
              <mc:Fallback>
                <p:oleObj name="Visio" r:id="rId2" imgW="5207925" imgH="1706666" progId="Visio.Drawing.11">
                  <p:embed/>
                  <p:pic>
                    <p:nvPicPr>
                      <p:cNvPr id="880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2133601"/>
                        <a:ext cx="6489701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3401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156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0000FF"/>
                </a:solidFill>
              </a:rPr>
              <a:t>Theorem:</a:t>
            </a:r>
          </a:p>
          <a:p>
            <a:pPr marL="0" indent="0" algn="just">
              <a:buNone/>
            </a:pPr>
            <a:r>
              <a:rPr lang="en-US" sz="2800" dirty="0"/>
              <a:t>Any linear circuit connected between two terminals can be replaced by a Norton’s current(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/>
              <a:t>) in parallel with a Norton's resistance (R</a:t>
            </a:r>
            <a:r>
              <a:rPr lang="en-US" sz="2800" baseline="-25000" dirty="0"/>
              <a:t>N</a:t>
            </a:r>
            <a:r>
              <a:rPr lang="en-US" sz="2800" dirty="0"/>
              <a:t>).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R</a:t>
            </a:r>
            <a:r>
              <a:rPr lang="en-US" sz="2800" baseline="-25000" dirty="0">
                <a:solidFill>
                  <a:srgbClr val="0000FF"/>
                </a:solidFill>
              </a:rPr>
              <a:t>N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is the resistance seen from the two terminals when all sources have been deactivated</a:t>
            </a:r>
            <a:r>
              <a:rPr lang="en-US" sz="2800" dirty="0">
                <a:solidFill>
                  <a:srgbClr val="0000FF"/>
                </a:solidFill>
              </a:rPr>
              <a:t> (R</a:t>
            </a:r>
            <a:r>
              <a:rPr lang="en-US" sz="2800" baseline="-25000" dirty="0">
                <a:solidFill>
                  <a:srgbClr val="0000FF"/>
                </a:solidFill>
              </a:rPr>
              <a:t>N </a:t>
            </a:r>
            <a:r>
              <a:rPr lang="en-US" sz="2800" dirty="0">
                <a:solidFill>
                  <a:srgbClr val="0000FF"/>
                </a:solidFill>
              </a:rPr>
              <a:t>= R</a:t>
            </a:r>
            <a:r>
              <a:rPr lang="en-US" sz="2800" baseline="-25000" dirty="0">
                <a:solidFill>
                  <a:srgbClr val="0000FF"/>
                </a:solidFill>
              </a:rPr>
              <a:t>TH</a:t>
            </a:r>
            <a:r>
              <a:rPr lang="en-US" sz="2800" dirty="0">
                <a:solidFill>
                  <a:srgbClr val="0000FF"/>
                </a:solidFill>
              </a:rPr>
              <a:t>)</a:t>
            </a:r>
            <a:endParaRPr lang="en-US" sz="2800" baseline="-25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3820180"/>
            <a:ext cx="79685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I</a:t>
            </a:r>
            <a:r>
              <a:rPr lang="en-US" sz="2800" baseline="-25000" dirty="0">
                <a:solidFill>
                  <a:srgbClr val="0000FF"/>
                </a:solidFill>
              </a:rPr>
              <a:t>N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is the short-circuit current between the two terminals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333435"/>
              </p:ext>
            </p:extLst>
          </p:nvPr>
        </p:nvGraphicFramePr>
        <p:xfrm>
          <a:off x="914400" y="4259040"/>
          <a:ext cx="3962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696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59040"/>
                        <a:ext cx="3962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320596"/>
              </p:ext>
            </p:extLst>
          </p:nvPr>
        </p:nvGraphicFramePr>
        <p:xfrm>
          <a:off x="5486400" y="4459287"/>
          <a:ext cx="36576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47840" imgH="1331738" progId="Visio.Drawing.11">
                  <p:embed/>
                </p:oleObj>
              </mc:Choice>
              <mc:Fallback>
                <p:oleObj name="Visio" r:id="rId4" imgW="2147840" imgH="1331738" progId="Visio.Drawing.11">
                  <p:embed/>
                  <p:pic>
                    <p:nvPicPr>
                      <p:cNvPr id="89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459287"/>
                        <a:ext cx="3657600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052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668000" cy="4692650"/>
          </a:xfrm>
        </p:spPr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To find the current through a resistor in a circuit, the following steps are taken:</a:t>
            </a:r>
          </a:p>
          <a:p>
            <a:pPr marL="514350" lvl="0" indent="-514350" algn="just" fontAlgn="auto" latinLnBrk="0">
              <a:spcAft>
                <a:spcPts val="0"/>
              </a:spcAft>
              <a:buFont typeface="Arial" pitchFamily="34" charset="0"/>
              <a:buAutoNum type="arabicPeriod"/>
            </a:pPr>
            <a:r>
              <a:rPr kumimoji="0" lang="en-US" sz="2800" kern="1200" dirty="0">
                <a:solidFill>
                  <a:prstClr val="black"/>
                </a:solidFill>
              </a:rPr>
              <a:t>Remove the resistor from the circuit and mark the two terminals.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286000" y="2970711"/>
          <a:ext cx="69342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70711"/>
                        <a:ext cx="69342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5753100" y="3352800"/>
          <a:ext cx="2057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934805" imgH="479672" progId="Visio.Drawing.11">
                  <p:embed/>
                </p:oleObj>
              </mc:Choice>
              <mc:Fallback>
                <p:oleObj name="Visio" r:id="rId4" imgW="934805" imgH="479672" progId="Visio.Drawing.11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3352800"/>
                        <a:ext cx="2057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768340" y="3576637"/>
          <a:ext cx="7508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34997" imgH="233223" progId="Visio.Drawing.11">
                  <p:embed/>
                </p:oleObj>
              </mc:Choice>
              <mc:Fallback>
                <p:oleObj name="Visio" r:id="rId6" imgW="334997" imgH="233223" progId="Visio.Drawing.11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340" y="3576637"/>
                        <a:ext cx="7508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7021512" y="3616326"/>
          <a:ext cx="75088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334997" imgH="233223" progId="Visio.Drawing.11">
                  <p:embed/>
                </p:oleObj>
              </mc:Choice>
              <mc:Fallback>
                <p:oleObj name="Visio" r:id="rId8" imgW="334997" imgH="233223" progId="Visio.Drawing.11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2" y="3616326"/>
                        <a:ext cx="75088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18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334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algn="just"/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403350"/>
            <a:ext cx="1059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</a:t>
            </a:r>
            <a:r>
              <a:rPr lang="en-US" dirty="0"/>
              <a:t> </a:t>
            </a:r>
            <a:r>
              <a:rPr lang="en-US" sz="2800" dirty="0"/>
              <a:t>Find the short-circuit current (I</a:t>
            </a:r>
            <a:r>
              <a:rPr lang="en-US" sz="2800" baseline="-25000" dirty="0"/>
              <a:t>N</a:t>
            </a:r>
            <a:r>
              <a:rPr lang="en-US" sz="2800" dirty="0"/>
              <a:t>) through the two terminals by applying KVL</a:t>
            </a:r>
            <a:r>
              <a:rPr lang="en-US" dirty="0"/>
              <a:t>. </a:t>
            </a:r>
          </a:p>
          <a:p>
            <a:endParaRPr lang="en-US" sz="2800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764323"/>
              </p:ext>
            </p:extLst>
          </p:nvPr>
        </p:nvGraphicFramePr>
        <p:xfrm>
          <a:off x="1447800" y="2546350"/>
          <a:ext cx="78486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73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46350"/>
                        <a:ext cx="78486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398679"/>
              </p:ext>
            </p:extLst>
          </p:nvPr>
        </p:nvGraphicFramePr>
        <p:xfrm>
          <a:off x="5981700" y="3152696"/>
          <a:ext cx="12509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71655" imgH="311610" progId="Visio.Drawing.11">
                  <p:embed/>
                </p:oleObj>
              </mc:Choice>
              <mc:Fallback>
                <p:oleObj name="Visio" r:id="rId4" imgW="671655" imgH="311610" progId="Visio.Drawing.11">
                  <p:embed/>
                  <p:pic>
                    <p:nvPicPr>
                      <p:cNvPr id="911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0" y="3152696"/>
                        <a:ext cx="12509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929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 fontAlgn="auto" latinLnBrk="0">
              <a:spcAft>
                <a:spcPts val="0"/>
              </a:spcAft>
              <a:buNone/>
            </a:pPr>
            <a:r>
              <a:rPr kumimoji="0" lang="en-US" sz="2800" kern="1200" dirty="0">
                <a:solidFill>
                  <a:prstClr val="black"/>
                </a:solidFill>
                <a:latin typeface="Calibri"/>
              </a:rPr>
              <a:t>3.</a:t>
            </a:r>
            <a:r>
              <a:rPr lang="en-US" sz="2800" dirty="0"/>
              <a:t> Recall the circuit created before step 2 and deactivate all sources. Short-circuit voltage sources and Open-circuit current sources.</a:t>
            </a:r>
          </a:p>
          <a:p>
            <a:pPr marL="514350" lvl="0" indent="-514350" algn="just" fontAlgn="auto" latinLnBrk="0">
              <a:spcAft>
                <a:spcPts val="0"/>
              </a:spcAft>
              <a:buNone/>
            </a:pPr>
            <a:r>
              <a:rPr kumimoji="0" lang="en-US" sz="2800" b="1" kern="1200" dirty="0">
                <a:solidFill>
                  <a:prstClr val="black"/>
                </a:solidFill>
                <a:latin typeface="Calibri"/>
              </a:rPr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1905000" y="2035175"/>
          <a:ext cx="78486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35175"/>
                        <a:ext cx="78486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2514600" y="3749675"/>
          <a:ext cx="11890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97353" imgH="397342" progId="Visio.Drawing.11">
                  <p:embed/>
                </p:oleObj>
              </mc:Choice>
              <mc:Fallback>
                <p:oleObj name="Visio" r:id="rId4" imgW="397353" imgH="397342" progId="Visio.Drawing.11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49675"/>
                        <a:ext cx="11890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7924800" y="3657600"/>
          <a:ext cx="11890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97353" imgH="397342" progId="Visio.Drawing.11">
                  <p:embed/>
                </p:oleObj>
              </mc:Choice>
              <mc:Fallback>
                <p:oleObj name="Visio" r:id="rId6" imgW="397353" imgH="397342" progId="Visio.Drawing.11">
                  <p:embed/>
                  <p:pic>
                    <p:nvPicPr>
                      <p:cNvPr id="1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657600"/>
                        <a:ext cx="11890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2084546" y="3683726"/>
          <a:ext cx="10398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553919" imgH="234302" progId="Visio.Drawing.11">
                  <p:embed/>
                </p:oleObj>
              </mc:Choice>
              <mc:Fallback>
                <p:oleObj name="Visio" r:id="rId7" imgW="553919" imgH="234302" progId="Visio.Drawing.11">
                  <p:embed/>
                  <p:pic>
                    <p:nvPicPr>
                      <p:cNvPr id="1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546" y="3683726"/>
                        <a:ext cx="1039812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8028146" y="3036026"/>
          <a:ext cx="1905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228501" imgH="390324" progId="Visio.Drawing.11">
                  <p:embed/>
                </p:oleObj>
              </mc:Choice>
              <mc:Fallback>
                <p:oleObj name="Visio" r:id="rId9" imgW="1228501" imgH="390324" progId="Visio.Drawing.11">
                  <p:embed/>
                  <p:pic>
                    <p:nvPicPr>
                      <p:cNvPr id="1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146" y="3036026"/>
                        <a:ext cx="1905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3102904" y="3452018"/>
          <a:ext cx="5715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571735" imgH="931541" progId="Visio.Drawing.11">
                  <p:embed/>
                </p:oleObj>
              </mc:Choice>
              <mc:Fallback>
                <p:oleObj name="Visio" r:id="rId11" imgW="571735" imgH="931541" progId="Visio.Drawing.11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904" y="3452018"/>
                        <a:ext cx="5715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7969590" y="3452018"/>
          <a:ext cx="5715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571735" imgH="931541" progId="Visio.Drawing.11">
                  <p:embed/>
                </p:oleObj>
              </mc:Choice>
              <mc:Fallback>
                <p:oleObj name="Visio" r:id="rId13" imgW="571735" imgH="931541" progId="Visio.Drawing.11">
                  <p:embed/>
                  <p:pic>
                    <p:nvPicPr>
                      <p:cNvPr id="2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590" y="3452018"/>
                        <a:ext cx="5715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Connector 22"/>
          <p:cNvCxnSpPr/>
          <p:nvPr/>
        </p:nvCxnSpPr>
        <p:spPr>
          <a:xfrm rot="5400000">
            <a:off x="2581184" y="4282281"/>
            <a:ext cx="1066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7985124" y="4113145"/>
            <a:ext cx="1066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89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337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7442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4. Find the total resistance of the circuit resulting from step 3 </a:t>
            </a:r>
            <a:r>
              <a:rPr lang="en-US" dirty="0">
                <a:solidFill>
                  <a:srgbClr val="0000FF"/>
                </a:solidFill>
              </a:rPr>
              <a:t>as   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    seen from</a:t>
            </a:r>
            <a:r>
              <a:rPr lang="en-US" dirty="0"/>
              <a:t> the </a:t>
            </a:r>
            <a:r>
              <a:rPr lang="en-US" dirty="0">
                <a:solidFill>
                  <a:srgbClr val="0000FF"/>
                </a:solidFill>
              </a:rPr>
              <a:t>two terminals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092200" y="2016125"/>
          <a:ext cx="89154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016125"/>
                        <a:ext cx="89154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00" y="2971800"/>
            <a:ext cx="1852612" cy="1309687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12693" y="3094831"/>
            <a:ext cx="1800225" cy="13096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25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 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668000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5. Reproduce the Norton’s equivalent circuit and connect the resistor whose current is to be found.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133600" y="2590800"/>
          <a:ext cx="59436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47840" imgH="1331738" progId="Visio.Drawing.11">
                  <p:embed/>
                </p:oleObj>
              </mc:Choice>
              <mc:Fallback>
                <p:oleObj name="Visio" r:id="rId2" imgW="2147840" imgH="1331738" progId="Visio.Drawing.11">
                  <p:embed/>
                  <p:pic>
                    <p:nvPicPr>
                      <p:cNvPr id="942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90800"/>
                        <a:ext cx="59436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7162801" y="2819400"/>
          <a:ext cx="144303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43931" imgH="934780" progId="Visio.Drawing.11">
                  <p:embed/>
                </p:oleObj>
              </mc:Choice>
              <mc:Fallback>
                <p:oleObj name="Visio" r:id="rId4" imgW="543931" imgH="934780" progId="Visio.Drawing.11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2819400"/>
                        <a:ext cx="1443037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598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134600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6. Calculate the current in the circuit in step 5. This is the current being sought for.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52600" y="2514600"/>
          <a:ext cx="59436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47840" imgH="1331738" progId="Visio.Drawing.11">
                  <p:embed/>
                </p:oleObj>
              </mc:Choice>
              <mc:Fallback>
                <p:oleObj name="Visio" r:id="rId2" imgW="2147840" imgH="1331738" progId="Visio.Drawing.11">
                  <p:embed/>
                  <p:pic>
                    <p:nvPicPr>
                      <p:cNvPr id="942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14600"/>
                        <a:ext cx="59436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>
          <a:xfrm>
            <a:off x="6019800" y="2667000"/>
            <a:ext cx="304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19801" y="2209800"/>
            <a:ext cx="5783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I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6786564" y="2743200"/>
          <a:ext cx="144303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43931" imgH="934780" progId="Visio.Drawing.11">
                  <p:embed/>
                </p:oleObj>
              </mc:Choice>
              <mc:Fallback>
                <p:oleObj name="Visio" r:id="rId4" imgW="543931" imgH="934780" progId="Visio.Drawing.11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4" y="2743200"/>
                        <a:ext cx="1443037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853512"/>
              </p:ext>
            </p:extLst>
          </p:nvPr>
        </p:nvGraphicFramePr>
        <p:xfrm>
          <a:off x="8229601" y="4305300"/>
          <a:ext cx="263366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431640" progId="Equation.3">
                  <p:embed/>
                </p:oleObj>
              </mc:Choice>
              <mc:Fallback>
                <p:oleObj name="Equation" r:id="rId6" imgW="914400" imgH="431640" progId="Equation.3">
                  <p:embed/>
                  <p:pic>
                    <p:nvPicPr>
                      <p:cNvPr id="962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1" y="4305300"/>
                        <a:ext cx="263366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748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0000FF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800" dirty="0"/>
              <a:t>Using Norton’s theorem, determine the current in the 3-</a:t>
            </a:r>
            <a:r>
              <a:rPr lang="el-GR" sz="2800" dirty="0"/>
              <a:t>Ω</a:t>
            </a:r>
            <a:r>
              <a:rPr lang="en-US" sz="2800" dirty="0"/>
              <a:t> resistor of the circuit below.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sz="2800" dirty="0"/>
              <a:t>Steps 1 &amp; 2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72772"/>
              </p:ext>
            </p:extLst>
          </p:nvPr>
        </p:nvGraphicFramePr>
        <p:xfrm>
          <a:off x="7292534" y="2237186"/>
          <a:ext cx="4230908" cy="206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24566" imgH="1374502" progId="Visio.Drawing.11">
                  <p:embed/>
                </p:oleObj>
              </mc:Choice>
              <mc:Fallback>
                <p:oleObj name="Visio" r:id="rId2" imgW="3124566" imgH="1374502" progId="Visio.Drawing.11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534" y="2237186"/>
                        <a:ext cx="4230908" cy="206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993978" y="4516582"/>
            <a:ext cx="14462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Solution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635109"/>
              </p:ext>
            </p:extLst>
          </p:nvPr>
        </p:nvGraphicFramePr>
        <p:xfrm>
          <a:off x="2856596" y="3936258"/>
          <a:ext cx="6135004" cy="2159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517743" imgH="1338167" progId="Visio.Drawing.11">
                  <p:embed/>
                </p:oleObj>
              </mc:Choice>
              <mc:Fallback>
                <p:oleObj name="Visio" r:id="rId4" imgW="2517743" imgH="1338167" progId="Visio.Drawing.11">
                  <p:embed/>
                  <p:pic>
                    <p:nvPicPr>
                      <p:cNvPr id="77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6596" y="3936258"/>
                        <a:ext cx="6135004" cy="2159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72122"/>
              </p:ext>
            </p:extLst>
          </p:nvPr>
        </p:nvGraphicFramePr>
        <p:xfrm>
          <a:off x="5715000" y="4154632"/>
          <a:ext cx="121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92620" imgH="510064" progId="Visio.Drawing.11">
                  <p:embed/>
                </p:oleObj>
              </mc:Choice>
              <mc:Fallback>
                <p:oleObj name="Visio" r:id="rId6" imgW="392620" imgH="510064" progId="Visio.Drawing.11">
                  <p:embed/>
                  <p:pic>
                    <p:nvPicPr>
                      <p:cNvPr id="972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154632"/>
                        <a:ext cx="1219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340913"/>
              </p:ext>
            </p:extLst>
          </p:nvPr>
        </p:nvGraphicFramePr>
        <p:xfrm>
          <a:off x="6360892" y="4111625"/>
          <a:ext cx="1600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671655" imgH="311610" progId="Visio.Drawing.11">
                  <p:embed/>
                </p:oleObj>
              </mc:Choice>
              <mc:Fallback>
                <p:oleObj name="Visio" r:id="rId8" imgW="671655" imgH="311610" progId="Visio.Drawing.11">
                  <p:embed/>
                  <p:pic>
                    <p:nvPicPr>
                      <p:cNvPr id="972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892" y="4111625"/>
                        <a:ext cx="16002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549371"/>
              </p:ext>
            </p:extLst>
          </p:nvPr>
        </p:nvGraphicFramePr>
        <p:xfrm>
          <a:off x="3461327" y="3959081"/>
          <a:ext cx="106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551212" imgH="344614" progId="Visio.Drawing.11">
                  <p:embed/>
                </p:oleObj>
              </mc:Choice>
              <mc:Fallback>
                <p:oleObj name="Visio" r:id="rId10" imgW="551212" imgH="344614" progId="Visio.Drawing.11">
                  <p:embed/>
                  <p:pic>
                    <p:nvPicPr>
                      <p:cNvPr id="972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327" y="3959081"/>
                        <a:ext cx="1066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99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0000FF"/>
                </a:solidFill>
              </a:rPr>
              <a:t> Norton’s Theorem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916044"/>
              </p:ext>
            </p:extLst>
          </p:nvPr>
        </p:nvGraphicFramePr>
        <p:xfrm>
          <a:off x="2905990" y="1042488"/>
          <a:ext cx="5791200" cy="250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18008" imgH="1338061" progId="Visio.Drawing.11">
                  <p:embed/>
                </p:oleObj>
              </mc:Choice>
              <mc:Fallback>
                <p:oleObj name="Visio" r:id="rId2" imgW="2518008" imgH="1338061" progId="Visio.Drawing.11">
                  <p:embed/>
                  <p:pic>
                    <p:nvPicPr>
                      <p:cNvPr id="1013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990" y="1042488"/>
                        <a:ext cx="5791200" cy="2506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508406"/>
              </p:ext>
            </p:extLst>
          </p:nvPr>
        </p:nvGraphicFramePr>
        <p:xfrm>
          <a:off x="6058188" y="1300774"/>
          <a:ext cx="1600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71655" imgH="311610" progId="Visio.Drawing.11">
                  <p:embed/>
                </p:oleObj>
              </mc:Choice>
              <mc:Fallback>
                <p:oleObj name="Visio" r:id="rId4" imgW="671655" imgH="311610" progId="Visio.Drawing.11">
                  <p:embed/>
                  <p:pic>
                    <p:nvPicPr>
                      <p:cNvPr id="1013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8188" y="1300774"/>
                        <a:ext cx="16002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400629"/>
              </p:ext>
            </p:extLst>
          </p:nvPr>
        </p:nvGraphicFramePr>
        <p:xfrm>
          <a:off x="5400387" y="1475185"/>
          <a:ext cx="121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92620" imgH="510064" progId="Visio.Drawing.11">
                  <p:embed/>
                </p:oleObj>
              </mc:Choice>
              <mc:Fallback>
                <p:oleObj name="Visio" r:id="rId6" imgW="392620" imgH="510064" progId="Visio.Drawing.11">
                  <p:embed/>
                  <p:pic>
                    <p:nvPicPr>
                      <p:cNvPr id="1013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387" y="1475185"/>
                        <a:ext cx="1219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777042" y="3888289"/>
            <a:ext cx="4257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abefa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194603"/>
              </p:ext>
            </p:extLst>
          </p:nvPr>
        </p:nvGraphicFramePr>
        <p:xfrm>
          <a:off x="5080000" y="3841037"/>
          <a:ext cx="3657600" cy="506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499292" imgH="175277" progId="Word.Document.12">
                  <p:embed/>
                </p:oleObj>
              </mc:Choice>
              <mc:Fallback>
                <p:oleObj name="Document" r:id="rId8" imgW="1499292" imgH="175277" progId="Word.Document.12">
                  <p:embed/>
                  <p:pic>
                    <p:nvPicPr>
                      <p:cNvPr id="78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3841037"/>
                        <a:ext cx="3657600" cy="506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846101"/>
              </p:ext>
            </p:extLst>
          </p:nvPr>
        </p:nvGraphicFramePr>
        <p:xfrm>
          <a:off x="5226627" y="4411509"/>
          <a:ext cx="2819400" cy="486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221873" imgH="175277" progId="Word.Document.12">
                  <p:embed/>
                </p:oleObj>
              </mc:Choice>
              <mc:Fallback>
                <p:oleObj name="Document" r:id="rId10" imgW="1221873" imgH="175277" progId="Word.Document.12">
                  <p:embed/>
                  <p:pic>
                    <p:nvPicPr>
                      <p:cNvPr id="1013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627" y="4411509"/>
                        <a:ext cx="2819400" cy="486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812744" y="4514527"/>
            <a:ext cx="432842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2800" dirty="0">
              <a:solidFill>
                <a:srgbClr val="0000FF"/>
              </a:solidFill>
            </a:endParaRPr>
          </a:p>
          <a:p>
            <a:r>
              <a:rPr lang="en-US" sz="2800" dirty="0">
                <a:solidFill>
                  <a:srgbClr val="0000FF"/>
                </a:solidFill>
              </a:rPr>
              <a:t>Applying KVL to loop </a:t>
            </a:r>
            <a:r>
              <a:rPr lang="en-US" sz="2800" dirty="0" err="1">
                <a:solidFill>
                  <a:srgbClr val="0000FF"/>
                </a:solidFill>
              </a:rPr>
              <a:t>cbedc</a:t>
            </a:r>
            <a:r>
              <a:rPr lang="en-US" sz="2800" dirty="0">
                <a:solidFill>
                  <a:srgbClr val="0000FF"/>
                </a:solidFill>
              </a:rPr>
              <a:t>:</a:t>
            </a:r>
            <a:endParaRPr lang="en-US" sz="2800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29079"/>
              </p:ext>
            </p:extLst>
          </p:nvPr>
        </p:nvGraphicFramePr>
        <p:xfrm>
          <a:off x="5390285" y="4938172"/>
          <a:ext cx="1828800" cy="42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637984" imgH="175571" progId="Word.Document.12">
                  <p:embed/>
                </p:oleObj>
              </mc:Choice>
              <mc:Fallback>
                <p:oleObj name="Document" r:id="rId12" imgW="637984" imgH="175571" progId="Word.Document.12">
                  <p:embed/>
                  <p:pic>
                    <p:nvPicPr>
                      <p:cNvPr id="1013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285" y="4938172"/>
                        <a:ext cx="1828800" cy="42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ight Arrow 13"/>
          <p:cNvSpPr/>
          <p:nvPr/>
        </p:nvSpPr>
        <p:spPr>
          <a:xfrm>
            <a:off x="4577739" y="5824905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360725"/>
              </p:ext>
            </p:extLst>
          </p:nvPr>
        </p:nvGraphicFramePr>
        <p:xfrm>
          <a:off x="5493327" y="5400945"/>
          <a:ext cx="1524000" cy="771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1320" imgH="393480" progId="Equation.3">
                  <p:embed/>
                </p:oleObj>
              </mc:Choice>
              <mc:Fallback>
                <p:oleObj name="Equation" r:id="rId14" imgW="571320" imgH="393480" progId="Equation.3">
                  <p:embed/>
                  <p:pic>
                    <p:nvPicPr>
                      <p:cNvPr id="788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327" y="5400945"/>
                        <a:ext cx="1524000" cy="771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439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Substituting for </a:t>
            </a:r>
            <a:r>
              <a:rPr lang="en-US" sz="28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solidFill>
                  <a:srgbClr val="0000FF"/>
                </a:solidFill>
              </a:rPr>
              <a:t> in equation </a:t>
            </a:r>
            <a:r>
              <a:rPr lang="en-US" dirty="0"/>
              <a:t>1: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Steps 3 &amp; 4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247146"/>
              </p:ext>
            </p:extLst>
          </p:nvPr>
        </p:nvGraphicFramePr>
        <p:xfrm>
          <a:off x="6013450" y="1403350"/>
          <a:ext cx="337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431640" progId="Equation.3">
                  <p:embed/>
                </p:oleObj>
              </mc:Choice>
              <mc:Fallback>
                <p:oleObj name="Equation" r:id="rId2" imgW="1218960" imgH="431640" progId="Equation.3">
                  <p:embed/>
                  <p:pic>
                    <p:nvPicPr>
                      <p:cNvPr id="993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1403350"/>
                        <a:ext cx="3378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39150"/>
              </p:ext>
            </p:extLst>
          </p:nvPr>
        </p:nvGraphicFramePr>
        <p:xfrm>
          <a:off x="6818312" y="2242127"/>
          <a:ext cx="17684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393480" progId="Equation.3">
                  <p:embed/>
                </p:oleObj>
              </mc:Choice>
              <mc:Fallback>
                <p:oleObj name="Equation" r:id="rId4" imgW="749160" imgH="393480" progId="Equation.3">
                  <p:embed/>
                  <p:pic>
                    <p:nvPicPr>
                      <p:cNvPr id="79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8312" y="2242127"/>
                        <a:ext cx="17684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532111"/>
              </p:ext>
            </p:extLst>
          </p:nvPr>
        </p:nvGraphicFramePr>
        <p:xfrm>
          <a:off x="3200400" y="3181831"/>
          <a:ext cx="4114801" cy="273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458164" imgH="1308164" progId="Visio.Drawing.11">
                  <p:embed/>
                </p:oleObj>
              </mc:Choice>
              <mc:Fallback>
                <p:oleObj name="Visio" r:id="rId6" imgW="2458164" imgH="1308164" progId="Visio.Drawing.11">
                  <p:embed/>
                  <p:pic>
                    <p:nvPicPr>
                      <p:cNvPr id="798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81831"/>
                        <a:ext cx="4114801" cy="2734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379474"/>
              </p:ext>
            </p:extLst>
          </p:nvPr>
        </p:nvGraphicFramePr>
        <p:xfrm>
          <a:off x="7696200" y="4411975"/>
          <a:ext cx="3048000" cy="92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393480" progId="Equation.3">
                  <p:embed/>
                </p:oleObj>
              </mc:Choice>
              <mc:Fallback>
                <p:oleObj name="Equation" r:id="rId8" imgW="1600200" imgH="393480" progId="Equation.3">
                  <p:embed/>
                  <p:pic>
                    <p:nvPicPr>
                      <p:cNvPr id="798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411975"/>
                        <a:ext cx="3048000" cy="927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649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Steps 5 &amp; 6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607311"/>
              </p:ext>
            </p:extLst>
          </p:nvPr>
        </p:nvGraphicFramePr>
        <p:xfrm>
          <a:off x="2286000" y="1524000"/>
          <a:ext cx="59436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02014" imgH="1396032" progId="Visio.Drawing.11">
                  <p:embed/>
                </p:oleObj>
              </mc:Choice>
              <mc:Fallback>
                <p:oleObj name="Visio" r:id="rId2" imgW="2402014" imgH="1396032" progId="Visio.Drawing.11">
                  <p:embed/>
                  <p:pic>
                    <p:nvPicPr>
                      <p:cNvPr id="1003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59436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664197"/>
              </p:ext>
            </p:extLst>
          </p:nvPr>
        </p:nvGraphicFramePr>
        <p:xfrm>
          <a:off x="1905000" y="2682875"/>
          <a:ext cx="10493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393480" progId="Equation.3">
                  <p:embed/>
                </p:oleObj>
              </mc:Choice>
              <mc:Fallback>
                <p:oleObj name="Equation" r:id="rId4" imgW="444240" imgH="393480" progId="Equation.3">
                  <p:embed/>
                  <p:pic>
                    <p:nvPicPr>
                      <p:cNvPr id="1003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82875"/>
                        <a:ext cx="10493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654879"/>
              </p:ext>
            </p:extLst>
          </p:nvPr>
        </p:nvGraphicFramePr>
        <p:xfrm>
          <a:off x="4996439" y="3091656"/>
          <a:ext cx="5286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164880" progId="Equation.3">
                  <p:embed/>
                </p:oleObj>
              </mc:Choice>
              <mc:Fallback>
                <p:oleObj name="Equation" r:id="rId6" imgW="241200" imgH="164880" progId="Equation.3">
                  <p:embed/>
                  <p:pic>
                    <p:nvPicPr>
                      <p:cNvPr id="1003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6439" y="3091656"/>
                        <a:ext cx="52863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117588"/>
              </p:ext>
            </p:extLst>
          </p:nvPr>
        </p:nvGraphicFramePr>
        <p:xfrm>
          <a:off x="5715000" y="1098550"/>
          <a:ext cx="1600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770668" imgH="365188" progId="Visio.Drawing.11">
                  <p:embed/>
                </p:oleObj>
              </mc:Choice>
              <mc:Fallback>
                <p:oleObj name="Visio" r:id="rId8" imgW="770668" imgH="365188" progId="Visio.Drawing.11">
                  <p:embed/>
                  <p:pic>
                    <p:nvPicPr>
                      <p:cNvPr id="1003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098550"/>
                        <a:ext cx="1600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301160"/>
              </p:ext>
            </p:extLst>
          </p:nvPr>
        </p:nvGraphicFramePr>
        <p:xfrm>
          <a:off x="7050881" y="1828800"/>
          <a:ext cx="1443038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543931" imgH="934780" progId="Visio.Drawing.11">
                  <p:embed/>
                </p:oleObj>
              </mc:Choice>
              <mc:Fallback>
                <p:oleObj name="Visio" r:id="rId10" imgW="543931" imgH="934780" progId="Visio.Drawing.11">
                  <p:embed/>
                  <p:pic>
                    <p:nvPicPr>
                      <p:cNvPr id="1003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881" y="1828800"/>
                        <a:ext cx="1443038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627220"/>
              </p:ext>
            </p:extLst>
          </p:nvPr>
        </p:nvGraphicFramePr>
        <p:xfrm>
          <a:off x="3143250" y="4800600"/>
          <a:ext cx="4749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393480" progId="Equation.3">
                  <p:embed/>
                </p:oleObj>
              </mc:Choice>
              <mc:Fallback>
                <p:oleObj name="Equation" r:id="rId12" imgW="1434960" imgH="393480" progId="Equation.3">
                  <p:embed/>
                  <p:pic>
                    <p:nvPicPr>
                      <p:cNvPr id="1003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800600"/>
                        <a:ext cx="4749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776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392" y="647701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Example 2</a:t>
            </a:r>
          </a:p>
          <a:p>
            <a:pPr marL="0" indent="0" algn="just">
              <a:buNone/>
            </a:pPr>
            <a:r>
              <a:rPr lang="en-US" dirty="0"/>
              <a:t>Determine the current in the load resistor R</a:t>
            </a:r>
            <a:r>
              <a:rPr lang="en-US" baseline="-25000" dirty="0"/>
              <a:t>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895636"/>
              </p:ext>
            </p:extLst>
          </p:nvPr>
        </p:nvGraphicFramePr>
        <p:xfrm>
          <a:off x="2209800" y="2438401"/>
          <a:ext cx="57150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38896" imgH="1394746" progId="Visio.Drawing.11">
                  <p:embed/>
                </p:oleObj>
              </mc:Choice>
              <mc:Fallback>
                <p:oleObj name="Visio" r:id="rId2" imgW="3738896" imgH="1394746" progId="Visio.Drawing.11">
                  <p:embed/>
                  <p:pic>
                    <p:nvPicPr>
                      <p:cNvPr id="1024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1"/>
                        <a:ext cx="57150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887878" y="4581525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688711"/>
              </p:ext>
            </p:extLst>
          </p:nvPr>
        </p:nvGraphicFramePr>
        <p:xfrm>
          <a:off x="3429000" y="4301182"/>
          <a:ext cx="5715000" cy="205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38896" imgH="1394746" progId="Visio.Drawing.11">
                  <p:embed/>
                </p:oleObj>
              </mc:Choice>
              <mc:Fallback>
                <p:oleObj name="Visio" r:id="rId4" imgW="3738896" imgH="1394746" progId="Visio.Drawing.11">
                  <p:embed/>
                  <p:pic>
                    <p:nvPicPr>
                      <p:cNvPr id="1024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301182"/>
                        <a:ext cx="5715000" cy="2057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013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095319"/>
              </p:ext>
            </p:extLst>
          </p:nvPr>
        </p:nvGraphicFramePr>
        <p:xfrm>
          <a:off x="3276600" y="1676400"/>
          <a:ext cx="51054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38896" imgH="1394746" progId="Visio.Drawing.11">
                  <p:embed/>
                </p:oleObj>
              </mc:Choice>
              <mc:Fallback>
                <p:oleObj name="Visio" r:id="rId2" imgW="3738896" imgH="1394746" progId="Visio.Drawing.11">
                  <p:embed/>
                  <p:pic>
                    <p:nvPicPr>
                      <p:cNvPr id="1024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676400"/>
                        <a:ext cx="51054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697412" y="3885395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1896" y="4572000"/>
            <a:ext cx="2229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KCL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91531"/>
              </p:ext>
            </p:extLst>
          </p:nvPr>
        </p:nvGraphicFramePr>
        <p:xfrm>
          <a:off x="4114800" y="4476095"/>
          <a:ext cx="29384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28600" progId="Equation.3">
                  <p:embed/>
                </p:oleObj>
              </mc:Choice>
              <mc:Fallback>
                <p:oleObj name="Equation" r:id="rId4" imgW="1244520" imgH="228600" progId="Equation.3">
                  <p:embed/>
                  <p:pic>
                    <p:nvPicPr>
                      <p:cNvPr id="1034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476095"/>
                        <a:ext cx="29384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695168"/>
              </p:ext>
            </p:extLst>
          </p:nvPr>
        </p:nvGraphicFramePr>
        <p:xfrm>
          <a:off x="4417679" y="5022695"/>
          <a:ext cx="31892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431640" progId="Equation.3">
                  <p:embed/>
                </p:oleObj>
              </mc:Choice>
              <mc:Fallback>
                <p:oleObj name="Equation" r:id="rId6" imgW="1295280" imgH="431640" progId="Equation.3">
                  <p:embed/>
                  <p:pic>
                    <p:nvPicPr>
                      <p:cNvPr id="1034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679" y="5022695"/>
                        <a:ext cx="31892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938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Finding R</a:t>
            </a:r>
            <a:r>
              <a:rPr lang="en-US" baseline="-25000" dirty="0">
                <a:solidFill>
                  <a:srgbClr val="0000FF"/>
                </a:solidFill>
              </a:rPr>
              <a:t>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443625"/>
              </p:ext>
            </p:extLst>
          </p:nvPr>
        </p:nvGraphicFramePr>
        <p:xfrm>
          <a:off x="2286000" y="1828800"/>
          <a:ext cx="65532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38896" imgH="1394746" progId="Visio.Drawing.11">
                  <p:embed/>
                </p:oleObj>
              </mc:Choice>
              <mc:Fallback>
                <p:oleObj name="Visio" r:id="rId2" imgW="3738896" imgH="1394746" progId="Visio.Drawing.11">
                  <p:embed/>
                  <p:pic>
                    <p:nvPicPr>
                      <p:cNvPr id="1044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828800"/>
                        <a:ext cx="655320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473958"/>
              </p:ext>
            </p:extLst>
          </p:nvPr>
        </p:nvGraphicFramePr>
        <p:xfrm>
          <a:off x="3581400" y="4668982"/>
          <a:ext cx="4648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3651" imgH="429014" progId="Equation.3">
                  <p:embed/>
                </p:oleObj>
              </mc:Choice>
              <mc:Fallback>
                <p:oleObj name="Equation" r:id="rId4" imgW="1613651" imgH="429014" progId="Equation.3">
                  <p:embed/>
                  <p:pic>
                    <p:nvPicPr>
                      <p:cNvPr id="1044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68982"/>
                        <a:ext cx="46482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928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Norton’s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Finding I</a:t>
            </a:r>
            <a:r>
              <a:rPr lang="en-US" baseline="-25000" dirty="0">
                <a:solidFill>
                  <a:srgbClr val="0000FF"/>
                </a:solidFill>
              </a:rPr>
              <a:t>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553435"/>
              </p:ext>
            </p:extLst>
          </p:nvPr>
        </p:nvGraphicFramePr>
        <p:xfrm>
          <a:off x="1447800" y="1492827"/>
          <a:ext cx="63246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66085" imgH="1289304" progId="Visio.Drawing.11">
                  <p:embed/>
                </p:oleObj>
              </mc:Choice>
              <mc:Fallback>
                <p:oleObj name="Visio" r:id="rId2" imgW="2966085" imgH="1289304" progId="Visio.Drawing.11">
                  <p:embed/>
                  <p:pic>
                    <p:nvPicPr>
                      <p:cNvPr id="1054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492827"/>
                        <a:ext cx="63246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46464" y="4478338"/>
          <a:ext cx="5316537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31640" progId="Equation.3">
                  <p:embed/>
                </p:oleObj>
              </mc:Choice>
              <mc:Fallback>
                <p:oleObj name="Equation" r:id="rId4" imgW="1117440" imgH="431640" progId="Equation.3">
                  <p:embed/>
                  <p:pic>
                    <p:nvPicPr>
                      <p:cNvPr id="1054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4" y="4478338"/>
                        <a:ext cx="5316537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81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482" y="5334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Superposition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5156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The Theorem</a:t>
            </a:r>
          </a:p>
          <a:p>
            <a:pPr marL="0" indent="0" algn="just">
              <a:buNone/>
            </a:pPr>
            <a:r>
              <a:rPr lang="en-US" dirty="0"/>
              <a:t>The current through(or the voltage across) any element in a multiple-source linear circuit can be found by taking the algebraic sum of the current through(or the voltage across) that element due to each individual source acting alone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19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059" y="6794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Superposition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The Theorem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074596"/>
              </p:ext>
            </p:extLst>
          </p:nvPr>
        </p:nvGraphicFramePr>
        <p:xfrm>
          <a:off x="2830369" y="1513032"/>
          <a:ext cx="5029200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67687" imgH="1229296" progId="Visio.Drawing.11">
                  <p:embed/>
                </p:oleObj>
              </mc:Choice>
              <mc:Fallback>
                <p:oleObj name="Visio" r:id="rId2" imgW="2067687" imgH="1229296" progId="Visio.Drawing.11">
                  <p:embed/>
                  <p:pic>
                    <p:nvPicPr>
                      <p:cNvPr id="1075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369" y="1513032"/>
                        <a:ext cx="5029200" cy="221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435601"/>
              </p:ext>
            </p:extLst>
          </p:nvPr>
        </p:nvGraphicFramePr>
        <p:xfrm>
          <a:off x="1105695" y="3902220"/>
          <a:ext cx="3490912" cy="22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56410" imgH="1232517" progId="Visio.Drawing.11">
                  <p:embed/>
                </p:oleObj>
              </mc:Choice>
              <mc:Fallback>
                <p:oleObj name="Visio" r:id="rId4" imgW="2056410" imgH="1232517" progId="Visio.Drawing.11">
                  <p:embed/>
                  <p:pic>
                    <p:nvPicPr>
                      <p:cNvPr id="1075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695" y="3902220"/>
                        <a:ext cx="3490912" cy="221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966322"/>
              </p:ext>
            </p:extLst>
          </p:nvPr>
        </p:nvGraphicFramePr>
        <p:xfrm>
          <a:off x="6553200" y="3967163"/>
          <a:ext cx="37338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60189" imgH="1232517" progId="Visio.Drawing.11">
                  <p:embed/>
                </p:oleObj>
              </mc:Choice>
              <mc:Fallback>
                <p:oleObj name="Visio" r:id="rId6" imgW="2060189" imgH="1232517" progId="Visio.Drawing.11">
                  <p:embed/>
                  <p:pic>
                    <p:nvPicPr>
                      <p:cNvPr id="1290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967163"/>
                        <a:ext cx="37338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44969" y="4422423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28218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334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Superposition Theorem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With the 35V battery acting alone,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114280"/>
              </p:ext>
            </p:extLst>
          </p:nvPr>
        </p:nvGraphicFramePr>
        <p:xfrm>
          <a:off x="2895600" y="1981200"/>
          <a:ext cx="60960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50175" imgH="1229547" progId="Visio.Drawing.11">
                  <p:embed/>
                </p:oleObj>
              </mc:Choice>
              <mc:Fallback>
                <p:oleObj name="Visio" r:id="rId2" imgW="1850175" imgH="1229547" progId="Visio.Drawing.11">
                  <p:embed/>
                  <p:pic>
                    <p:nvPicPr>
                      <p:cNvPr id="90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81200"/>
                        <a:ext cx="60960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873009"/>
              </p:ext>
            </p:extLst>
          </p:nvPr>
        </p:nvGraphicFramePr>
        <p:xfrm>
          <a:off x="4114800" y="4038600"/>
          <a:ext cx="269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19040" progId="Equation.3">
                  <p:embed/>
                </p:oleObj>
              </mc:Choice>
              <mc:Fallback>
                <p:oleObj name="Equation" r:id="rId4" imgW="2234880" imgH="419040" progId="Equation.3">
                  <p:embed/>
                  <p:pic>
                    <p:nvPicPr>
                      <p:cNvPr id="860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038600"/>
                        <a:ext cx="269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271833"/>
              </p:ext>
            </p:extLst>
          </p:nvPr>
        </p:nvGraphicFramePr>
        <p:xfrm>
          <a:off x="6934200" y="4038600"/>
          <a:ext cx="914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304560" progId="Equation.3">
                  <p:embed/>
                </p:oleObj>
              </mc:Choice>
              <mc:Fallback>
                <p:oleObj name="Equation" r:id="rId6" imgW="774360" imgH="304560" progId="Equation.3">
                  <p:embed/>
                  <p:pic>
                    <p:nvPicPr>
                      <p:cNvPr id="860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038600"/>
                        <a:ext cx="914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437972"/>
              </p:ext>
            </p:extLst>
          </p:nvPr>
        </p:nvGraphicFramePr>
        <p:xfrm>
          <a:off x="4114800" y="4572000"/>
          <a:ext cx="22733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5840" imgH="825480" progId="Equation.3">
                  <p:embed/>
                </p:oleObj>
              </mc:Choice>
              <mc:Fallback>
                <p:oleObj name="Equation" r:id="rId8" imgW="1815840" imgH="825480" progId="Equation.3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572000"/>
                        <a:ext cx="22733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341401"/>
              </p:ext>
            </p:extLst>
          </p:nvPr>
        </p:nvGraphicFramePr>
        <p:xfrm>
          <a:off x="4114800" y="5448877"/>
          <a:ext cx="2133600" cy="494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52480" imgH="419040" progId="Equation.3">
                  <p:embed/>
                </p:oleObj>
              </mc:Choice>
              <mc:Fallback>
                <p:oleObj name="Equation" r:id="rId10" imgW="1752480" imgH="419040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448877"/>
                        <a:ext cx="2133600" cy="494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7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6035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Superposition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With both batteries acting,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837700"/>
              </p:ext>
            </p:extLst>
          </p:nvPr>
        </p:nvGraphicFramePr>
        <p:xfrm>
          <a:off x="7528398" y="2163906"/>
          <a:ext cx="3429000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58891" imgH="1232517" progId="Visio.Drawing.11">
                  <p:embed/>
                </p:oleObj>
              </mc:Choice>
              <mc:Fallback>
                <p:oleObj name="Visio" r:id="rId2" imgW="2458891" imgH="1232517" progId="Visio.Drawing.11">
                  <p:embed/>
                  <p:pic>
                    <p:nvPicPr>
                      <p:cNvPr id="911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8398" y="2163906"/>
                        <a:ext cx="3429000" cy="1600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861264"/>
              </p:ext>
            </p:extLst>
          </p:nvPr>
        </p:nvGraphicFramePr>
        <p:xfrm>
          <a:off x="1370052" y="2237143"/>
          <a:ext cx="25146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45560" imgH="1229547" progId="Visio.Drawing.11">
                  <p:embed/>
                </p:oleObj>
              </mc:Choice>
              <mc:Fallback>
                <p:oleObj name="Visio" r:id="rId4" imgW="1645560" imgH="1229547" progId="Visio.Drawing.11">
                  <p:embed/>
                  <p:pic>
                    <p:nvPicPr>
                      <p:cNvPr id="911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52" y="2237143"/>
                        <a:ext cx="25146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450664"/>
              </p:ext>
            </p:extLst>
          </p:nvPr>
        </p:nvGraphicFramePr>
        <p:xfrm>
          <a:off x="4558146" y="2130578"/>
          <a:ext cx="25908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850175" imgH="1229547" progId="Visio.Drawing.11">
                  <p:embed/>
                </p:oleObj>
              </mc:Choice>
              <mc:Fallback>
                <p:oleObj name="Visio" r:id="rId6" imgW="1850175" imgH="1229547" progId="Visio.Drawing.11">
                  <p:embed/>
                  <p:pic>
                    <p:nvPicPr>
                      <p:cNvPr id="911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146" y="2130578"/>
                        <a:ext cx="25908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4838700" y="4267200"/>
          <a:ext cx="2552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160" imgH="419040" progId="Equation.3">
                  <p:embed/>
                </p:oleObj>
              </mc:Choice>
              <mc:Fallback>
                <p:oleObj name="Equation" r:id="rId8" imgW="1460160" imgH="419040" progId="Equation.3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4267200"/>
                        <a:ext cx="2552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5257800" y="5029200"/>
          <a:ext cx="2806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920" imgH="317160" progId="Equation.3">
                  <p:embed/>
                </p:oleObj>
              </mc:Choice>
              <mc:Fallback>
                <p:oleObj name="Equation" r:id="rId10" imgW="1726920" imgH="317160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029200"/>
                        <a:ext cx="2806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34692" y="2487909"/>
            <a:ext cx="53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0" y="2502342"/>
            <a:ext cx="68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5378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88059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Reciprocity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31059"/>
            <a:ext cx="11049000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The Theorem</a:t>
            </a:r>
          </a:p>
          <a:p>
            <a:pPr marL="0" indent="0">
              <a:buNone/>
            </a:pPr>
            <a:r>
              <a:rPr lang="en-US" sz="2800" dirty="0"/>
              <a:t>An ideal ammeter and ideal voltage source when inserted in two different       branches of a linear network can be interchanged without changing the reading of the ammeter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828800" y="3276600"/>
          <a:ext cx="41910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46648" imgH="1347238" progId="Visio.Drawing.11">
                  <p:embed/>
                </p:oleObj>
              </mc:Choice>
              <mc:Fallback>
                <p:oleObj name="Visio" r:id="rId2" imgW="2746648" imgH="1347238" progId="Visio.Drawing.11">
                  <p:embed/>
                  <p:pic>
                    <p:nvPicPr>
                      <p:cNvPr id="921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76600"/>
                        <a:ext cx="4191000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1126"/>
              </p:ext>
            </p:extLst>
          </p:nvPr>
        </p:nvGraphicFramePr>
        <p:xfrm>
          <a:off x="6019800" y="3276600"/>
          <a:ext cx="39624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841937" imgH="1365324" progId="Visio.Drawing.11">
                  <p:embed/>
                </p:oleObj>
              </mc:Choice>
              <mc:Fallback>
                <p:oleObj name="Visio" r:id="rId4" imgW="2841937" imgH="1365324" progId="Visio.Drawing.11">
                  <p:embed/>
                  <p:pic>
                    <p:nvPicPr>
                      <p:cNvPr id="921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276600"/>
                        <a:ext cx="3962400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25523" y="4495800"/>
            <a:ext cx="68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34390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Reciprocity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6680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800" dirty="0"/>
              <a:t>Jointly use superposition and reciprocity theorems to find  the current supplied by the 35V battery of the circuit below.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328218"/>
              </p:ext>
            </p:extLst>
          </p:nvPr>
        </p:nvGraphicFramePr>
        <p:xfrm>
          <a:off x="2590800" y="2743200"/>
          <a:ext cx="4648200" cy="176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58891" imgH="1232517" progId="Visio.Drawing.11">
                  <p:embed/>
                </p:oleObj>
              </mc:Choice>
              <mc:Fallback>
                <p:oleObj name="Visio" r:id="rId2" imgW="2458891" imgH="1232517" progId="Visio.Drawing.11">
                  <p:embed/>
                  <p:pic>
                    <p:nvPicPr>
                      <p:cNvPr id="86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743200"/>
                        <a:ext cx="4648200" cy="176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876301" y="452769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With the 42V battery acting alone,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754631"/>
              </p:ext>
            </p:extLst>
          </p:nvPr>
        </p:nvGraphicFramePr>
        <p:xfrm>
          <a:off x="6255327" y="4562475"/>
          <a:ext cx="45720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45560" imgH="1229547" progId="Visio.Drawing.11">
                  <p:embed/>
                </p:oleObj>
              </mc:Choice>
              <mc:Fallback>
                <p:oleObj name="Visio" r:id="rId4" imgW="1645560" imgH="1229547" progId="Visio.Drawing.11">
                  <p:embed/>
                  <p:pic>
                    <p:nvPicPr>
                      <p:cNvPr id="860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5327" y="4562475"/>
                        <a:ext cx="45720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366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Reciprocity Theorem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6365927"/>
              </p:ext>
            </p:extLst>
          </p:nvPr>
        </p:nvGraphicFramePr>
        <p:xfrm>
          <a:off x="3200400" y="1752600"/>
          <a:ext cx="42672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45560" imgH="1229547" progId="Visio.Drawing.11">
                  <p:embed/>
                </p:oleObj>
              </mc:Choice>
              <mc:Fallback>
                <p:oleObj name="Visio" r:id="rId2" imgW="1645560" imgH="1229547" progId="Visio.Drawing.11">
                  <p:embed/>
                  <p:pic>
                    <p:nvPicPr>
                      <p:cNvPr id="860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52600"/>
                        <a:ext cx="42672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101555"/>
              </p:ext>
            </p:extLst>
          </p:nvPr>
        </p:nvGraphicFramePr>
        <p:xfrm>
          <a:off x="3581400" y="3810000"/>
          <a:ext cx="223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19040" progId="Equation.3">
                  <p:embed/>
                </p:oleObj>
              </mc:Choice>
              <mc:Fallback>
                <p:oleObj name="Equation" r:id="rId4" imgW="2234880" imgH="419040" progId="Equation.3">
                  <p:embed/>
                  <p:pic>
                    <p:nvPicPr>
                      <p:cNvPr id="860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810000"/>
                        <a:ext cx="2235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509413"/>
              </p:ext>
            </p:extLst>
          </p:nvPr>
        </p:nvGraphicFramePr>
        <p:xfrm>
          <a:off x="5943600" y="3924300"/>
          <a:ext cx="901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04560" progId="Equation.3">
                  <p:embed/>
                </p:oleObj>
              </mc:Choice>
              <mc:Fallback>
                <p:oleObj name="Equation" r:id="rId6" imgW="901440" imgH="304560" progId="Equation.3">
                  <p:embed/>
                  <p:pic>
                    <p:nvPicPr>
                      <p:cNvPr id="860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924300"/>
                        <a:ext cx="901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89963"/>
              </p:ext>
            </p:extLst>
          </p:nvPr>
        </p:nvGraphicFramePr>
        <p:xfrm>
          <a:off x="3987800" y="4229100"/>
          <a:ext cx="1828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825480" progId="Equation.3">
                  <p:embed/>
                </p:oleObj>
              </mc:Choice>
              <mc:Fallback>
                <p:oleObj name="Equation" r:id="rId8" imgW="1828800" imgH="825480" progId="Equation.3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4229100"/>
                        <a:ext cx="1828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77786"/>
              </p:ext>
            </p:extLst>
          </p:nvPr>
        </p:nvGraphicFramePr>
        <p:xfrm>
          <a:off x="3987800" y="5156632"/>
          <a:ext cx="2590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560" imgH="825480" progId="Equation.3">
                  <p:embed/>
                </p:oleObj>
              </mc:Choice>
              <mc:Fallback>
                <p:oleObj name="Equation" r:id="rId10" imgW="2590560" imgH="825480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5156632"/>
                        <a:ext cx="2590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14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Reciprocity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The second circuit to be solved is: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88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712414"/>
              </p:ext>
            </p:extLst>
          </p:nvPr>
        </p:nvGraphicFramePr>
        <p:xfrm>
          <a:off x="1600200" y="1983220"/>
          <a:ext cx="25908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50175" imgH="1229547" progId="Visio.Drawing.11">
                  <p:embed/>
                </p:oleObj>
              </mc:Choice>
              <mc:Fallback>
                <p:oleObj name="Visio" r:id="rId2" imgW="1850175" imgH="1229547" progId="Visio.Drawing.11">
                  <p:embed/>
                  <p:pic>
                    <p:nvPicPr>
                      <p:cNvPr id="962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83220"/>
                        <a:ext cx="25908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4375657" y="2674854"/>
            <a:ext cx="29193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is comparable to </a:t>
            </a:r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709733"/>
              </p:ext>
            </p:extLst>
          </p:nvPr>
        </p:nvGraphicFramePr>
        <p:xfrm>
          <a:off x="6834909" y="1997075"/>
          <a:ext cx="3200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56410" imgH="1232517" progId="Visio.Drawing.11">
                  <p:embed/>
                </p:oleObj>
              </mc:Choice>
              <mc:Fallback>
                <p:oleObj name="Visio" r:id="rId4" imgW="2056410" imgH="1232517" progId="Visio.Drawing.11">
                  <p:embed/>
                  <p:pic>
                    <p:nvPicPr>
                      <p:cNvPr id="962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909" y="1997075"/>
                        <a:ext cx="3200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1128240" y="3843770"/>
            <a:ext cx="47900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Applying the reciprocity theorem</a:t>
            </a:r>
            <a:endParaRPr lang="en-US" sz="2800" dirty="0"/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428850"/>
              </p:ext>
            </p:extLst>
          </p:nvPr>
        </p:nvGraphicFramePr>
        <p:xfrm>
          <a:off x="1447800" y="4413599"/>
          <a:ext cx="38100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56410" imgH="1232517" progId="Visio.Drawing.11">
                  <p:embed/>
                </p:oleObj>
              </mc:Choice>
              <mc:Fallback>
                <p:oleObj name="Visio" r:id="rId6" imgW="2056410" imgH="1232517" progId="Visio.Drawing.11">
                  <p:embed/>
                  <p:pic>
                    <p:nvPicPr>
                      <p:cNvPr id="860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413599"/>
                        <a:ext cx="38100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5081526" y="5046829"/>
            <a:ext cx="7235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00FF"/>
                </a:solidFill>
              </a:rPr>
              <a:t>=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249829"/>
              </p:ext>
            </p:extLst>
          </p:nvPr>
        </p:nvGraphicFramePr>
        <p:xfrm>
          <a:off x="5628781" y="4389664"/>
          <a:ext cx="38100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056410" imgH="1232517" progId="Visio.Drawing.11">
                  <p:embed/>
                </p:oleObj>
              </mc:Choice>
              <mc:Fallback>
                <p:oleObj name="Visio" r:id="rId8" imgW="2056410" imgH="1232517" progId="Visio.Drawing.11">
                  <p:embed/>
                  <p:pic>
                    <p:nvPicPr>
                      <p:cNvPr id="9626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8781" y="4389664"/>
                        <a:ext cx="38100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094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Reciprocity Theorem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89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356486"/>
              </p:ext>
            </p:extLst>
          </p:nvPr>
        </p:nvGraphicFramePr>
        <p:xfrm>
          <a:off x="4635500" y="2133600"/>
          <a:ext cx="184149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419040" progId="Equation.3">
                  <p:embed/>
                </p:oleObj>
              </mc:Choice>
              <mc:Fallback>
                <p:oleObj name="Equation" r:id="rId2" imgW="1460160" imgH="419040" progId="Equation.3">
                  <p:embed/>
                  <p:pic>
                    <p:nvPicPr>
                      <p:cNvPr id="13312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2133600"/>
                        <a:ext cx="1841499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862117"/>
              </p:ext>
            </p:extLst>
          </p:nvPr>
        </p:nvGraphicFramePr>
        <p:xfrm>
          <a:off x="4495800" y="3124200"/>
          <a:ext cx="3048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317160" progId="Equation.3">
                  <p:embed/>
                </p:oleObj>
              </mc:Choice>
              <mc:Fallback>
                <p:oleObj name="Equation" r:id="rId4" imgW="1726920" imgH="317160" progId="Equation.3">
                  <p:embed/>
                  <p:pic>
                    <p:nvPicPr>
                      <p:cNvPr id="13312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124200"/>
                        <a:ext cx="3048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610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Reciprocity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03350"/>
            <a:ext cx="10210800" cy="469265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/>
              <a:t>Use Norton’s theorem to find the current in the 2</a:t>
            </a:r>
            <a:r>
              <a:rPr lang="el-GR" sz="2800" dirty="0"/>
              <a:t>Ω</a:t>
            </a:r>
            <a:r>
              <a:rPr lang="en-US" sz="2800" dirty="0"/>
              <a:t> resistor  connected between </a:t>
            </a:r>
            <a:r>
              <a:rPr lang="en-US" sz="2800" i="1" dirty="0"/>
              <a:t>e</a:t>
            </a:r>
            <a:r>
              <a:rPr lang="en-US" sz="2800" dirty="0"/>
              <a:t> and </a:t>
            </a:r>
            <a:r>
              <a:rPr lang="en-US" sz="2800" i="1" dirty="0"/>
              <a:t>f</a:t>
            </a:r>
            <a:r>
              <a:rPr lang="en-US" sz="2800" dirty="0"/>
              <a:t> in the circuit below.</a:t>
            </a:r>
          </a:p>
          <a:p>
            <a:pPr algn="just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49837"/>
              </p:ext>
            </p:extLst>
          </p:nvPr>
        </p:nvGraphicFramePr>
        <p:xfrm>
          <a:off x="2362200" y="2133600"/>
          <a:ext cx="6489701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07925" imgH="1706666" progId="Visio.Drawing.11">
                  <p:embed/>
                </p:oleObj>
              </mc:Choice>
              <mc:Fallback>
                <p:oleObj name="Visio" r:id="rId2" imgW="5207925" imgH="1706666" progId="Visio.Drawing.11">
                  <p:embed/>
                  <p:pic>
                    <p:nvPicPr>
                      <p:cNvPr id="880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3600"/>
                        <a:ext cx="6489701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219199" y="4735368"/>
            <a:ext cx="76327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Submission date: </a:t>
            </a:r>
            <a:r>
              <a:rPr lang="en-US" sz="2800" dirty="0"/>
              <a:t>God willing a week today 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Submission time: </a:t>
            </a:r>
            <a:r>
              <a:rPr lang="en-US" sz="2800" dirty="0"/>
              <a:t>Before lecture starts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Where to submit: </a:t>
            </a:r>
            <a:r>
              <a:rPr lang="en-US" sz="2800" dirty="0"/>
              <a:t>Class room</a:t>
            </a:r>
          </a:p>
        </p:txBody>
      </p:sp>
    </p:spTree>
    <p:extLst>
      <p:ext uri="{BB962C8B-B14F-4D97-AF65-F5344CB8AC3E}">
        <p14:creationId xmlns:p14="http://schemas.microsoft.com/office/powerpoint/2010/main" val="42932137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Delta-star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The transformation is employed in situations where neither series nor parallel arrangements can be identified.</a:t>
            </a:r>
          </a:p>
          <a:p>
            <a:pPr marL="228600" indent="-228600" algn="just">
              <a:buFont typeface="Wingdings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An arrangement of three(3) resistors where one terminal of a resistor is connected to another resistor and the other terminal to a different resistor is a delta arrangement.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1752600" y="3733800"/>
          <a:ext cx="4038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12583" imgH="1504340" progId="Visio.Drawing.11">
                  <p:embed/>
                </p:oleObj>
              </mc:Choice>
              <mc:Fallback>
                <p:oleObj name="Visio" r:id="rId2" imgW="2312583" imgH="1504340" progId="Visio.Drawing.11">
                  <p:embed/>
                  <p:pic>
                    <p:nvPicPr>
                      <p:cNvPr id="133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33800"/>
                        <a:ext cx="40386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6324602" y="3657600"/>
          <a:ext cx="4038599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312583" imgH="1504340" progId="Visio.Drawing.11">
                  <p:embed/>
                </p:oleObj>
              </mc:Choice>
              <mc:Fallback>
                <p:oleObj name="Visio" r:id="rId4" imgW="2312583" imgH="1504340" progId="Visio.Drawing.11">
                  <p:embed/>
                  <p:pic>
                    <p:nvPicPr>
                      <p:cNvPr id="133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2" y="3657600"/>
                        <a:ext cx="4038599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201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Delta-star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An arrangement of three(3) resistors where all resistors have a common  point of connection through one terminal of each resistor while the         remaining terminals are unconnected or connected to elements other than the two other resistors is a star(wye) arrangement.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407064"/>
              </p:ext>
            </p:extLst>
          </p:nvPr>
        </p:nvGraphicFramePr>
        <p:xfrm>
          <a:off x="641351" y="2971800"/>
          <a:ext cx="47244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55304" imgH="1664950" progId="Visio.Drawing.11">
                  <p:embed/>
                </p:oleObj>
              </mc:Choice>
              <mc:Fallback>
                <p:oleObj name="Visio" r:id="rId2" imgW="1855304" imgH="1664950" progId="Visio.Drawing.11">
                  <p:embed/>
                  <p:pic>
                    <p:nvPicPr>
                      <p:cNvPr id="138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1" y="2971800"/>
                        <a:ext cx="47244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120802"/>
              </p:ext>
            </p:extLst>
          </p:nvPr>
        </p:nvGraphicFramePr>
        <p:xfrm>
          <a:off x="5791200" y="3276600"/>
          <a:ext cx="3505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770272" imgH="877014" progId="Visio.Drawing.11">
                  <p:embed/>
                </p:oleObj>
              </mc:Choice>
              <mc:Fallback>
                <p:oleObj name="Visio" r:id="rId4" imgW="1770272" imgH="877014" progId="Visio.Drawing.11">
                  <p:embed/>
                  <p:pic>
                    <p:nvPicPr>
                      <p:cNvPr id="138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276600"/>
                        <a:ext cx="3505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772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Delta-star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A delta arrangement can be changed to star and vice versa using the         following relations: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832060"/>
              </p:ext>
            </p:extLst>
          </p:nvPr>
        </p:nvGraphicFramePr>
        <p:xfrm>
          <a:off x="942109" y="2286000"/>
          <a:ext cx="49530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12583" imgH="1504340" progId="Visio.Drawing.11">
                  <p:embed/>
                </p:oleObj>
              </mc:Choice>
              <mc:Fallback>
                <p:oleObj name="Visio" r:id="rId2" imgW="2312583" imgH="1504340" progId="Visio.Drawing.11">
                  <p:embed/>
                  <p:pic>
                    <p:nvPicPr>
                      <p:cNvPr id="139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109" y="2286000"/>
                        <a:ext cx="49530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19552"/>
              </p:ext>
            </p:extLst>
          </p:nvPr>
        </p:nvGraphicFramePr>
        <p:xfrm>
          <a:off x="6082145" y="2313710"/>
          <a:ext cx="3276600" cy="962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4713" imgH="447757" progId="Equation.3">
                  <p:embed/>
                </p:oleObj>
              </mc:Choice>
              <mc:Fallback>
                <p:oleObj name="Equation" r:id="rId4" imgW="1154713" imgH="447757" progId="Equation.3">
                  <p:embed/>
                  <p:pic>
                    <p:nvPicPr>
                      <p:cNvPr id="1392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145" y="2313710"/>
                        <a:ext cx="3276600" cy="962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40203"/>
              </p:ext>
            </p:extLst>
          </p:nvPr>
        </p:nvGraphicFramePr>
        <p:xfrm>
          <a:off x="6276975" y="3370263"/>
          <a:ext cx="2884488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393480" progId="Equation.DSMT4">
                  <p:embed/>
                </p:oleObj>
              </mc:Choice>
              <mc:Fallback>
                <p:oleObj name="Equation" r:id="rId6" imgW="1015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3370263"/>
                        <a:ext cx="2884488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02703"/>
              </p:ext>
            </p:extLst>
          </p:nvPr>
        </p:nvGraphicFramePr>
        <p:xfrm>
          <a:off x="6291263" y="4332288"/>
          <a:ext cx="28844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393480" progId="Equation.DSMT4">
                  <p:embed/>
                </p:oleObj>
              </mc:Choice>
              <mc:Fallback>
                <p:oleObj name="Equation" r:id="rId8" imgW="1015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63" y="4332288"/>
                        <a:ext cx="28844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566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Star-Delta Transformation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848150"/>
              </p:ext>
            </p:extLst>
          </p:nvPr>
        </p:nvGraphicFramePr>
        <p:xfrm>
          <a:off x="1066800" y="1714500"/>
          <a:ext cx="4191000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12583" imgH="1504340" progId="Visio.Drawing.11">
                  <p:embed/>
                </p:oleObj>
              </mc:Choice>
              <mc:Fallback>
                <p:oleObj name="Visio" r:id="rId2" imgW="2312583" imgH="1504340" progId="Visio.Drawing.11">
                  <p:embed/>
                  <p:pic>
                    <p:nvPicPr>
                      <p:cNvPr id="139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14500"/>
                        <a:ext cx="4191000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540500" y="1747838"/>
          <a:ext cx="359410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914400" progId="Equation.3">
                  <p:embed/>
                </p:oleObj>
              </mc:Choice>
              <mc:Fallback>
                <p:oleObj name="Equation" r:id="rId4" imgW="2705040" imgH="914400" progId="Equation.3">
                  <p:embed/>
                  <p:pic>
                    <p:nvPicPr>
                      <p:cNvPr id="140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1747838"/>
                        <a:ext cx="3594100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480631"/>
              </p:ext>
            </p:extLst>
          </p:nvPr>
        </p:nvGraphicFramePr>
        <p:xfrm>
          <a:off x="6519718" y="3091295"/>
          <a:ext cx="3662362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5800" imgH="914400" progId="Equation.3">
                  <p:embed/>
                </p:oleObj>
              </mc:Choice>
              <mc:Fallback>
                <p:oleObj name="Equation" r:id="rId6" imgW="2755800" imgH="914400" progId="Equation.3">
                  <p:embed/>
                  <p:pic>
                    <p:nvPicPr>
                      <p:cNvPr id="1402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718" y="3091295"/>
                        <a:ext cx="3662362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40551"/>
              </p:ext>
            </p:extLst>
          </p:nvPr>
        </p:nvGraphicFramePr>
        <p:xfrm>
          <a:off x="6540500" y="4331062"/>
          <a:ext cx="3662362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5800" imgH="914400" progId="Equation.3">
                  <p:embed/>
                </p:oleObj>
              </mc:Choice>
              <mc:Fallback>
                <p:oleObj name="Equation" r:id="rId8" imgW="2755800" imgH="914400" progId="Equation.3">
                  <p:embed/>
                  <p:pic>
                    <p:nvPicPr>
                      <p:cNvPr id="1402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4331062"/>
                        <a:ext cx="3662362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295400" y="5344250"/>
            <a:ext cx="9062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When all values are the same, delta values are 3 times star values</a:t>
            </a:r>
          </a:p>
        </p:txBody>
      </p:sp>
    </p:spTree>
    <p:extLst>
      <p:ext uri="{BB962C8B-B14F-4D97-AF65-F5344CB8AC3E}">
        <p14:creationId xmlns:p14="http://schemas.microsoft.com/office/powerpoint/2010/main" val="39448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Delta-star Transformation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95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934595"/>
              </p:ext>
            </p:extLst>
          </p:nvPr>
        </p:nvGraphicFramePr>
        <p:xfrm>
          <a:off x="5562600" y="2218487"/>
          <a:ext cx="7086600" cy="3585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97860" imgH="1793189" progId="Visio.Drawing.11">
                  <p:embed/>
                </p:oleObj>
              </mc:Choice>
              <mc:Fallback>
                <p:oleObj name="Visio" r:id="rId2" imgW="4397860" imgH="1793189" progId="Visio.Drawing.11">
                  <p:embed/>
                  <p:pic>
                    <p:nvPicPr>
                      <p:cNvPr id="141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218487"/>
                        <a:ext cx="7086600" cy="3585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219200" y="1467742"/>
            <a:ext cx="10210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Determine the voltage V</a:t>
            </a:r>
            <a:r>
              <a:rPr lang="en-US" sz="2800" baseline="-25000" dirty="0">
                <a:solidFill>
                  <a:srgbClr val="0000FF"/>
                </a:solidFill>
              </a:rPr>
              <a:t>0</a:t>
            </a:r>
            <a:r>
              <a:rPr lang="en-US" sz="2800" dirty="0">
                <a:solidFill>
                  <a:srgbClr val="0000FF"/>
                </a:solidFill>
              </a:rPr>
              <a:t> across the 6</a:t>
            </a:r>
            <a:r>
              <a:rPr lang="el-GR" sz="2800" dirty="0">
                <a:solidFill>
                  <a:srgbClr val="0000FF"/>
                </a:solidFill>
              </a:rPr>
              <a:t>Ω</a:t>
            </a:r>
            <a:r>
              <a:rPr lang="en-US" sz="2800" dirty="0">
                <a:solidFill>
                  <a:srgbClr val="0000FF"/>
                </a:solidFill>
              </a:rPr>
              <a:t> resistor of the circuit below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4385002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Solution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75234"/>
              </p:ext>
            </p:extLst>
          </p:nvPr>
        </p:nvGraphicFramePr>
        <p:xfrm>
          <a:off x="76200" y="2906724"/>
          <a:ext cx="6477000" cy="3094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803745" imgH="1569934" progId="Visio.Drawing.11">
                  <p:embed/>
                </p:oleObj>
              </mc:Choice>
              <mc:Fallback>
                <p:oleObj name="Visio" r:id="rId4" imgW="1803745" imgH="1569934" progId="Visio.Drawing.11">
                  <p:embed/>
                  <p:pic>
                    <p:nvPicPr>
                      <p:cNvPr id="141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906724"/>
                        <a:ext cx="6477000" cy="3094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993431"/>
              </p:ext>
            </p:extLst>
          </p:nvPr>
        </p:nvGraphicFramePr>
        <p:xfrm>
          <a:off x="6705600" y="6033293"/>
          <a:ext cx="35972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96807" imgH="429731" progId="Equation.3">
                  <p:embed/>
                </p:oleObj>
              </mc:Choice>
              <mc:Fallback>
                <p:oleObj name="Equation" r:id="rId6" imgW="3596807" imgH="429731" progId="Equation.3">
                  <p:embed/>
                  <p:pic>
                    <p:nvPicPr>
                      <p:cNvPr id="1413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6033293"/>
                        <a:ext cx="35972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919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Delta-star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00FF"/>
                </a:solidFill>
              </a:rPr>
              <a:t>Determine the voltage V</a:t>
            </a:r>
            <a:r>
              <a:rPr lang="en-US" sz="2800" baseline="-25000" dirty="0">
                <a:solidFill>
                  <a:srgbClr val="0000FF"/>
                </a:solidFill>
              </a:rPr>
              <a:t>0</a:t>
            </a:r>
            <a:r>
              <a:rPr lang="en-US" sz="2800" dirty="0">
                <a:solidFill>
                  <a:srgbClr val="0000FF"/>
                </a:solidFill>
              </a:rPr>
              <a:t> across the 6</a:t>
            </a:r>
            <a:r>
              <a:rPr lang="el-GR" sz="2800" dirty="0">
                <a:solidFill>
                  <a:srgbClr val="0000FF"/>
                </a:solidFill>
              </a:rPr>
              <a:t>Ω</a:t>
            </a:r>
            <a:r>
              <a:rPr lang="en-US" sz="2800" dirty="0">
                <a:solidFill>
                  <a:srgbClr val="0000FF"/>
                </a:solidFill>
              </a:rPr>
              <a:t> resistor of the circuit below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96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151326"/>
              </p:ext>
            </p:extLst>
          </p:nvPr>
        </p:nvGraphicFramePr>
        <p:xfrm>
          <a:off x="3990110" y="2366963"/>
          <a:ext cx="4191000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03745" imgH="1371802" progId="Visio.Drawing.11">
                  <p:embed/>
                </p:oleObj>
              </mc:Choice>
              <mc:Fallback>
                <p:oleObj name="Visio" r:id="rId2" imgW="1803745" imgH="1371802" progId="Visio.Drawing.11">
                  <p:embed/>
                  <p:pic>
                    <p:nvPicPr>
                      <p:cNvPr id="142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110" y="2366963"/>
                        <a:ext cx="4191000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093873"/>
              </p:ext>
            </p:extLst>
          </p:nvPr>
        </p:nvGraphicFramePr>
        <p:xfrm>
          <a:off x="876301" y="4000501"/>
          <a:ext cx="6172200" cy="2095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814673" imgH="1670619" progId="Visio.Drawing.11">
                  <p:embed/>
                </p:oleObj>
              </mc:Choice>
              <mc:Fallback>
                <p:oleObj name="Visio" r:id="rId4" imgW="2814673" imgH="1670619" progId="Visio.Drawing.11">
                  <p:embed/>
                  <p:pic>
                    <p:nvPicPr>
                      <p:cNvPr id="142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1" y="4000501"/>
                        <a:ext cx="6172200" cy="2095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391400" y="4408488"/>
          <a:ext cx="32766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63448" imgH="391877" progId="Equation.3">
                  <p:embed/>
                </p:oleObj>
              </mc:Choice>
              <mc:Fallback>
                <p:oleObj name="Equation" r:id="rId6" imgW="1363448" imgH="391877" progId="Equation.3">
                  <p:embed/>
                  <p:pic>
                    <p:nvPicPr>
                      <p:cNvPr id="142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408488"/>
                        <a:ext cx="327660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112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457200"/>
            <a:ext cx="8978900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Group Assignment 4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Use Norton’s theorem to find the current in the 3</a:t>
            </a:r>
            <a:r>
              <a:rPr lang="el-GR" sz="2800" dirty="0"/>
              <a:t>Ω</a:t>
            </a:r>
            <a:r>
              <a:rPr lang="en-US" sz="2800" dirty="0"/>
              <a:t> resistor connected    between points  A and B of the circuit below.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08976E-6AE4-44AB-8D6B-682B655BED09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97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099891"/>
              </p:ext>
            </p:extLst>
          </p:nvPr>
        </p:nvGraphicFramePr>
        <p:xfrm>
          <a:off x="1905000" y="2286000"/>
          <a:ext cx="51816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231917" imgH="2117651" progId="Visio.Drawing.11">
                  <p:embed/>
                </p:oleObj>
              </mc:Choice>
              <mc:Fallback>
                <p:oleObj name="Visio" r:id="rId2" imgW="2231917" imgH="2117651" progId="Visio.Drawing.11">
                  <p:embed/>
                  <p:pic>
                    <p:nvPicPr>
                      <p:cNvPr id="169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86000"/>
                        <a:ext cx="51816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219200" y="4787205"/>
            <a:ext cx="9601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Submission date: </a:t>
            </a:r>
            <a:r>
              <a:rPr lang="en-US" sz="2800" dirty="0"/>
              <a:t>God willing a week today 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Submission time: </a:t>
            </a:r>
            <a:r>
              <a:rPr lang="en-US" sz="2800" dirty="0"/>
              <a:t>Before lecture starts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Where to submit: </a:t>
            </a:r>
            <a:r>
              <a:rPr lang="en-US" sz="2800" dirty="0"/>
              <a:t>Electrical Engineering office</a:t>
            </a:r>
          </a:p>
        </p:txBody>
      </p:sp>
    </p:spTree>
    <p:extLst>
      <p:ext uri="{BB962C8B-B14F-4D97-AF65-F5344CB8AC3E}">
        <p14:creationId xmlns:p14="http://schemas.microsoft.com/office/powerpoint/2010/main" val="2075927907"/>
      </p:ext>
    </p:extLst>
  </p:cSld>
  <p:clrMapOvr>
    <a:masterClrMapping/>
  </p:clrMapOvr>
</p:sld>
</file>

<file path=ppt/theme/theme1.xml><?xml version="1.0" encoding="utf-8"?>
<a:theme xmlns:a="http://schemas.openxmlformats.org/drawingml/2006/main" name="knust_telecom_tempelate [Autosaved]">
  <a:themeElements>
    <a:clrScheme name="제 23 장 2-port에서의 삽입손실 및 반사손실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제 23 장 2-port에서의 삽입손실 및 반사손실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제 23 장 2-port에서의 삽입손실 및 반사손실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 23 장 2-port에서의 삽입손실 및 반사손실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2465</Words>
  <Application>Microsoft Office PowerPoint</Application>
  <PresentationFormat>Widescreen</PresentationFormat>
  <Paragraphs>521</Paragraphs>
  <Slides>97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97</vt:i4>
      </vt:variant>
    </vt:vector>
  </HeadingPairs>
  <TitlesOfParts>
    <vt:vector size="112" baseType="lpstr">
      <vt:lpstr>굴림</vt:lpstr>
      <vt:lpstr>맑은 고딕</vt:lpstr>
      <vt:lpstr>Americana XBd BT</vt:lpstr>
      <vt:lpstr>Arial</vt:lpstr>
      <vt:lpstr>Bodoni MT Condensed</vt:lpstr>
      <vt:lpstr>Calibri</vt:lpstr>
      <vt:lpstr>Courier New</vt:lpstr>
      <vt:lpstr>Garamond</vt:lpstr>
      <vt:lpstr>Times New Roman</vt:lpstr>
      <vt:lpstr>Wingdings</vt:lpstr>
      <vt:lpstr>한컴돋움</vt:lpstr>
      <vt:lpstr>knust_telecom_tempelate [Autosaved]</vt:lpstr>
      <vt:lpstr>Visio</vt:lpstr>
      <vt:lpstr>Equation</vt:lpstr>
      <vt:lpstr>Document</vt:lpstr>
      <vt:lpstr>PowerPoint Presentation</vt:lpstr>
      <vt:lpstr>EE 151: APPLIED ELECTRICITY</vt:lpstr>
      <vt:lpstr>Website QR Code</vt:lpstr>
      <vt:lpstr>Course Objective</vt:lpstr>
      <vt:lpstr>Course Outline</vt:lpstr>
      <vt:lpstr>Course Calendar</vt:lpstr>
      <vt:lpstr>Recommended Texts</vt:lpstr>
      <vt:lpstr>Course Delivery Method</vt:lpstr>
      <vt:lpstr> Classroom Manners </vt:lpstr>
      <vt:lpstr>ASSESSMENT</vt:lpstr>
      <vt:lpstr> UNIT 1: CIRCUIT AND NETWORK THEOREMS </vt:lpstr>
      <vt:lpstr>Circuit Terminologies</vt:lpstr>
      <vt:lpstr>Circuit Terminologies</vt:lpstr>
      <vt:lpstr> Circuit Terminologies  </vt:lpstr>
      <vt:lpstr>Circuit Terminologies</vt:lpstr>
      <vt:lpstr>Circuit Terminologies</vt:lpstr>
      <vt:lpstr> Resistors in Series</vt:lpstr>
      <vt:lpstr> Resistors In Series  </vt:lpstr>
      <vt:lpstr>  Resistors in Series  </vt:lpstr>
      <vt:lpstr>Resistors in Parallel</vt:lpstr>
      <vt:lpstr>Resistors in Parallel</vt:lpstr>
      <vt:lpstr>Resistors in Parallel</vt:lpstr>
      <vt:lpstr>Resistors in Parallel</vt:lpstr>
      <vt:lpstr> Effective Resistance of a Circuit  </vt:lpstr>
      <vt:lpstr>Effective Resistance of a Circuit</vt:lpstr>
      <vt:lpstr>Effective Resistance of a Circuit</vt:lpstr>
      <vt:lpstr>Effective Resistance of a Circuit</vt:lpstr>
      <vt:lpstr>Current Division Rule</vt:lpstr>
      <vt:lpstr>Current Division Rule</vt:lpstr>
      <vt:lpstr>Current Division Rule</vt:lpstr>
      <vt:lpstr>Current Division Rule</vt:lpstr>
      <vt:lpstr>Current Division Rule</vt:lpstr>
      <vt:lpstr>Current Division Rule</vt:lpstr>
      <vt:lpstr> Voltage Drop</vt:lpstr>
      <vt:lpstr> Voltage Drop</vt:lpstr>
      <vt:lpstr> Revision Exercise </vt:lpstr>
      <vt:lpstr>Revision Exercise</vt:lpstr>
      <vt:lpstr>Revision Exercise</vt:lpstr>
      <vt:lpstr> Group Assignment 1 </vt:lpstr>
      <vt:lpstr>Kirchhoff's Current Law(KCL)</vt:lpstr>
      <vt:lpstr> Kirchhoff's Current Law(KCL) </vt:lpstr>
      <vt:lpstr>Kirchhoff's Current Law(KCL)</vt:lpstr>
      <vt:lpstr>Kirchhoff's Voltage Law(KVL)</vt:lpstr>
      <vt:lpstr>Kirchhoff's Voltage Law(KVL)</vt:lpstr>
      <vt:lpstr>Kirchhoff's Voltage Law(KVL)</vt:lpstr>
      <vt:lpstr>Kirchhoff's Voltage Law(KVL)</vt:lpstr>
      <vt:lpstr>Kirchhoff's Voltage Law(KVL)</vt:lpstr>
      <vt:lpstr>Kirchhoff's Voltage Law(KVL)</vt:lpstr>
      <vt:lpstr> Kirchhoff's Voltage Law(KVL)  </vt:lpstr>
      <vt:lpstr>Thevenin’s Theorem</vt:lpstr>
      <vt:lpstr>Thevenin’s Theorem</vt:lpstr>
      <vt:lpstr>Thevenin’s Theorem </vt:lpstr>
      <vt:lpstr>Thevenin’s Theorem</vt:lpstr>
      <vt:lpstr>Thevenin’s Theorem </vt:lpstr>
      <vt:lpstr> Thevenin’s Theorem</vt:lpstr>
      <vt:lpstr>Thevenin’s Theorem</vt:lpstr>
      <vt:lpstr>Thevenin’s Theorem</vt:lpstr>
      <vt:lpstr>Thevenin’s Theorem</vt:lpstr>
      <vt:lpstr>Thevenin’s Theorem </vt:lpstr>
      <vt:lpstr>Thevenin’s Theorem</vt:lpstr>
      <vt:lpstr>Thevenin’s Theorem </vt:lpstr>
      <vt:lpstr>Thevenin’s Theorem</vt:lpstr>
      <vt:lpstr>Thevenin’s Theorem</vt:lpstr>
      <vt:lpstr>Thevenin’s Theorem</vt:lpstr>
      <vt:lpstr>Group Assignment 2</vt:lpstr>
      <vt:lpstr> Norton’s Theorem</vt:lpstr>
      <vt:lpstr>Norton’s Theorem</vt:lpstr>
      <vt:lpstr>Norton’s Theorem </vt:lpstr>
      <vt:lpstr>Norton’s Theorem</vt:lpstr>
      <vt:lpstr>Norton’s Theorem </vt:lpstr>
      <vt:lpstr> Norton’s Theorem </vt:lpstr>
      <vt:lpstr>Norton’s Theorem</vt:lpstr>
      <vt:lpstr>Norton’s Theorem </vt:lpstr>
      <vt:lpstr>      Norton’s Theorem</vt:lpstr>
      <vt:lpstr>Norton’s Theorem </vt:lpstr>
      <vt:lpstr>Norton’s Theorem </vt:lpstr>
      <vt:lpstr>Norton’s Theorem </vt:lpstr>
      <vt:lpstr>Norton’s Theorem </vt:lpstr>
      <vt:lpstr>Norton’s Theorem</vt:lpstr>
      <vt:lpstr>Norton’s Theorem</vt:lpstr>
      <vt:lpstr>Superposition Theorem </vt:lpstr>
      <vt:lpstr>Superposition Theorem </vt:lpstr>
      <vt:lpstr>Superposition Theorem </vt:lpstr>
      <vt:lpstr>Superposition Theorem</vt:lpstr>
      <vt:lpstr>Reciprocity Theorem</vt:lpstr>
      <vt:lpstr>Reciprocity Theorem</vt:lpstr>
      <vt:lpstr>Reciprocity Theorem</vt:lpstr>
      <vt:lpstr>Reciprocity Theorem</vt:lpstr>
      <vt:lpstr>Reciprocity Theorem</vt:lpstr>
      <vt:lpstr>Reciprocity Theorem</vt:lpstr>
      <vt:lpstr>Delta-star Transformation</vt:lpstr>
      <vt:lpstr>Delta-star Transformation</vt:lpstr>
      <vt:lpstr>Delta-star Transformation</vt:lpstr>
      <vt:lpstr>Star-Delta Transformation</vt:lpstr>
      <vt:lpstr>Delta-star Transformation</vt:lpstr>
      <vt:lpstr>Delta-star Transformation</vt:lpstr>
      <vt:lpstr>Group Assignment 4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ELECTRICITY (EE 151)</dc:title>
  <dc:creator/>
  <cp:lastModifiedBy/>
  <cp:revision>430</cp:revision>
  <dcterms:created xsi:type="dcterms:W3CDTF">2011-09-27T20:47:54Z</dcterms:created>
  <dcterms:modified xsi:type="dcterms:W3CDTF">2024-01-19T13:19:50Z</dcterms:modified>
</cp:coreProperties>
</file>