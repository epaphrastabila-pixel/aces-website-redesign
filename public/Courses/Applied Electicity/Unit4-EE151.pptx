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27"/>
  </p:notesMasterIdLst>
  <p:sldIdLst>
    <p:sldId id="505" r:id="rId2"/>
    <p:sldId id="818" r:id="rId3"/>
    <p:sldId id="819" r:id="rId4"/>
    <p:sldId id="820" r:id="rId5"/>
    <p:sldId id="821" r:id="rId6"/>
    <p:sldId id="822" r:id="rId7"/>
    <p:sldId id="823" r:id="rId8"/>
    <p:sldId id="824" r:id="rId9"/>
    <p:sldId id="825" r:id="rId10"/>
    <p:sldId id="826" r:id="rId11"/>
    <p:sldId id="827" r:id="rId12"/>
    <p:sldId id="828" r:id="rId13"/>
    <p:sldId id="829" r:id="rId14"/>
    <p:sldId id="830" r:id="rId15"/>
    <p:sldId id="831" r:id="rId16"/>
    <p:sldId id="832" r:id="rId17"/>
    <p:sldId id="833" r:id="rId18"/>
    <p:sldId id="834" r:id="rId19"/>
    <p:sldId id="835" r:id="rId20"/>
    <p:sldId id="836" r:id="rId21"/>
    <p:sldId id="837" r:id="rId22"/>
    <p:sldId id="838" r:id="rId23"/>
    <p:sldId id="839" r:id="rId24"/>
    <p:sldId id="840" r:id="rId25"/>
    <p:sldId id="84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77" autoAdjust="0"/>
    <p:restoredTop sz="92190" autoAdjust="0"/>
  </p:normalViewPr>
  <p:slideViewPr>
    <p:cSldViewPr>
      <p:cViewPr varScale="1">
        <p:scale>
          <a:sx n="69" d="100"/>
          <a:sy n="69" d="100"/>
        </p:scale>
        <p:origin x="629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9" d="100"/>
          <a:sy n="49" d="100"/>
        </p:scale>
        <p:origin x="-118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5.wmf"/><Relationship Id="rId1" Type="http://schemas.openxmlformats.org/officeDocument/2006/relationships/image" Target="../media/image20.e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11" Type="http://schemas.openxmlformats.org/officeDocument/2006/relationships/image" Target="../media/image36.wmf"/><Relationship Id="rId5" Type="http://schemas.openxmlformats.org/officeDocument/2006/relationships/image" Target="../media/image30.wmf"/><Relationship Id="rId10" Type="http://schemas.openxmlformats.org/officeDocument/2006/relationships/image" Target="../media/image35.wmf"/><Relationship Id="rId4" Type="http://schemas.openxmlformats.org/officeDocument/2006/relationships/image" Target="../media/image29.wmf"/><Relationship Id="rId9" Type="http://schemas.openxmlformats.org/officeDocument/2006/relationships/image" Target="../media/image3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Relationship Id="rId9" Type="http://schemas.openxmlformats.org/officeDocument/2006/relationships/image" Target="../media/image67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image" Target="../media/image70.wmf"/><Relationship Id="rId7" Type="http://schemas.openxmlformats.org/officeDocument/2006/relationships/image" Target="../media/image74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71800" cy="457200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5" y="0"/>
            <a:ext cx="2971800" cy="457200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r">
              <a:defRPr sz="1200"/>
            </a:lvl1pPr>
          </a:lstStyle>
          <a:p>
            <a:fld id="{C9075B04-F8B4-4231-9661-55128646DC08}" type="datetimeFigureOut">
              <a:rPr lang="en-US" smtClean="0"/>
              <a:pPr/>
              <a:t>11/26/2018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6" tIns="45718" rIns="91436" bIns="4571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685213"/>
            <a:ext cx="2971800" cy="457200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5" y="8685213"/>
            <a:ext cx="2971800" cy="457200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r">
              <a:defRPr sz="1200"/>
            </a:lvl1pPr>
          </a:lstStyle>
          <a:p>
            <a:fld id="{2C95E41A-7867-4B6C-8DD9-F287DAB25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18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B5DF85-C109-4F99-9C60-2DC78D1A5415}" type="slidenum">
              <a:rPr lang="ko-KR" altLang="en-US" smtClean="0">
                <a:solidFill>
                  <a:prstClr val="black"/>
                </a:solidFill>
                <a:latin typeface="맑은 고딕"/>
              </a:rPr>
              <a:pPr>
                <a:defRPr/>
              </a:pPr>
              <a:t>1</a:t>
            </a:fld>
            <a:endParaRPr lang="ko-KR" altLang="en-US" dirty="0">
              <a:solidFill>
                <a:prstClr val="black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78174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1447801"/>
            <a:ext cx="10363200" cy="1470025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200400"/>
            <a:ext cx="8534400" cy="9144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D3049-ED7B-4139-A9F3-1F5FC29486CF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7" name="부제목 2"/>
          <p:cNvSpPr txBox="1">
            <a:spLocks/>
          </p:cNvSpPr>
          <p:nvPr userDrawn="1"/>
        </p:nvSpPr>
        <p:spPr bwMode="auto">
          <a:xfrm>
            <a:off x="1930400" y="4648200"/>
            <a:ext cx="8534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sz="3200" kern="0" smtClean="0">
                <a:solidFill>
                  <a:srgbClr val="000000"/>
                </a:solidFill>
              </a:rPr>
              <a:t>Click to edit Master subtitle style</a:t>
            </a:r>
            <a:endParaRPr lang="ko-KR" altLang="en-US" sz="3200" ker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413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76301" y="152400"/>
            <a:ext cx="8978900" cy="1143000"/>
          </a:xfrm>
        </p:spPr>
        <p:txBody>
          <a:bodyPr/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r>
              <a:rPr lang="en-US" altLang="ko-KR" dirty="0" smtClean="0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4400" y="1403350"/>
            <a:ext cx="10363200" cy="469265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>
                <a:latin typeface="Garamond" panose="02020404030301010803" pitchFamily="18" charset="0"/>
              </a:defRPr>
            </a:lvl1pPr>
            <a:lvl2pPr marL="742950" indent="-285750">
              <a:buFont typeface="Wingdings" panose="05000000000000000000" pitchFamily="2" charset="2"/>
              <a:buChar char="v"/>
              <a:defRPr>
                <a:latin typeface="Garamond" panose="02020404030301010803" pitchFamily="18" charset="0"/>
              </a:defRPr>
            </a:lvl2pPr>
            <a:lvl3pPr marL="1143000" indent="-228600">
              <a:buFont typeface="Wingdings" panose="05000000000000000000" pitchFamily="2" charset="2"/>
              <a:buChar char="Ø"/>
              <a:defRPr>
                <a:latin typeface="Garamond" panose="02020404030301010803" pitchFamily="18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>
                <a:latin typeface="Garamond" panose="02020404030301010803" pitchFamily="18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ko-KR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latin typeface="한컴돋움" pitchFamily="18" charset="2"/>
                <a:ea typeface="한컴돋움" pitchFamily="18" charset="2"/>
                <a:cs typeface="한컴돋움" pitchFamily="18" charset="2"/>
              </a:defRPr>
            </a:lvl1pPr>
          </a:lstStyle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4033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76301" y="152400"/>
            <a:ext cx="901838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18710"/>
            <a:ext cx="10363200" cy="4677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</a:p>
        </p:txBody>
      </p:sp>
      <p:sp>
        <p:nvSpPr>
          <p:cNvPr id="952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400">
                <a:latin typeface="+mn-lt"/>
                <a:ea typeface="+mn-ea"/>
              </a:defRPr>
            </a:lvl1pPr>
          </a:lstStyle>
          <a:p>
            <a:pPr latinLnBrk="1">
              <a:defRPr/>
            </a:pPr>
            <a:fld id="{EDB87C7E-3D7E-436C-9FCA-C1D813413FB6}" type="slidenum">
              <a:rPr lang="ko-KR" altLang="en-US">
                <a:solidFill>
                  <a:srgbClr val="000000"/>
                </a:solidFill>
              </a:rPr>
              <a:pPr latinLnBrk="1">
                <a:defRPr/>
              </a:pPr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5240" name="Line 8"/>
          <p:cNvSpPr>
            <a:spLocks noChangeShapeType="1"/>
          </p:cNvSpPr>
          <p:nvPr/>
        </p:nvSpPr>
        <p:spPr bwMode="auto">
          <a:xfrm>
            <a:off x="774700" y="1357313"/>
            <a:ext cx="10560051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/>
          </a:ln>
          <a:effectLst/>
        </p:spPr>
        <p:txBody>
          <a:bodyPr/>
          <a:lstStyle/>
          <a:p>
            <a:pPr latinLnBrk="1">
              <a:defRPr/>
            </a:pPr>
            <a:endParaRPr lang="ko-KR" altLang="en-US" sz="1800" dirty="0">
              <a:solidFill>
                <a:srgbClr val="000000"/>
              </a:solidFill>
            </a:endParaRPr>
          </a:p>
        </p:txBody>
      </p:sp>
      <p:sp>
        <p:nvSpPr>
          <p:cNvPr id="95241" name="Line 9"/>
          <p:cNvSpPr>
            <a:spLocks noChangeShapeType="1"/>
          </p:cNvSpPr>
          <p:nvPr/>
        </p:nvSpPr>
        <p:spPr bwMode="auto">
          <a:xfrm>
            <a:off x="878418" y="6143625"/>
            <a:ext cx="10456333" cy="0"/>
          </a:xfrm>
          <a:prstGeom prst="line">
            <a:avLst/>
          </a:prstGeom>
          <a:noFill/>
          <a:ln w="57150">
            <a:solidFill>
              <a:srgbClr val="0099FF"/>
            </a:solidFill>
            <a:round/>
            <a:headEnd/>
            <a:tailEnd/>
          </a:ln>
          <a:effectLst/>
        </p:spPr>
        <p:txBody>
          <a:bodyPr/>
          <a:lstStyle/>
          <a:p>
            <a:pPr latinLnBrk="1">
              <a:defRPr/>
            </a:pPr>
            <a:endParaRPr lang="ko-KR" altLang="en-US" sz="1800" dirty="0">
              <a:solidFill>
                <a:srgbClr val="000000"/>
              </a:solidFill>
            </a:endParaRPr>
          </a:p>
        </p:txBody>
      </p:sp>
      <p:pic>
        <p:nvPicPr>
          <p:cNvPr id="8202" name="Picture 10" descr="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7751" y="6286501"/>
            <a:ext cx="20955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9"/>
          <p:cNvGrpSpPr/>
          <p:nvPr userDrawn="1"/>
        </p:nvGrpSpPr>
        <p:grpSpPr>
          <a:xfrm>
            <a:off x="9894688" y="398980"/>
            <a:ext cx="2195712" cy="654095"/>
            <a:chOff x="7308304" y="11088"/>
            <a:chExt cx="1835696" cy="842466"/>
          </a:xfrm>
        </p:grpSpPr>
        <p:pic>
          <p:nvPicPr>
            <p:cNvPr id="11" name="Picture 10" descr="index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8304" y="11088"/>
              <a:ext cx="685800" cy="76200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7956376" y="140012"/>
              <a:ext cx="1187624" cy="713542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00" b="1" kern="0" dirty="0" smtClean="0">
                  <a:solidFill>
                    <a:srgbClr val="000000"/>
                  </a:solidFill>
                  <a:latin typeface="Americana XBd BT" pitchFamily="18" charset="0"/>
                </a:rPr>
                <a:t>KNUST</a:t>
              </a:r>
            </a:p>
            <a:p>
              <a:pPr>
                <a:defRPr/>
              </a:pPr>
              <a:r>
                <a:rPr lang="en-US" sz="1000" b="1" kern="0" dirty="0" smtClean="0">
                  <a:solidFill>
                    <a:srgbClr val="000000"/>
                  </a:solidFill>
                  <a:latin typeface="Americana XBd BT" pitchFamily="18" charset="0"/>
                </a:rPr>
                <a:t>Telecomm.</a:t>
              </a:r>
            </a:p>
            <a:p>
              <a:pPr>
                <a:defRPr/>
              </a:pPr>
              <a:r>
                <a:rPr lang="en-US" sz="1000" b="1" kern="0" dirty="0" smtClean="0">
                  <a:solidFill>
                    <a:srgbClr val="000000"/>
                  </a:solidFill>
                  <a:latin typeface="Americana XBd BT" pitchFamily="18" charset="0"/>
                </a:rPr>
                <a:t>Engineering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27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5.e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22.wmf"/><Relationship Id="rId4" Type="http://schemas.openxmlformats.org/officeDocument/2006/relationships/image" Target="../media/image20.e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33.wmf"/><Relationship Id="rId3" Type="http://schemas.openxmlformats.org/officeDocument/2006/relationships/oleObject" Target="../embeddings/oleObject24.bin"/><Relationship Id="rId21" Type="http://schemas.openxmlformats.org/officeDocument/2006/relationships/oleObject" Target="../embeddings/oleObject33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0.wmf"/><Relationship Id="rId1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2.wmf"/><Relationship Id="rId20" Type="http://schemas.openxmlformats.org/officeDocument/2006/relationships/image" Target="../media/image34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8.bin"/><Relationship Id="rId24" Type="http://schemas.openxmlformats.org/officeDocument/2006/relationships/image" Target="../media/image36.wmf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23" Type="http://schemas.openxmlformats.org/officeDocument/2006/relationships/oleObject" Target="../embeddings/oleObject34.bin"/><Relationship Id="rId10" Type="http://schemas.openxmlformats.org/officeDocument/2006/relationships/image" Target="../media/image29.wmf"/><Relationship Id="rId19" Type="http://schemas.openxmlformats.org/officeDocument/2006/relationships/oleObject" Target="../embeddings/oleObject32.bin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1.wmf"/><Relationship Id="rId22" Type="http://schemas.openxmlformats.org/officeDocument/2006/relationships/image" Target="../media/image3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41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4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47.bin"/><Relationship Id="rId18" Type="http://schemas.openxmlformats.org/officeDocument/2006/relationships/image" Target="../media/image52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1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50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6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66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5.wmf"/><Relationship Id="rId20" Type="http://schemas.openxmlformats.org/officeDocument/2006/relationships/image" Target="../media/image67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62.wmf"/><Relationship Id="rId19" Type="http://schemas.openxmlformats.org/officeDocument/2006/relationships/oleObject" Target="../embeddings/oleObject64.bin"/><Relationship Id="rId4" Type="http://schemas.openxmlformats.org/officeDocument/2006/relationships/image" Target="../media/image59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64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75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72.wmf"/><Relationship Id="rId17" Type="http://schemas.openxmlformats.org/officeDocument/2006/relationships/oleObject" Target="../embeddings/oleObject7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4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71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7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1981200" y="1428736"/>
            <a:ext cx="8534400" cy="4643470"/>
          </a:xfrm>
        </p:spPr>
        <p:txBody>
          <a:bodyPr/>
          <a:lstStyle/>
          <a:p>
            <a:pPr algn="ctr">
              <a:buNone/>
            </a:pPr>
            <a:r>
              <a:rPr lang="en-US" sz="4400" dirty="0">
                <a:solidFill>
                  <a:schemeClr val="accent2"/>
                </a:solidFill>
              </a:rPr>
              <a:t>EE 151</a:t>
            </a:r>
          </a:p>
          <a:p>
            <a:pPr algn="ctr">
              <a:buNone/>
            </a:pPr>
            <a:r>
              <a:rPr lang="en-US" sz="4400" dirty="0" smtClean="0">
                <a:solidFill>
                  <a:schemeClr val="accent2"/>
                </a:solidFill>
              </a:rPr>
              <a:t>APPLIED ELECTRICITY</a:t>
            </a:r>
            <a:endParaRPr lang="en-US" sz="4400" dirty="0">
              <a:solidFill>
                <a:schemeClr val="accent2"/>
              </a:solidFill>
            </a:endParaRPr>
          </a:p>
          <a:p>
            <a:pPr algn="ctr">
              <a:buNone/>
            </a:pPr>
            <a:endParaRPr lang="en-US" altLang="ko-KR" sz="2800" dirty="0">
              <a:solidFill>
                <a:schemeClr val="accent2"/>
              </a:solidFill>
            </a:endParaRPr>
          </a:p>
          <a:p>
            <a:pPr algn="ctr">
              <a:buNone/>
            </a:pPr>
            <a:endParaRPr lang="en-US" altLang="ko-KR" sz="2800" dirty="0">
              <a:solidFill>
                <a:schemeClr val="accent2"/>
              </a:solidFill>
            </a:endParaRPr>
          </a:p>
          <a:p>
            <a:pPr algn="ctr">
              <a:buNone/>
            </a:pPr>
            <a:r>
              <a:rPr lang="en-US" altLang="ko-KR" sz="2800" dirty="0">
                <a:solidFill>
                  <a:schemeClr val="accent2"/>
                </a:solidFill>
              </a:rPr>
              <a:t>2016.09.06</a:t>
            </a:r>
          </a:p>
          <a:p>
            <a:pPr algn="ctr">
              <a:buNone/>
            </a:pPr>
            <a:endParaRPr lang="en-US" altLang="ko-KR" sz="2800" dirty="0">
              <a:solidFill>
                <a:schemeClr val="accent2"/>
              </a:solidFill>
            </a:endParaRPr>
          </a:p>
          <a:p>
            <a:pPr algn="ctr">
              <a:buNone/>
            </a:pPr>
            <a:r>
              <a:rPr lang="en-US" altLang="ko-KR" dirty="0" smtClean="0">
                <a:solidFill>
                  <a:schemeClr val="accent2"/>
                </a:solidFill>
                <a:latin typeface="Garamond" pitchFamily="18" charset="0"/>
              </a:rPr>
              <a:t>Ing. Dr. Abdul-Rahman Ahmed</a:t>
            </a:r>
            <a:endParaRPr lang="ko-KR" altLang="en-US" dirty="0">
              <a:solidFill>
                <a:schemeClr val="accent2"/>
              </a:solidFill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02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00FF"/>
                </a:solidFill>
              </a:rPr>
              <a:t>Magnetic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210800" cy="4692650"/>
          </a:xfrm>
        </p:spPr>
        <p:txBody>
          <a:bodyPr/>
          <a:lstStyle/>
          <a:p>
            <a:pPr marL="292100" indent="-292100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A magnetic circuit is a closed path followed by any group of lines of magnetic flux. </a:t>
            </a:r>
          </a:p>
          <a:p>
            <a:pPr marL="292100" indent="-292100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Magnetic circuits are created with coils and ferromagnetic (iron, </a:t>
            </a:r>
            <a:r>
              <a:rPr lang="en-US" sz="2800" dirty="0" smtClean="0">
                <a:solidFill>
                  <a:srgbClr val="0000FF"/>
                </a:solidFill>
              </a:rPr>
              <a:t>cobalt, nickel</a:t>
            </a:r>
            <a:r>
              <a:rPr lang="en-US" sz="2800" dirty="0">
                <a:solidFill>
                  <a:srgbClr val="0000FF"/>
                </a:solidFill>
              </a:rPr>
              <a:t>, </a:t>
            </a:r>
            <a:r>
              <a:rPr lang="en-US" sz="2800" dirty="0" err="1">
                <a:solidFill>
                  <a:srgbClr val="0000FF"/>
                </a:solidFill>
              </a:rPr>
              <a:t>etc</a:t>
            </a:r>
            <a:r>
              <a:rPr lang="en-US" sz="2800" dirty="0">
                <a:solidFill>
                  <a:srgbClr val="0000FF"/>
                </a:solidFill>
              </a:rPr>
              <a:t>) or permanent magnetic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3657600"/>
            <a:ext cx="5714999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01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515600" cy="4692650"/>
          </a:xfrm>
        </p:spPr>
        <p:txBody>
          <a:bodyPr/>
          <a:lstStyle/>
          <a:p>
            <a:pPr marL="292100" indent="-292100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0000FF"/>
                </a:solidFill>
              </a:rPr>
              <a:t>Terminologies in magnetic circuits</a:t>
            </a:r>
          </a:p>
          <a:p>
            <a:pPr marL="292100" algn="just">
              <a:lnSpc>
                <a:spcPct val="120000"/>
              </a:lnSpc>
            </a:pPr>
            <a:r>
              <a:rPr lang="en-US" sz="2400" dirty="0">
                <a:solidFill>
                  <a:srgbClr val="0000FF"/>
                </a:solidFill>
              </a:rPr>
              <a:t>Flux(</a:t>
            </a:r>
            <a:r>
              <a:rPr lang="el-GR" sz="2400" dirty="0">
                <a:solidFill>
                  <a:srgbClr val="0000FF"/>
                </a:solidFill>
                <a:latin typeface="Arial"/>
                <a:cs typeface="Arial"/>
              </a:rPr>
              <a:t>ϕ</a:t>
            </a:r>
            <a: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endParaRPr lang="en-US" sz="2400" dirty="0">
              <a:solidFill>
                <a:srgbClr val="0000FF"/>
              </a:solidFill>
            </a:endParaRPr>
          </a:p>
          <a:p>
            <a:pPr marL="292100" indent="0" algn="just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smtClean="0">
                <a:solidFill>
                  <a:srgbClr val="0000FF"/>
                </a:solidFill>
              </a:rPr>
              <a:t>It </a:t>
            </a:r>
            <a:r>
              <a:rPr lang="en-US" sz="2400" dirty="0">
                <a:solidFill>
                  <a:srgbClr val="0000FF"/>
                </a:solidFill>
              </a:rPr>
              <a:t>is a measure of the amount of magnetic field passing through a given surface. The SI unit of flux is Weber(</a:t>
            </a:r>
            <a:r>
              <a:rPr lang="en-US" sz="2400" dirty="0" err="1">
                <a:solidFill>
                  <a:srgbClr val="0000FF"/>
                </a:solidFill>
              </a:rPr>
              <a:t>Wb</a:t>
            </a:r>
            <a:r>
              <a:rPr lang="en-US" sz="2400" dirty="0" smtClean="0">
                <a:solidFill>
                  <a:srgbClr val="0000FF"/>
                </a:solidFill>
              </a:rPr>
              <a:t>).</a:t>
            </a:r>
            <a:endParaRPr lang="en-US" sz="2400" dirty="0">
              <a:solidFill>
                <a:srgbClr val="0000FF"/>
              </a:solidFill>
            </a:endParaRPr>
          </a:p>
          <a:p>
            <a:pPr marL="292100" algn="just">
              <a:lnSpc>
                <a:spcPct val="120000"/>
              </a:lnSpc>
            </a:pPr>
            <a:r>
              <a:rPr lang="en-US" sz="2400" dirty="0">
                <a:solidFill>
                  <a:srgbClr val="0000FF"/>
                </a:solidFill>
              </a:rPr>
              <a:t>Flux density (</a:t>
            </a:r>
            <a:r>
              <a:rPr lang="en-US" sz="2400" dirty="0" smtClean="0">
                <a:solidFill>
                  <a:srgbClr val="0000FF"/>
                </a:solidFill>
              </a:rPr>
              <a:t>B)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400" dirty="0" smtClean="0">
                <a:solidFill>
                  <a:srgbClr val="0000FF"/>
                </a:solidFill>
              </a:rPr>
              <a:t>It </a:t>
            </a:r>
            <a:r>
              <a:rPr lang="en-US" sz="2400" dirty="0">
                <a:solidFill>
                  <a:srgbClr val="0000FF"/>
                </a:solidFill>
              </a:rPr>
              <a:t>is the flux per unit area. It is the flux divided by the cross-sectional area. The SI </a:t>
            </a:r>
            <a:r>
              <a:rPr lang="en-US" sz="2400" dirty="0" smtClean="0">
                <a:solidFill>
                  <a:srgbClr val="0000FF"/>
                </a:solidFill>
              </a:rPr>
              <a:t>unit  is </a:t>
            </a:r>
            <a:r>
              <a:rPr lang="en-US" sz="2400" dirty="0">
                <a:solidFill>
                  <a:srgbClr val="0000FF"/>
                </a:solidFill>
              </a:rPr>
              <a:t>Weber per square meter (</a:t>
            </a:r>
            <a:r>
              <a:rPr lang="en-US" sz="2400" dirty="0" err="1">
                <a:solidFill>
                  <a:srgbClr val="0000FF"/>
                </a:solidFill>
              </a:rPr>
              <a:t>Wb</a:t>
            </a:r>
            <a:r>
              <a:rPr lang="en-US" sz="2400" dirty="0">
                <a:solidFill>
                  <a:srgbClr val="0000FF"/>
                </a:solidFill>
              </a:rPr>
              <a:t>/m</a:t>
            </a:r>
            <a:r>
              <a:rPr lang="en-US" sz="2400" baseline="30000" dirty="0">
                <a:solidFill>
                  <a:srgbClr val="0000FF"/>
                </a:solidFill>
              </a:rPr>
              <a:t>2</a:t>
            </a:r>
            <a:r>
              <a:rPr lang="en-US" sz="2400" dirty="0">
                <a:solidFill>
                  <a:srgbClr val="0000FF"/>
                </a:solidFill>
              </a:rPr>
              <a:t>) or Tesla (T)</a:t>
            </a:r>
          </a:p>
          <a:p>
            <a:pPr marL="292100" algn="just">
              <a:lnSpc>
                <a:spcPct val="120000"/>
              </a:lnSpc>
            </a:pPr>
            <a:endParaRPr lang="en-US" sz="96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522264"/>
              </p:ext>
            </p:extLst>
          </p:nvPr>
        </p:nvGraphicFramePr>
        <p:xfrm>
          <a:off x="5105400" y="4800600"/>
          <a:ext cx="13208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379" name="Equation" r:id="rId3" imgW="1320480" imgH="1155600" progId="Equation.3">
                  <p:embed/>
                </p:oleObj>
              </mc:Choice>
              <mc:Fallback>
                <p:oleObj name="Equation" r:id="rId3" imgW="1320480" imgH="1155600" progId="Equation.3">
                  <p:embed/>
                  <p:pic>
                    <p:nvPicPr>
                      <p:cNvPr id="3747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800600"/>
                        <a:ext cx="13208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236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100" indent="-292100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Terminologies in magnetic circuits</a:t>
            </a:r>
          </a:p>
          <a:p>
            <a:pPr marL="292100" algn="just">
              <a:lnSpc>
                <a:spcPct val="120000"/>
              </a:lnSpc>
            </a:pPr>
            <a:r>
              <a:rPr lang="en-US" sz="2800" dirty="0" err="1">
                <a:solidFill>
                  <a:srgbClr val="0000FF"/>
                </a:solidFill>
              </a:rPr>
              <a:t>Magnetomotive</a:t>
            </a:r>
            <a:r>
              <a:rPr lang="en-US" sz="2800" dirty="0">
                <a:solidFill>
                  <a:srgbClr val="0000FF"/>
                </a:solidFill>
              </a:rPr>
              <a:t> force (F)</a:t>
            </a:r>
          </a:p>
          <a:p>
            <a:pPr marL="279400" indent="0" algn="just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FF"/>
                </a:solidFill>
              </a:rPr>
              <a:t>It is the source which sets up the flux flowing around a magnetic circuit. The unit is Amperes (A) or Ampere-turns(AT). It is the product of current in coil and number of turns of coil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4648200" y="4343400"/>
          <a:ext cx="1612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403" name="Equation" r:id="rId3" imgW="1612800" imgH="393480" progId="Equation.3">
                  <p:embed/>
                </p:oleObj>
              </mc:Choice>
              <mc:Fallback>
                <p:oleObj name="Equation" r:id="rId3" imgW="1612800" imgH="393480" progId="Equation.3">
                  <p:embed/>
                  <p:pic>
                    <p:nvPicPr>
                      <p:cNvPr id="3747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343400"/>
                        <a:ext cx="1612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354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100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Reluctance(S or       )</a:t>
            </a:r>
          </a:p>
          <a:p>
            <a:pPr marL="627063" indent="-334963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	It is likened to resistance. It is the opposition offered by a material to the flow of magnetic flux. </a:t>
            </a:r>
          </a:p>
          <a:p>
            <a:pPr marL="627063" indent="-334963" algn="just">
              <a:lnSpc>
                <a:spcPct val="120000"/>
              </a:lnSpc>
            </a:pPr>
            <a:endParaRPr lang="en-US" sz="2800" dirty="0">
              <a:solidFill>
                <a:srgbClr val="0000FF"/>
              </a:solidFill>
            </a:endParaRPr>
          </a:p>
          <a:p>
            <a:pPr marL="292100" indent="0" algn="just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FF"/>
                </a:solidFill>
              </a:rPr>
              <a:t>		is the length of the magnetic path in meters (m)</a:t>
            </a:r>
          </a:p>
          <a:p>
            <a:pPr marL="292100" indent="0" algn="just">
              <a:lnSpc>
                <a:spcPct val="12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                 </a:t>
            </a:r>
            <a:r>
              <a:rPr lang="en-US" sz="2800" dirty="0">
                <a:solidFill>
                  <a:srgbClr val="0000FF"/>
                </a:solidFill>
              </a:rPr>
              <a:t>is the cross sectional area in square meter (m</a:t>
            </a:r>
            <a:r>
              <a:rPr lang="en-US" sz="2800" baseline="30000" dirty="0">
                <a:solidFill>
                  <a:srgbClr val="0000FF"/>
                </a:solidFill>
              </a:rPr>
              <a:t>2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endParaRPr lang="en-US" sz="2800" dirty="0" smtClean="0">
              <a:solidFill>
                <a:srgbClr val="0000FF"/>
              </a:solidFill>
            </a:endParaRPr>
          </a:p>
          <a:p>
            <a:pPr marL="292100" indent="0" algn="just">
              <a:lnSpc>
                <a:spcPct val="12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      The unit of reluctance is ampere-turns per weber    (AT/</a:t>
            </a:r>
            <a:r>
              <a:rPr lang="en-US" sz="2800" dirty="0" err="1" smtClean="0">
                <a:solidFill>
                  <a:srgbClr val="0000FF"/>
                </a:solidFill>
              </a:rPr>
              <a:t>Wb</a:t>
            </a:r>
            <a:r>
              <a:rPr lang="en-US" sz="2800" dirty="0" smtClean="0">
                <a:solidFill>
                  <a:srgbClr val="0000FF"/>
                </a:solidFill>
              </a:rPr>
              <a:t>)                                                    </a:t>
            </a:r>
          </a:p>
          <a:p>
            <a:pPr marL="292100" indent="0" algn="just">
              <a:lnSpc>
                <a:spcPct val="12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    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04869"/>
              </p:ext>
            </p:extLst>
          </p:nvPr>
        </p:nvGraphicFramePr>
        <p:xfrm>
          <a:off x="3581400" y="1524000"/>
          <a:ext cx="431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459" name="Equation" r:id="rId3" imgW="431640" imgH="406080" progId="Equation.3">
                  <p:embed/>
                </p:oleObj>
              </mc:Choice>
              <mc:Fallback>
                <p:oleObj name="Equation" r:id="rId3" imgW="431640" imgH="406080" progId="Equation.3">
                  <p:embed/>
                  <p:pic>
                    <p:nvPicPr>
                      <p:cNvPr id="41472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524000"/>
                        <a:ext cx="431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589106"/>
              </p:ext>
            </p:extLst>
          </p:nvPr>
        </p:nvGraphicFramePr>
        <p:xfrm>
          <a:off x="5562600" y="2590800"/>
          <a:ext cx="22479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460" name="Equation" r:id="rId5" imgW="2247840" imgH="1295280" progId="Equation.3">
                  <p:embed/>
                </p:oleObj>
              </mc:Choice>
              <mc:Fallback>
                <p:oleObj name="Equation" r:id="rId5" imgW="2247840" imgH="1295280" progId="Equation.3">
                  <p:embed/>
                  <p:pic>
                    <p:nvPicPr>
                      <p:cNvPr id="3747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590800"/>
                        <a:ext cx="22479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571859"/>
              </p:ext>
            </p:extLst>
          </p:nvPr>
        </p:nvGraphicFramePr>
        <p:xfrm>
          <a:off x="2286000" y="3857897"/>
          <a:ext cx="355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461" name="Equation" r:id="rId7" imgW="355320" imgH="393480" progId="Equation.3">
                  <p:embed/>
                </p:oleObj>
              </mc:Choice>
              <mc:Fallback>
                <p:oleObj name="Equation" r:id="rId7" imgW="355320" imgH="393480" progId="Equation.3">
                  <p:embed/>
                  <p:pic>
                    <p:nvPicPr>
                      <p:cNvPr id="41472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857897"/>
                        <a:ext cx="355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091044"/>
              </p:ext>
            </p:extLst>
          </p:nvPr>
        </p:nvGraphicFramePr>
        <p:xfrm>
          <a:off x="2247900" y="4383496"/>
          <a:ext cx="393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462" name="Equation" r:id="rId9" imgW="393480" imgH="406080" progId="Equation.3">
                  <p:embed/>
                </p:oleObj>
              </mc:Choice>
              <mc:Fallback>
                <p:oleObj name="Equation" r:id="rId9" imgW="393480" imgH="406080" progId="Equation.3">
                  <p:embed/>
                  <p:pic>
                    <p:nvPicPr>
                      <p:cNvPr id="41472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4383496"/>
                        <a:ext cx="393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119991"/>
              </p:ext>
            </p:extLst>
          </p:nvPr>
        </p:nvGraphicFramePr>
        <p:xfrm>
          <a:off x="4627880" y="5575300"/>
          <a:ext cx="149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463" name="Equation" r:id="rId11" imgW="1498320" imgH="520560" progId="Equation.3">
                  <p:embed/>
                </p:oleObj>
              </mc:Choice>
              <mc:Fallback>
                <p:oleObj name="Equation" r:id="rId11" imgW="1498320" imgH="520560" progId="Equation.3">
                  <p:embed/>
                  <p:pic>
                    <p:nvPicPr>
                      <p:cNvPr id="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7880" y="5575300"/>
                        <a:ext cx="1498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659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100" indent="-292100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Terminologies in magnetic circuits</a:t>
            </a:r>
          </a:p>
          <a:p>
            <a:pPr marL="292100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Magnetic field intensity (H</a:t>
            </a:r>
            <a:r>
              <a:rPr lang="en-US" sz="2800" dirty="0" smtClean="0">
                <a:solidFill>
                  <a:srgbClr val="0000FF"/>
                </a:solidFill>
              </a:rPr>
              <a:t>)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    </a:t>
            </a:r>
            <a:r>
              <a:rPr lang="en-US" sz="2800" dirty="0">
                <a:solidFill>
                  <a:srgbClr val="0000FF"/>
                </a:solidFill>
              </a:rPr>
              <a:t>It is the </a:t>
            </a:r>
            <a:r>
              <a:rPr lang="en-US" sz="2800" dirty="0" err="1">
                <a:solidFill>
                  <a:srgbClr val="0000FF"/>
                </a:solidFill>
              </a:rPr>
              <a:t>mmf</a:t>
            </a:r>
            <a:r>
              <a:rPr lang="en-US" sz="2800" dirty="0">
                <a:solidFill>
                  <a:srgbClr val="0000FF"/>
                </a:solidFill>
              </a:rPr>
              <a:t> per unit length. The unit is Amperes     per meter (A/m)or </a:t>
            </a:r>
            <a:r>
              <a:rPr lang="en-US" sz="2800" dirty="0" err="1">
                <a:solidFill>
                  <a:srgbClr val="0000FF"/>
                </a:solidFill>
              </a:rPr>
              <a:t>Amper</a:t>
            </a:r>
            <a:r>
              <a:rPr lang="en-US" sz="2800" dirty="0">
                <a:solidFill>
                  <a:srgbClr val="0000FF"/>
                </a:solidFill>
              </a:rPr>
              <a:t>-Turns per meter (AT/m)</a:t>
            </a:r>
          </a:p>
          <a:p>
            <a:pPr marL="292100" algn="just">
              <a:lnSpc>
                <a:spcPct val="120000"/>
              </a:lnSpc>
            </a:pPr>
            <a:endParaRPr lang="en-US" sz="96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5642505"/>
              </p:ext>
            </p:extLst>
          </p:nvPr>
        </p:nvGraphicFramePr>
        <p:xfrm>
          <a:off x="4629151" y="4267200"/>
          <a:ext cx="14732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450" name="Equation" r:id="rId3" imgW="1473120" imgH="1155600" progId="Equation.3">
                  <p:embed/>
                </p:oleObj>
              </mc:Choice>
              <mc:Fallback>
                <p:oleObj name="Equation" r:id="rId3" imgW="1473120" imgH="1155600" progId="Equation.3">
                  <p:embed/>
                  <p:pic>
                    <p:nvPicPr>
                      <p:cNvPr id="3747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151" y="4267200"/>
                        <a:ext cx="14732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398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100" indent="-292100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B-H curves</a:t>
            </a:r>
          </a:p>
          <a:p>
            <a:pPr marL="292100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They are curves which show the relation between magnetic flux density and magnetic field intensity for various materials</a:t>
            </a:r>
          </a:p>
          <a:p>
            <a:pPr marL="292100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The B-H curve of vacuum is as shown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sz="2800" dirty="0">
              <a:solidFill>
                <a:srgbClr val="0000FF"/>
              </a:solidFill>
            </a:endParaRPr>
          </a:p>
          <a:p>
            <a:pPr marL="1536700" lvl="2" indent="-274638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 is a constant called magnetic </a:t>
            </a:r>
            <a:r>
              <a:rPr lang="en-US" sz="2800" dirty="0" smtClean="0">
                <a:solidFill>
                  <a:srgbClr val="0000FF"/>
                </a:solidFill>
              </a:rPr>
              <a:t>constant </a:t>
            </a:r>
            <a:r>
              <a:rPr lang="en-US" sz="2800" dirty="0">
                <a:solidFill>
                  <a:srgbClr val="0000FF"/>
                </a:solidFill>
              </a:rPr>
              <a:t>or permeability of free </a:t>
            </a:r>
            <a:r>
              <a:rPr lang="en-US" sz="2800" dirty="0" smtClean="0">
                <a:solidFill>
                  <a:srgbClr val="0000FF"/>
                </a:solidFill>
              </a:rPr>
              <a:t>space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2616200" y="3733800"/>
          <a:ext cx="1879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498" name="Equation" r:id="rId3" imgW="1879560" imgH="596880" progId="Equation.3">
                  <p:embed/>
                </p:oleObj>
              </mc:Choice>
              <mc:Fallback>
                <p:oleObj name="Equation" r:id="rId3" imgW="1879560" imgH="596880" progId="Equation.3">
                  <p:embed/>
                  <p:pic>
                    <p:nvPicPr>
                      <p:cNvPr id="3747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3733800"/>
                        <a:ext cx="1879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905447"/>
              </p:ext>
            </p:extLst>
          </p:nvPr>
        </p:nvGraphicFramePr>
        <p:xfrm>
          <a:off x="1752600" y="4302397"/>
          <a:ext cx="482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499" name="Equation" r:id="rId5" imgW="482400" imgH="596880" progId="Equation.3">
                  <p:embed/>
                </p:oleObj>
              </mc:Choice>
              <mc:Fallback>
                <p:oleObj name="Equation" r:id="rId5" imgW="482400" imgH="596880" progId="Equation.3">
                  <p:embed/>
                  <p:pic>
                    <p:nvPicPr>
                      <p:cNvPr id="41165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302397"/>
                        <a:ext cx="482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60892"/>
              </p:ext>
            </p:extLst>
          </p:nvPr>
        </p:nvGraphicFramePr>
        <p:xfrm>
          <a:off x="2616200" y="5473700"/>
          <a:ext cx="42926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500" name="Equation" r:id="rId7" imgW="4292280" imgH="622080" progId="Equation.3">
                  <p:embed/>
                </p:oleObj>
              </mc:Choice>
              <mc:Fallback>
                <p:oleObj name="Equation" r:id="rId7" imgW="4292280" imgH="622080" progId="Equation.3">
                  <p:embed/>
                  <p:pic>
                    <p:nvPicPr>
                      <p:cNvPr id="41165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5473700"/>
                        <a:ext cx="42926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523244"/>
              </p:ext>
            </p:extLst>
          </p:nvPr>
        </p:nvGraphicFramePr>
        <p:xfrm>
          <a:off x="8229600" y="2438400"/>
          <a:ext cx="37338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501" name="Visio" r:id="rId9" imgW="2426512" imgH="1542670" progId="Visio.Drawing.11">
                  <p:embed/>
                </p:oleObj>
              </mc:Choice>
              <mc:Fallback>
                <p:oleObj name="Visio" r:id="rId9" imgW="2426512" imgH="1542670" progId="Visio.Drawing.11">
                  <p:embed/>
                  <p:pic>
                    <p:nvPicPr>
                      <p:cNvPr id="4116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2438400"/>
                        <a:ext cx="37338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195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100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B-H curve of non-magnetic materials</a:t>
            </a:r>
          </a:p>
          <a:p>
            <a:pPr marL="292100" indent="0" algn="just">
              <a:lnSpc>
                <a:spcPct val="12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 </a:t>
            </a:r>
            <a:r>
              <a:rPr lang="en-US" sz="2800" dirty="0">
                <a:solidFill>
                  <a:srgbClr val="0000FF"/>
                </a:solidFill>
              </a:rPr>
              <a:t>The B-H curves are almost identical to that of  </a:t>
            </a:r>
            <a:r>
              <a:rPr lang="en-US" sz="2800" dirty="0" smtClean="0">
                <a:solidFill>
                  <a:srgbClr val="0000FF"/>
                </a:solidFill>
              </a:rPr>
              <a:t>vacuum</a:t>
            </a:r>
            <a:r>
              <a:rPr lang="en-US" sz="28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3124200" y="3048000"/>
          <a:ext cx="1879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3498" name="Equation" r:id="rId3" imgW="1879560" imgH="596880" progId="Equation.3">
                  <p:embed/>
                </p:oleObj>
              </mc:Choice>
              <mc:Fallback>
                <p:oleObj name="Equation" r:id="rId3" imgW="1879560" imgH="596880" progId="Equation.3">
                  <p:embed/>
                  <p:pic>
                    <p:nvPicPr>
                      <p:cNvPr id="3747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048000"/>
                        <a:ext cx="1879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9916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100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B-H curve of magnetic materials</a:t>
            </a:r>
          </a:p>
          <a:p>
            <a:pPr marL="292100" indent="0" algn="just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FF"/>
                </a:solidFill>
              </a:rPr>
              <a:t>	The B-H curves have linear, non-linear and saturation regions                                                      </a:t>
            </a:r>
          </a:p>
          <a:p>
            <a:pPr marL="292100" indent="0" algn="just">
              <a:lnSpc>
                <a:spcPct val="12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  </a:t>
            </a:r>
            <a:endParaRPr lang="en-US" sz="2800" dirty="0">
              <a:solidFill>
                <a:srgbClr val="0000FF"/>
              </a:solidFill>
            </a:endParaRPr>
          </a:p>
          <a:p>
            <a:pPr marL="627063" indent="-334963" algn="just">
              <a:lnSpc>
                <a:spcPct val="120000"/>
              </a:lnSpc>
            </a:pPr>
            <a:endParaRPr lang="en-US" sz="2800" dirty="0">
              <a:solidFill>
                <a:srgbClr val="0000FF"/>
              </a:solidFill>
            </a:endParaRPr>
          </a:p>
          <a:p>
            <a:pPr marL="1536700" lvl="2" indent="-274638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 is a the relative </a:t>
            </a:r>
            <a:r>
              <a:rPr lang="en-US" sz="2800" dirty="0" smtClean="0">
                <a:solidFill>
                  <a:srgbClr val="0000FF"/>
                </a:solidFill>
              </a:rPr>
              <a:t>permeability </a:t>
            </a:r>
            <a:r>
              <a:rPr lang="en-US" sz="2800" dirty="0">
                <a:solidFill>
                  <a:srgbClr val="0000FF"/>
                </a:solidFill>
              </a:rPr>
              <a:t>of the magnetic material.</a:t>
            </a:r>
          </a:p>
          <a:p>
            <a:pPr marL="627062" lvl="2" indent="0" algn="just">
              <a:lnSpc>
                <a:spcPct val="12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        The </a:t>
            </a:r>
            <a:r>
              <a:rPr lang="en-US" sz="2800" dirty="0">
                <a:solidFill>
                  <a:srgbClr val="0000FF"/>
                </a:solidFill>
              </a:rPr>
              <a:t>above  formula only works for the </a:t>
            </a:r>
            <a:r>
              <a:rPr lang="en-US" sz="2800" dirty="0" smtClean="0">
                <a:solidFill>
                  <a:srgbClr val="0000FF"/>
                </a:solidFill>
              </a:rPr>
              <a:t>linear </a:t>
            </a:r>
            <a:r>
              <a:rPr lang="en-US" sz="2800" dirty="0">
                <a:solidFill>
                  <a:srgbClr val="0000FF"/>
                </a:solidFill>
              </a:rPr>
              <a:t>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2667000" y="2895600"/>
          <a:ext cx="2349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532" name="Equation" r:id="rId3" imgW="2349360" imgH="596880" progId="Equation.3">
                  <p:embed/>
                </p:oleObj>
              </mc:Choice>
              <mc:Fallback>
                <p:oleObj name="Equation" r:id="rId3" imgW="2349360" imgH="596880" progId="Equation.3">
                  <p:embed/>
                  <p:pic>
                    <p:nvPicPr>
                      <p:cNvPr id="3747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895600"/>
                        <a:ext cx="23495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92286"/>
              </p:ext>
            </p:extLst>
          </p:nvPr>
        </p:nvGraphicFramePr>
        <p:xfrm>
          <a:off x="1676400" y="3749675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533" name="Equation" r:id="rId5" imgW="482400" imgH="583920" progId="Equation.3">
                  <p:embed/>
                </p:oleObj>
              </mc:Choice>
              <mc:Fallback>
                <p:oleObj name="Equation" r:id="rId5" imgW="482400" imgH="583920" progId="Equation.3">
                  <p:embed/>
                  <p:pic>
                    <p:nvPicPr>
                      <p:cNvPr id="41165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749675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722224" y="4333875"/>
            <a:ext cx="2469776" cy="1676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50618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Analysis of linear magnetic circuits</a:t>
            </a:r>
          </a:p>
          <a:p>
            <a:pPr marL="287338" indent="4763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Magnetic circuits are analyzed by drawing an equivalent electric  circuit and applying the laws used to analyze electric circuits. The following similarities exit.</a:t>
            </a:r>
          </a:p>
          <a:p>
            <a:pPr marL="860425" indent="-568325" algn="just">
              <a:lnSpc>
                <a:spcPct val="120000"/>
              </a:lnSpc>
              <a:buAutoNum type="alphaLcParenBoth"/>
            </a:pPr>
            <a:r>
              <a:rPr lang="en-US" sz="2800" dirty="0">
                <a:solidFill>
                  <a:srgbClr val="0000FF"/>
                </a:solidFill>
              </a:rPr>
              <a:t>Flux is similar to current</a:t>
            </a:r>
          </a:p>
          <a:p>
            <a:pPr marL="860425" indent="-568325" algn="just">
              <a:lnSpc>
                <a:spcPct val="120000"/>
              </a:lnSpc>
              <a:buAutoNum type="alphaLcParenBoth"/>
            </a:pPr>
            <a:r>
              <a:rPr lang="en-US" sz="2800" dirty="0" err="1">
                <a:solidFill>
                  <a:srgbClr val="0000FF"/>
                </a:solidFill>
              </a:rPr>
              <a:t>Magnetomotive</a:t>
            </a:r>
            <a:r>
              <a:rPr lang="en-US" sz="2800" dirty="0">
                <a:solidFill>
                  <a:srgbClr val="0000FF"/>
                </a:solidFill>
              </a:rPr>
              <a:t> force is similar to electromotive force</a:t>
            </a:r>
          </a:p>
          <a:p>
            <a:pPr marL="860425" indent="-568325" algn="just">
              <a:lnSpc>
                <a:spcPct val="120000"/>
              </a:lnSpc>
              <a:buAutoNum type="alphaLcParenBoth"/>
            </a:pPr>
            <a:r>
              <a:rPr lang="en-US" sz="2800" dirty="0">
                <a:solidFill>
                  <a:srgbClr val="0000FF"/>
                </a:solidFill>
              </a:rPr>
              <a:t>Reluctance is similar to resistance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277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Analysis of non-linear magnetic circuits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Not all the laws of electric circuits can be applied to magnetic circuits. </a:t>
            </a:r>
            <a:r>
              <a:rPr lang="en-US" sz="2800" dirty="0" err="1">
                <a:solidFill>
                  <a:srgbClr val="0000FF"/>
                </a:solidFill>
              </a:rPr>
              <a:t>Kirchoff’s</a:t>
            </a:r>
            <a:r>
              <a:rPr lang="en-US" sz="2800" dirty="0">
                <a:solidFill>
                  <a:srgbClr val="0000FF"/>
                </a:solidFill>
              </a:rPr>
              <a:t> laws are applicable and when applied to magnetic circuits are stated as follows</a:t>
            </a:r>
            <a:r>
              <a:rPr lang="en-US" sz="2800" dirty="0" smtClean="0">
                <a:solidFill>
                  <a:srgbClr val="0000FF"/>
                </a:solidFill>
              </a:rPr>
              <a:t>:</a:t>
            </a:r>
            <a:endParaRPr lang="en-US" sz="280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       First </a:t>
            </a:r>
            <a:r>
              <a:rPr lang="en-US" sz="2800" dirty="0">
                <a:solidFill>
                  <a:srgbClr val="0000FF"/>
                </a:solidFill>
              </a:rPr>
              <a:t>law: The total magnetic flux towards a junction is equal to </a:t>
            </a:r>
            <a:r>
              <a:rPr lang="en-US" sz="2800" dirty="0" smtClean="0">
                <a:solidFill>
                  <a:srgbClr val="0000FF"/>
                </a:solidFill>
              </a:rPr>
              <a:t>the   </a:t>
            </a:r>
            <a:r>
              <a:rPr lang="en-US" sz="2800" dirty="0">
                <a:solidFill>
                  <a:srgbClr val="0000FF"/>
                </a:solidFill>
              </a:rPr>
              <a:t>total magnetic flux away from that junction.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       Second </a:t>
            </a:r>
            <a:r>
              <a:rPr lang="en-US" sz="2800" dirty="0">
                <a:solidFill>
                  <a:srgbClr val="0000FF"/>
                </a:solidFill>
              </a:rPr>
              <a:t>law: In any closed magnetic circuit, the algebraic sum of the </a:t>
            </a:r>
            <a:r>
              <a:rPr lang="en-US" sz="2800" dirty="0" smtClean="0">
                <a:solidFill>
                  <a:srgbClr val="0000FF"/>
                </a:solidFill>
              </a:rPr>
              <a:t> product </a:t>
            </a:r>
            <a:r>
              <a:rPr lang="en-US" sz="2800" dirty="0">
                <a:solidFill>
                  <a:srgbClr val="0000FF"/>
                </a:solidFill>
              </a:rPr>
              <a:t>of magnetic field strength and the length of each </a:t>
            </a:r>
            <a:r>
              <a:rPr lang="en-US" sz="2800" dirty="0" smtClean="0">
                <a:solidFill>
                  <a:srgbClr val="0000FF"/>
                </a:solidFill>
              </a:rPr>
              <a:t>part </a:t>
            </a:r>
            <a:r>
              <a:rPr lang="en-US" sz="2800" dirty="0">
                <a:solidFill>
                  <a:srgbClr val="0000FF"/>
                </a:solidFill>
              </a:rPr>
              <a:t>of the circuit is equal to </a:t>
            </a:r>
            <a:r>
              <a:rPr lang="en-US" sz="2800" dirty="0" smtClean="0">
                <a:solidFill>
                  <a:srgbClr val="0000FF"/>
                </a:solidFill>
              </a:rPr>
              <a:t>the </a:t>
            </a:r>
            <a:r>
              <a:rPr lang="en-US" sz="2800" dirty="0">
                <a:solidFill>
                  <a:srgbClr val="0000FF"/>
                </a:solidFill>
              </a:rPr>
              <a:t>resultant </a:t>
            </a:r>
            <a:r>
              <a:rPr lang="en-US" sz="2800" dirty="0" err="1">
                <a:solidFill>
                  <a:srgbClr val="0000FF"/>
                </a:solidFill>
              </a:rPr>
              <a:t>magnetomotive</a:t>
            </a:r>
            <a:r>
              <a:rPr lang="en-US" sz="2800" dirty="0">
                <a:solidFill>
                  <a:srgbClr val="0000FF"/>
                </a:solidFill>
              </a:rPr>
              <a:t> 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63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Example 1</a:t>
            </a:r>
          </a:p>
          <a:p>
            <a:r>
              <a:rPr lang="en-GB" sz="2800" dirty="0"/>
              <a:t>A 600-turn coil carrying a current of 0.2A sets up a flux of 200mWb in a magnetic circuit. </a:t>
            </a:r>
            <a:r>
              <a:rPr lang="en-GB" sz="2800" dirty="0" smtClean="0"/>
              <a:t>       </a:t>
            </a:r>
          </a:p>
          <a:p>
            <a:pPr marL="0" indent="0">
              <a:buNone/>
            </a:pPr>
            <a:r>
              <a:rPr lang="en-GB" sz="2800" dirty="0" smtClean="0"/>
              <a:t> </a:t>
            </a:r>
            <a:r>
              <a:rPr lang="en-GB" sz="2800" dirty="0"/>
              <a:t>(</a:t>
            </a:r>
            <a:r>
              <a:rPr lang="en-GB" sz="2800" dirty="0" err="1"/>
              <a:t>i</a:t>
            </a:r>
            <a:r>
              <a:rPr lang="en-GB" sz="2800" dirty="0"/>
              <a:t>) What is the </a:t>
            </a:r>
            <a:r>
              <a:rPr lang="en-GB" sz="2800" dirty="0" err="1"/>
              <a:t>mmf</a:t>
            </a:r>
            <a:r>
              <a:rPr lang="en-GB" sz="2800" dirty="0"/>
              <a:t> in amperes developed in the circuit?</a:t>
            </a:r>
          </a:p>
          <a:p>
            <a:pPr marL="0" indent="0">
              <a:buNone/>
            </a:pPr>
            <a:r>
              <a:rPr lang="en-GB" sz="2800" dirty="0"/>
              <a:t>(ii) Determine the total reluctance of the circuit. </a:t>
            </a:r>
          </a:p>
          <a:p>
            <a:pPr algn="just">
              <a:lnSpc>
                <a:spcPct val="120000"/>
              </a:lnSpc>
            </a:pPr>
            <a:endParaRPr lang="en-US" sz="96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12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89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</a:t>
            </a:r>
            <a:r>
              <a:rPr lang="en-US" b="1" dirty="0" smtClean="0">
                <a:solidFill>
                  <a:srgbClr val="0000FF"/>
                </a:solidFill>
              </a:rPr>
              <a:t>Circuit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Example 2</a:t>
            </a:r>
          </a:p>
          <a:p>
            <a:pPr algn="just">
              <a:lnSpc>
                <a:spcPct val="120000"/>
              </a:lnSpc>
            </a:pPr>
            <a:r>
              <a:rPr lang="en-GB" sz="2800" dirty="0"/>
              <a:t>The figure below shows the equivalent electric circuit of a three-part magnetic circuit energised by a 100-turn coil carrying a current of 1A</a:t>
            </a:r>
            <a:r>
              <a:rPr lang="en-GB" sz="2800" dirty="0" smtClean="0"/>
              <a:t>.     </a:t>
            </a:r>
            <a:r>
              <a:rPr lang="en-GB" sz="2800" dirty="0"/>
              <a:t>The </a:t>
            </a:r>
            <a:r>
              <a:rPr lang="en-GB" sz="2800" dirty="0" err="1"/>
              <a:t>mmf</a:t>
            </a:r>
            <a:r>
              <a:rPr lang="en-GB" sz="2800" dirty="0"/>
              <a:t> drop across part ‘b’ is 40AT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580411"/>
              </p:ext>
            </p:extLst>
          </p:nvPr>
        </p:nvGraphicFramePr>
        <p:xfrm>
          <a:off x="2743200" y="3429000"/>
          <a:ext cx="7543801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5546" name="Visio" r:id="rId3" imgW="2595092" imgH="1390966" progId="Visio.Drawing.11">
                  <p:embed/>
                </p:oleObj>
              </mc:Choice>
              <mc:Fallback>
                <p:oleObj name="Visio" r:id="rId3" imgW="2595092" imgH="1390966" progId="Visio.Drawing.11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429000"/>
                        <a:ext cx="7543801" cy="2667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182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00113" indent="-612775" algn="just">
              <a:lnSpc>
                <a:spcPct val="120000"/>
              </a:lnSpc>
              <a:buAutoNum type="alphaLcParenBoth"/>
            </a:pPr>
            <a:r>
              <a:rPr lang="en-US" sz="2800" dirty="0">
                <a:solidFill>
                  <a:srgbClr val="0000FF"/>
                </a:solidFill>
              </a:rPr>
              <a:t>Calculate the flux in part </a:t>
            </a:r>
            <a:r>
              <a:rPr lang="en-US" sz="2800" dirty="0" smtClean="0">
                <a:solidFill>
                  <a:srgbClr val="0000FF"/>
                </a:solidFill>
              </a:rPr>
              <a:t>c.</a:t>
            </a:r>
            <a:endParaRPr lang="en-US" sz="2800" dirty="0">
              <a:solidFill>
                <a:srgbClr val="0000FF"/>
              </a:solidFill>
            </a:endParaRPr>
          </a:p>
          <a:p>
            <a:pPr marL="900113" indent="-612775" algn="just">
              <a:lnSpc>
                <a:spcPct val="120000"/>
              </a:lnSpc>
              <a:buAutoNum type="alphaLcParenBoth"/>
            </a:pPr>
            <a:r>
              <a:rPr lang="en-US" sz="2800" dirty="0">
                <a:solidFill>
                  <a:srgbClr val="0000FF"/>
                </a:solidFill>
              </a:rPr>
              <a:t>Determine the reluctance of parts b and c.</a:t>
            </a:r>
          </a:p>
          <a:p>
            <a:pPr marL="900113" indent="-612775" algn="just">
              <a:lnSpc>
                <a:spcPct val="120000"/>
              </a:lnSpc>
              <a:buAutoNum type="alphaLcParenBoth"/>
            </a:pPr>
            <a:r>
              <a:rPr lang="en-US" sz="2800" dirty="0">
                <a:solidFill>
                  <a:srgbClr val="0000FF"/>
                </a:solidFill>
              </a:rPr>
              <a:t>Obtain the flux density in part b if the cross sectional area of the material used is 0.05m</a:t>
            </a:r>
            <a:r>
              <a:rPr lang="en-US" sz="2800" baseline="30000" dirty="0">
                <a:solidFill>
                  <a:srgbClr val="0000FF"/>
                </a:solidFill>
              </a:rPr>
              <a:t>2</a:t>
            </a:r>
            <a:r>
              <a:rPr lang="en-US" sz="28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222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100" indent="-292100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0000FF"/>
                </a:solidFill>
              </a:rPr>
              <a:t>Example </a:t>
            </a:r>
            <a:r>
              <a:rPr lang="en-US" sz="2400" dirty="0" smtClean="0">
                <a:solidFill>
                  <a:srgbClr val="0000FF"/>
                </a:solidFill>
              </a:rPr>
              <a:t>3</a:t>
            </a:r>
            <a:endParaRPr lang="en-US" sz="2400" dirty="0">
              <a:solidFill>
                <a:srgbClr val="0000FF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400" dirty="0" smtClean="0">
                <a:solidFill>
                  <a:srgbClr val="0000FF"/>
                </a:solidFill>
              </a:rPr>
              <a:t>A </a:t>
            </a:r>
            <a:r>
              <a:rPr lang="en-US" sz="2400" dirty="0">
                <a:solidFill>
                  <a:srgbClr val="0000FF"/>
                </a:solidFill>
              </a:rPr>
              <a:t>magnetic circuit comprises three parts in series each of uniform cross section. They are (a) a length of 80 mm and cross sectional area 50mm</a:t>
            </a:r>
            <a:r>
              <a:rPr lang="en-US" sz="2400" baseline="30000" dirty="0">
                <a:solidFill>
                  <a:srgbClr val="0000FF"/>
                </a:solidFill>
              </a:rPr>
              <a:t>2</a:t>
            </a:r>
            <a:r>
              <a:rPr lang="en-US" sz="2400" dirty="0">
                <a:solidFill>
                  <a:srgbClr val="0000FF"/>
                </a:solidFill>
              </a:rPr>
              <a:t> (b) a length of 60mm and cross sectional area 90 mm</a:t>
            </a:r>
            <a:r>
              <a:rPr lang="en-US" sz="2400" baseline="30000" dirty="0">
                <a:solidFill>
                  <a:srgbClr val="0000FF"/>
                </a:solidFill>
              </a:rPr>
              <a:t>2 </a:t>
            </a:r>
            <a:r>
              <a:rPr lang="en-US" sz="2400" dirty="0">
                <a:solidFill>
                  <a:srgbClr val="0000FF"/>
                </a:solidFill>
              </a:rPr>
              <a:t>(c) an air gap of length 0.5 mm and cross sectional area 150mm</a:t>
            </a:r>
            <a:r>
              <a:rPr lang="en-US" sz="2400" baseline="30000" dirty="0">
                <a:solidFill>
                  <a:srgbClr val="0000FF"/>
                </a:solidFill>
              </a:rPr>
              <a:t>2</a:t>
            </a:r>
            <a:r>
              <a:rPr lang="en-US" sz="2400" dirty="0">
                <a:solidFill>
                  <a:srgbClr val="0000FF"/>
                </a:solidFill>
              </a:rPr>
              <a:t> . A coil of 4000 turns is wound on part (b) and the flux density in the air gap is </a:t>
            </a:r>
            <a:r>
              <a:rPr lang="en-US" sz="2400" dirty="0" smtClean="0">
                <a:solidFill>
                  <a:srgbClr val="0000FF"/>
                </a:solidFill>
              </a:rPr>
              <a:t> 0.3 </a:t>
            </a:r>
            <a:r>
              <a:rPr lang="en-US" sz="2400" dirty="0">
                <a:solidFill>
                  <a:srgbClr val="0000FF"/>
                </a:solidFill>
              </a:rPr>
              <a:t>T. Assuming that all the flux passes through the given circuit and that the relative permeability of section (a) and (b) is </a:t>
            </a:r>
            <a:r>
              <a:rPr lang="en-US" sz="2400" dirty="0" err="1">
                <a:solidFill>
                  <a:srgbClr val="0000FF"/>
                </a:solidFill>
              </a:rPr>
              <a:t>μ</a:t>
            </a:r>
            <a:r>
              <a:rPr lang="en-US" sz="2400" baseline="-25000" dirty="0" err="1">
                <a:solidFill>
                  <a:srgbClr val="0000FF"/>
                </a:solidFill>
              </a:rPr>
              <a:t>r</a:t>
            </a:r>
            <a:r>
              <a:rPr lang="en-US" sz="2400" dirty="0">
                <a:solidFill>
                  <a:srgbClr val="0000FF"/>
                </a:solidFill>
              </a:rPr>
              <a:t> = 3000, estimate the coil current to </a:t>
            </a:r>
            <a:r>
              <a:rPr lang="en-US" sz="2400" dirty="0" smtClean="0">
                <a:solidFill>
                  <a:srgbClr val="0000FF"/>
                </a:solidFill>
              </a:rPr>
              <a:t>produce such </a:t>
            </a:r>
            <a:r>
              <a:rPr lang="en-US" sz="2400" dirty="0">
                <a:solidFill>
                  <a:srgbClr val="0000FF"/>
                </a:solidFill>
              </a:rPr>
              <a:t>a flux density.</a:t>
            </a:r>
          </a:p>
          <a:p>
            <a:pPr marL="346075" indent="-346075" algn="just">
              <a:lnSpc>
                <a:spcPct val="120000"/>
              </a:lnSpc>
            </a:pPr>
            <a:endParaRPr lang="en-US" sz="2400" dirty="0">
              <a:solidFill>
                <a:srgbClr val="0000FF"/>
              </a:solidFill>
            </a:endParaRPr>
          </a:p>
          <a:p>
            <a:pPr marL="1536700" lvl="2" indent="-274638" algn="just">
              <a:lnSpc>
                <a:spcPct val="120000"/>
              </a:lnSpc>
            </a:pPr>
            <a:endParaRPr lang="en-US" dirty="0">
              <a:solidFill>
                <a:srgbClr val="0000FF"/>
              </a:solidFill>
            </a:endParaRPr>
          </a:p>
          <a:p>
            <a:pPr marL="1536700" lvl="2" indent="-274638" algn="just">
              <a:lnSpc>
                <a:spcPct val="120000"/>
              </a:lnSpc>
            </a:pPr>
            <a:endParaRPr lang="en-US" sz="112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18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100" indent="-292100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  <a:p>
            <a:pPr marL="346075" indent="-346075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The electric analogue circuit is shown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5257800" y="2286002"/>
          <a:ext cx="5334001" cy="2285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18" name="Visio" r:id="rId3" imgW="2926159" imgH="1500021" progId="Visio.Drawing.11">
                  <p:embed/>
                </p:oleObj>
              </mc:Choice>
              <mc:Fallback>
                <p:oleObj name="Visio" r:id="rId3" imgW="2926159" imgH="1500021" progId="Visio.Drawing.11">
                  <p:embed/>
                  <p:pic>
                    <p:nvPicPr>
                      <p:cNvPr id="3778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286002"/>
                        <a:ext cx="5334001" cy="2285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2654300" y="2667000"/>
          <a:ext cx="1612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19" name="Equation" r:id="rId5" imgW="1612800" imgH="393480" progId="Equation.3">
                  <p:embed/>
                </p:oleObj>
              </mc:Choice>
              <mc:Fallback>
                <p:oleObj name="Equation" r:id="rId5" imgW="1612800" imgH="393480" progId="Equation.3">
                  <p:embed/>
                  <p:pic>
                    <p:nvPicPr>
                      <p:cNvPr id="3778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2667000"/>
                        <a:ext cx="1612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2209800" y="3111500"/>
          <a:ext cx="19431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20" name="Equation" r:id="rId7" imgW="1942920" imgH="1155600" progId="Equation.3">
                  <p:embed/>
                </p:oleObj>
              </mc:Choice>
              <mc:Fallback>
                <p:oleObj name="Equation" r:id="rId7" imgW="1942920" imgH="1155600" progId="Equation.3">
                  <p:embed/>
                  <p:pic>
                    <p:nvPicPr>
                      <p:cNvPr id="3778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111500"/>
                        <a:ext cx="19431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1993900" y="4356100"/>
          <a:ext cx="3416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21" name="Equation" r:id="rId9" imgW="3416040" imgH="596880" progId="Equation.3">
                  <p:embed/>
                </p:oleObj>
              </mc:Choice>
              <mc:Fallback>
                <p:oleObj name="Equation" r:id="rId9" imgW="3416040" imgH="596880" progId="Equation.3">
                  <p:embed/>
                  <p:pic>
                    <p:nvPicPr>
                      <p:cNvPr id="3778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900" y="4356100"/>
                        <a:ext cx="34163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1993900" y="5257800"/>
          <a:ext cx="1739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22" name="Equation" r:id="rId11" imgW="1739880" imgH="596880" progId="Equation.3">
                  <p:embed/>
                </p:oleObj>
              </mc:Choice>
              <mc:Fallback>
                <p:oleObj name="Equation" r:id="rId11" imgW="1739880" imgH="596880" progId="Equation.3">
                  <p:embed/>
                  <p:pic>
                    <p:nvPicPr>
                      <p:cNvPr id="3778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900" y="5257800"/>
                        <a:ext cx="1739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3638550" y="4953000"/>
          <a:ext cx="36195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23" name="Equation" r:id="rId13" imgW="3619440" imgH="1295280" progId="Equation.3">
                  <p:embed/>
                </p:oleObj>
              </mc:Choice>
              <mc:Fallback>
                <p:oleObj name="Equation" r:id="rId13" imgW="3619440" imgH="1295280" progId="Equation.3">
                  <p:embed/>
                  <p:pic>
                    <p:nvPicPr>
                      <p:cNvPr id="3778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0" y="4953000"/>
                        <a:ext cx="36195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7315200" y="5257800"/>
          <a:ext cx="19764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24" name="Equation" r:id="rId15" imgW="622080" imgH="177480" progId="Equation.3">
                  <p:embed/>
                </p:oleObj>
              </mc:Choice>
              <mc:Fallback>
                <p:oleObj name="Equation" r:id="rId15" imgW="622080" imgH="177480" progId="Equation.3">
                  <p:embed/>
                  <p:pic>
                    <p:nvPicPr>
                      <p:cNvPr id="37786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5257800"/>
                        <a:ext cx="197643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81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17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Object 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5798713"/>
              </p:ext>
            </p:extLst>
          </p:nvPr>
        </p:nvGraphicFramePr>
        <p:xfrm>
          <a:off x="1447800" y="1750423"/>
          <a:ext cx="1727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74" name="Equation" r:id="rId3" imgW="1726920" imgH="596880" progId="Equation.3">
                  <p:embed/>
                </p:oleObj>
              </mc:Choice>
              <mc:Fallback>
                <p:oleObj name="Equation" r:id="rId3" imgW="1726920" imgH="596880" progId="Equation.3">
                  <p:embed/>
                  <p:pic>
                    <p:nvPicPr>
                      <p:cNvPr id="3778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750423"/>
                        <a:ext cx="17272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066902"/>
              </p:ext>
            </p:extLst>
          </p:nvPr>
        </p:nvGraphicFramePr>
        <p:xfrm>
          <a:off x="3671389" y="1401173"/>
          <a:ext cx="21209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75" name="Equation" r:id="rId5" imgW="2120760" imgH="1295280" progId="Equation.3">
                  <p:embed/>
                </p:oleObj>
              </mc:Choice>
              <mc:Fallback>
                <p:oleObj name="Equation" r:id="rId5" imgW="2120760" imgH="1295280" progId="Equation.3">
                  <p:embed/>
                  <p:pic>
                    <p:nvPicPr>
                      <p:cNvPr id="3778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389" y="1401173"/>
                        <a:ext cx="21209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5829300" y="1828800"/>
          <a:ext cx="20018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76" name="Equation" r:id="rId7" imgW="647640" imgH="177480" progId="Equation.3">
                  <p:embed/>
                </p:oleObj>
              </mc:Choice>
              <mc:Fallback>
                <p:oleObj name="Equation" r:id="rId7" imgW="647640" imgH="177480" progId="Equation.3">
                  <p:embed/>
                  <p:pic>
                    <p:nvPicPr>
                      <p:cNvPr id="3778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9300" y="1828800"/>
                        <a:ext cx="200183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2089150" y="3213100"/>
          <a:ext cx="1701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77" name="Equation" r:id="rId9" imgW="1701720" imgH="596880" progId="Equation.3">
                  <p:embed/>
                </p:oleObj>
              </mc:Choice>
              <mc:Fallback>
                <p:oleObj name="Equation" r:id="rId9" imgW="1701720" imgH="596880" progId="Equation.3">
                  <p:embed/>
                  <p:pic>
                    <p:nvPicPr>
                      <p:cNvPr id="37888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3213100"/>
                        <a:ext cx="17018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3638550" y="2895600"/>
          <a:ext cx="21209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78" name="Equation" r:id="rId11" imgW="2120760" imgH="1295280" progId="Equation.3">
                  <p:embed/>
                </p:oleObj>
              </mc:Choice>
              <mc:Fallback>
                <p:oleObj name="Equation" r:id="rId11" imgW="2120760" imgH="1295280" progId="Equation.3">
                  <p:embed/>
                  <p:pic>
                    <p:nvPicPr>
                      <p:cNvPr id="37889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0" y="2895600"/>
                        <a:ext cx="21209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/>
          <p:cNvGraphicFramePr>
            <a:graphicFrameLocks noChangeAspect="1"/>
          </p:cNvGraphicFramePr>
          <p:nvPr/>
        </p:nvGraphicFramePr>
        <p:xfrm>
          <a:off x="5862639" y="3200400"/>
          <a:ext cx="22193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79" name="Equation" r:id="rId13" imgW="698400" imgH="177480" progId="Equation.3">
                  <p:embed/>
                </p:oleObj>
              </mc:Choice>
              <mc:Fallback>
                <p:oleObj name="Equation" r:id="rId13" imgW="698400" imgH="177480" progId="Equation.3">
                  <p:embed/>
                  <p:pic>
                    <p:nvPicPr>
                      <p:cNvPr id="37889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2639" y="3200400"/>
                        <a:ext cx="22193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/>
        </p:nvGraphicFramePr>
        <p:xfrm>
          <a:off x="2298700" y="4572000"/>
          <a:ext cx="3416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80" name="Equation" r:id="rId15" imgW="3416040" imgH="596880" progId="Equation.3">
                  <p:embed/>
                </p:oleObj>
              </mc:Choice>
              <mc:Fallback>
                <p:oleObj name="Equation" r:id="rId15" imgW="3416040" imgH="596880" progId="Equation.3">
                  <p:embed/>
                  <p:pic>
                    <p:nvPicPr>
                      <p:cNvPr id="37889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4572000"/>
                        <a:ext cx="34163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7"/>
          <p:cNvGraphicFramePr>
            <a:graphicFrameLocks noChangeAspect="1"/>
          </p:cNvGraphicFramePr>
          <p:nvPr/>
        </p:nvGraphicFramePr>
        <p:xfrm>
          <a:off x="5726113" y="4572000"/>
          <a:ext cx="2501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81" name="Equation" r:id="rId17" imgW="787320" imgH="177480" progId="Equation.3">
                  <p:embed/>
                </p:oleObj>
              </mc:Choice>
              <mc:Fallback>
                <p:oleObj name="Equation" r:id="rId17" imgW="787320" imgH="177480" progId="Equation.3">
                  <p:embed/>
                  <p:pic>
                    <p:nvPicPr>
                      <p:cNvPr id="37889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6113" y="4572000"/>
                        <a:ext cx="25019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277443"/>
              </p:ext>
            </p:extLst>
          </p:nvPr>
        </p:nvGraphicFramePr>
        <p:xfrm>
          <a:off x="1834061" y="5025209"/>
          <a:ext cx="17399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82" name="Equation" r:id="rId19" imgW="1739880" imgH="1155600" progId="Equation.3">
                  <p:embed/>
                </p:oleObj>
              </mc:Choice>
              <mc:Fallback>
                <p:oleObj name="Equation" r:id="rId19" imgW="1739880" imgH="1155600" progId="Equation.3">
                  <p:embed/>
                  <p:pic>
                    <p:nvPicPr>
                      <p:cNvPr id="37889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4061" y="5025209"/>
                        <a:ext cx="17399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659006"/>
              </p:ext>
            </p:extLst>
          </p:nvPr>
        </p:nvGraphicFramePr>
        <p:xfrm>
          <a:off x="3784600" y="5199380"/>
          <a:ext cx="1828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83" name="Equation" r:id="rId21" imgW="596880" imgH="393480" progId="Equation.3">
                  <p:embed/>
                </p:oleObj>
              </mc:Choice>
              <mc:Fallback>
                <p:oleObj name="Equation" r:id="rId21" imgW="596880" imgH="393480" progId="Equation.3">
                  <p:embed/>
                  <p:pic>
                    <p:nvPicPr>
                      <p:cNvPr id="3788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5199380"/>
                        <a:ext cx="18288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297565"/>
              </p:ext>
            </p:extLst>
          </p:nvPr>
        </p:nvGraphicFramePr>
        <p:xfrm>
          <a:off x="5752011" y="5199380"/>
          <a:ext cx="2260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84" name="Equation" r:id="rId23" imgW="711000" imgH="177480" progId="Equation.3">
                  <p:embed/>
                </p:oleObj>
              </mc:Choice>
              <mc:Fallback>
                <p:oleObj name="Equation" r:id="rId23" imgW="711000" imgH="177480" progId="Equation.3">
                  <p:embed/>
                  <p:pic>
                    <p:nvPicPr>
                      <p:cNvPr id="37889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2011" y="5199380"/>
                        <a:ext cx="2260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800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238" y="1405981"/>
            <a:ext cx="10414362" cy="4692650"/>
          </a:xfrm>
        </p:spPr>
        <p:txBody>
          <a:bodyPr/>
          <a:lstStyle/>
          <a:p>
            <a:pPr marL="292100" indent="-292100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Example </a:t>
            </a:r>
            <a:r>
              <a:rPr lang="en-US" sz="2800" dirty="0" smtClean="0">
                <a:solidFill>
                  <a:srgbClr val="0000FF"/>
                </a:solidFill>
              </a:rPr>
              <a:t>4</a:t>
            </a:r>
            <a:endParaRPr lang="en-US" sz="2800" dirty="0">
              <a:solidFill>
                <a:srgbClr val="0000FF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A steel ring of cross-sectional area 50mm</a:t>
            </a:r>
            <a:r>
              <a:rPr lang="en-US" sz="2800" baseline="30000" dirty="0">
                <a:solidFill>
                  <a:srgbClr val="0000FF"/>
                </a:solidFill>
              </a:rPr>
              <a:t>2</a:t>
            </a:r>
            <a:r>
              <a:rPr lang="en-US" sz="2800" dirty="0">
                <a:solidFill>
                  <a:srgbClr val="0000FF"/>
                </a:solidFill>
              </a:rPr>
              <a:t> has an air gap of 2mm and </a:t>
            </a:r>
            <a:r>
              <a:rPr lang="en-US" sz="2800" dirty="0" smtClean="0">
                <a:solidFill>
                  <a:srgbClr val="0000FF"/>
                </a:solidFill>
              </a:rPr>
              <a:t> of </a:t>
            </a:r>
            <a:r>
              <a:rPr lang="en-US" sz="2800" dirty="0">
                <a:solidFill>
                  <a:srgbClr val="0000FF"/>
                </a:solidFill>
              </a:rPr>
              <a:t>the same cross-sectional area as shown in Fig. </a:t>
            </a:r>
            <a:r>
              <a:rPr lang="en-US" sz="2800" dirty="0" smtClean="0">
                <a:solidFill>
                  <a:srgbClr val="0000FF"/>
                </a:solidFill>
              </a:rPr>
              <a:t>below. </a:t>
            </a:r>
            <a:r>
              <a:rPr lang="en-US" sz="2800" dirty="0">
                <a:solidFill>
                  <a:srgbClr val="0000FF"/>
                </a:solidFill>
              </a:rPr>
              <a:t>The coil shown has 2000 turns with current 10 A. If the mean radius of the steel ring is 5cm and </a:t>
            </a:r>
            <a:r>
              <a:rPr lang="en-US" sz="2800" dirty="0" err="1">
                <a:solidFill>
                  <a:srgbClr val="0000FF"/>
                </a:solidFill>
              </a:rPr>
              <a:t>μ</a:t>
            </a:r>
            <a:r>
              <a:rPr lang="en-US" sz="2800" baseline="-25000" dirty="0" err="1">
                <a:solidFill>
                  <a:srgbClr val="0000FF"/>
                </a:solidFill>
              </a:rPr>
              <a:t>r</a:t>
            </a:r>
            <a:r>
              <a:rPr lang="en-US" sz="2800" dirty="0">
                <a:solidFill>
                  <a:srgbClr val="0000FF"/>
                </a:solidFill>
              </a:rPr>
              <a:t> = 800, calculate (a) the total reluctance of the circuit (b) the </a:t>
            </a:r>
            <a:r>
              <a:rPr lang="en-US" sz="2800" dirty="0" smtClean="0">
                <a:solidFill>
                  <a:srgbClr val="0000FF"/>
                </a:solidFill>
              </a:rPr>
              <a:t> flux </a:t>
            </a:r>
            <a:r>
              <a:rPr lang="en-US" sz="2800" dirty="0">
                <a:solidFill>
                  <a:srgbClr val="0000FF"/>
                </a:solidFill>
              </a:rPr>
              <a:t>Φ in the ring.</a:t>
            </a:r>
          </a:p>
          <a:p>
            <a:pPr marL="292100" lvl="2" indent="-292100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  <a:p>
            <a:pPr marL="292100" lvl="2" indent="-292100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(a) The equivalent </a:t>
            </a:r>
            <a:r>
              <a:rPr lang="en-US" sz="2800" dirty="0" smtClean="0">
                <a:solidFill>
                  <a:srgbClr val="0000FF"/>
                </a:solidFill>
              </a:rPr>
              <a:t>electric </a:t>
            </a:r>
            <a:r>
              <a:rPr lang="en-US" sz="2800" dirty="0">
                <a:solidFill>
                  <a:srgbClr val="0000FF"/>
                </a:solidFill>
              </a:rPr>
              <a:t>circuit is as shown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18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03442"/>
              </p:ext>
            </p:extLst>
          </p:nvPr>
        </p:nvGraphicFramePr>
        <p:xfrm>
          <a:off x="8140701" y="4138749"/>
          <a:ext cx="3429000" cy="1959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618" name="Visio" r:id="rId3" imgW="1491423" imgH="1860382" progId="Visio.Drawing.11">
                  <p:embed/>
                </p:oleObj>
              </mc:Choice>
              <mc:Fallback>
                <p:oleObj name="Visio" r:id="rId3" imgW="1491423" imgH="1860382" progId="Visio.Drawing.11">
                  <p:embed/>
                  <p:pic>
                    <p:nvPicPr>
                      <p:cNvPr id="38297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0701" y="4138749"/>
                        <a:ext cx="3429000" cy="19598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5751" y="4089986"/>
            <a:ext cx="2115739" cy="1389020"/>
          </a:xfrm>
          <a:prstGeom prst="rect">
            <a:avLst/>
          </a:prstGeom>
          <a:noFill/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11038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5105358"/>
              </p:ext>
            </p:extLst>
          </p:nvPr>
        </p:nvGraphicFramePr>
        <p:xfrm>
          <a:off x="1600200" y="1600200"/>
          <a:ext cx="25527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682" name="Equation" r:id="rId3" imgW="2552400" imgH="1295280" progId="Equation.3">
                  <p:embed/>
                </p:oleObj>
              </mc:Choice>
              <mc:Fallback>
                <p:oleObj name="Equation" r:id="rId3" imgW="2552400" imgH="1295280" progId="Equation.3">
                  <p:embed/>
                  <p:pic>
                    <p:nvPicPr>
                      <p:cNvPr id="4034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600200"/>
                        <a:ext cx="25527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610100" y="1524000"/>
          <a:ext cx="58293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683" name="Equation" r:id="rId5" imgW="5829120" imgH="1193760" progId="Equation.3">
                  <p:embed/>
                </p:oleObj>
              </mc:Choice>
              <mc:Fallback>
                <p:oleObj name="Equation" r:id="rId5" imgW="5829120" imgH="1193760" progId="Equation.3">
                  <p:embed/>
                  <p:pic>
                    <p:nvPicPr>
                      <p:cNvPr id="4034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1524000"/>
                        <a:ext cx="58293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495800" y="2768600"/>
          <a:ext cx="26797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684" name="Equation" r:id="rId7" imgW="2679480" imgH="1193760" progId="Equation.3">
                  <p:embed/>
                </p:oleObj>
              </mc:Choice>
              <mc:Fallback>
                <p:oleObj name="Equation" r:id="rId7" imgW="2679480" imgH="1193760" progId="Equation.3">
                  <p:embed/>
                  <p:pic>
                    <p:nvPicPr>
                      <p:cNvPr id="4034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768600"/>
                        <a:ext cx="26797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882533"/>
              </p:ext>
            </p:extLst>
          </p:nvPr>
        </p:nvGraphicFramePr>
        <p:xfrm>
          <a:off x="2070100" y="3810000"/>
          <a:ext cx="21209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685" name="Equation" r:id="rId9" imgW="2120760" imgH="1295280" progId="Equation.3">
                  <p:embed/>
                </p:oleObj>
              </mc:Choice>
              <mc:Fallback>
                <p:oleObj name="Equation" r:id="rId9" imgW="2120760" imgH="1295280" progId="Equation.3">
                  <p:embed/>
                  <p:pic>
                    <p:nvPicPr>
                      <p:cNvPr id="4034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0" y="3810000"/>
                        <a:ext cx="21209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19175"/>
              </p:ext>
            </p:extLst>
          </p:nvPr>
        </p:nvGraphicFramePr>
        <p:xfrm>
          <a:off x="4343400" y="3810000"/>
          <a:ext cx="46355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686" name="Equation" r:id="rId11" imgW="4635360" imgH="1193760" progId="Equation.3">
                  <p:embed/>
                </p:oleObj>
              </mc:Choice>
              <mc:Fallback>
                <p:oleObj name="Equation" r:id="rId11" imgW="4635360" imgH="1193760" progId="Equation.3">
                  <p:embed/>
                  <p:pic>
                    <p:nvPicPr>
                      <p:cNvPr id="4034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810000"/>
                        <a:ext cx="46355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679319"/>
              </p:ext>
            </p:extLst>
          </p:nvPr>
        </p:nvGraphicFramePr>
        <p:xfrm>
          <a:off x="4610100" y="4968966"/>
          <a:ext cx="26797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687" name="Equation" r:id="rId13" imgW="2679480" imgH="1193760" progId="Equation.3">
                  <p:embed/>
                </p:oleObj>
              </mc:Choice>
              <mc:Fallback>
                <p:oleObj name="Equation" r:id="rId13" imgW="2679480" imgH="1193760" progId="Equation.3">
                  <p:embed/>
                  <p:pic>
                    <p:nvPicPr>
                      <p:cNvPr id="40346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4968966"/>
                        <a:ext cx="26797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631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2" algn="just">
              <a:lnSpc>
                <a:spcPct val="120000"/>
              </a:lnSpc>
            </a:pPr>
            <a:r>
              <a:rPr lang="en-US" sz="2800" b="1" dirty="0">
                <a:solidFill>
                  <a:srgbClr val="0000FF"/>
                </a:solidFill>
              </a:rPr>
              <a:t>Total reluctance</a:t>
            </a:r>
          </a:p>
          <a:p>
            <a:pPr marL="0" lvl="2" algn="just">
              <a:lnSpc>
                <a:spcPct val="120000"/>
              </a:lnSpc>
            </a:pPr>
            <a:endParaRPr lang="en-US" sz="2800" b="1" dirty="0">
              <a:solidFill>
                <a:srgbClr val="0000FF"/>
              </a:solidFill>
            </a:endParaRPr>
          </a:p>
          <a:p>
            <a:pPr marL="0" lvl="2" algn="just">
              <a:lnSpc>
                <a:spcPct val="120000"/>
              </a:lnSpc>
            </a:pPr>
            <a:endParaRPr lang="en-US" sz="2800" b="1" dirty="0">
              <a:solidFill>
                <a:srgbClr val="0000FF"/>
              </a:solidFill>
            </a:endParaRPr>
          </a:p>
          <a:p>
            <a:pPr marL="0" lvl="2" algn="just">
              <a:lnSpc>
                <a:spcPct val="120000"/>
              </a:lnSpc>
            </a:pPr>
            <a:endParaRPr lang="en-US" sz="2800" b="1" dirty="0">
              <a:solidFill>
                <a:srgbClr val="0000FF"/>
              </a:solidFill>
            </a:endParaRPr>
          </a:p>
          <a:p>
            <a:pPr marL="0" lvl="2" algn="just">
              <a:lnSpc>
                <a:spcPct val="120000"/>
              </a:lnSpc>
            </a:pPr>
            <a:r>
              <a:rPr lang="en-US" sz="2800" b="1" dirty="0">
                <a:solidFill>
                  <a:srgbClr val="0000FF"/>
                </a:solidFill>
              </a:rPr>
              <a:t>(b)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628274"/>
              </p:ext>
            </p:extLst>
          </p:nvPr>
        </p:nvGraphicFramePr>
        <p:xfrm>
          <a:off x="4038600" y="1524000"/>
          <a:ext cx="787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721" name="Equation" r:id="rId3" imgW="787320" imgH="419040" progId="Equation.3">
                  <p:embed/>
                </p:oleObj>
              </mc:Choice>
              <mc:Fallback>
                <p:oleObj name="Equation" r:id="rId3" imgW="787320" imgH="419040" progId="Equation.3">
                  <p:embed/>
                  <p:pic>
                    <p:nvPicPr>
                      <p:cNvPr id="4044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524000"/>
                        <a:ext cx="787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873158"/>
              </p:ext>
            </p:extLst>
          </p:nvPr>
        </p:nvGraphicFramePr>
        <p:xfrm>
          <a:off x="5086350" y="1346200"/>
          <a:ext cx="20193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722" name="Equation" r:id="rId5" imgW="2019240" imgH="1193760" progId="Equation.3">
                  <p:embed/>
                </p:oleObj>
              </mc:Choice>
              <mc:Fallback>
                <p:oleObj name="Equation" r:id="rId5" imgW="2019240" imgH="1193760" progId="Equation.3">
                  <p:embed/>
                  <p:pic>
                    <p:nvPicPr>
                      <p:cNvPr id="4044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350" y="1346200"/>
                        <a:ext cx="20193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739279"/>
              </p:ext>
            </p:extLst>
          </p:nvPr>
        </p:nvGraphicFramePr>
        <p:xfrm>
          <a:off x="4191000" y="2602774"/>
          <a:ext cx="4140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723" name="Equation" r:id="rId7" imgW="4140000" imgH="495000" progId="Equation.3">
                  <p:embed/>
                </p:oleObj>
              </mc:Choice>
              <mc:Fallback>
                <p:oleObj name="Equation" r:id="rId7" imgW="4140000" imgH="495000" progId="Equation.3">
                  <p:embed/>
                  <p:pic>
                    <p:nvPicPr>
                      <p:cNvPr id="4044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602774"/>
                        <a:ext cx="4140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577072"/>
              </p:ext>
            </p:extLst>
          </p:nvPr>
        </p:nvGraphicFramePr>
        <p:xfrm>
          <a:off x="2286000" y="3886200"/>
          <a:ext cx="149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724" name="Equation" r:id="rId9" imgW="1498320" imgH="520560" progId="Equation.3">
                  <p:embed/>
                </p:oleObj>
              </mc:Choice>
              <mc:Fallback>
                <p:oleObj name="Equation" r:id="rId9" imgW="1498320" imgH="520560" progId="Equation.3">
                  <p:embed/>
                  <p:pic>
                    <p:nvPicPr>
                      <p:cNvPr id="4044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886200"/>
                        <a:ext cx="1498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669961"/>
              </p:ext>
            </p:extLst>
          </p:nvPr>
        </p:nvGraphicFramePr>
        <p:xfrm>
          <a:off x="1924594" y="4391660"/>
          <a:ext cx="18796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725" name="Equation" r:id="rId11" imgW="1879560" imgH="1168200" progId="Equation.3">
                  <p:embed/>
                </p:oleObj>
              </mc:Choice>
              <mc:Fallback>
                <p:oleObj name="Equation" r:id="rId11" imgW="1879560" imgH="1168200" progId="Equation.3">
                  <p:embed/>
                  <p:pic>
                    <p:nvPicPr>
                      <p:cNvPr id="4044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594" y="4391660"/>
                        <a:ext cx="18796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911960"/>
              </p:ext>
            </p:extLst>
          </p:nvPr>
        </p:nvGraphicFramePr>
        <p:xfrm>
          <a:off x="4038600" y="4297498"/>
          <a:ext cx="11176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726" name="Equation" r:id="rId13" imgW="1117440" imgH="1168200" progId="Equation.3">
                  <p:embed/>
                </p:oleObj>
              </mc:Choice>
              <mc:Fallback>
                <p:oleObj name="Equation" r:id="rId13" imgW="1117440" imgH="1168200" progId="Equation.3">
                  <p:embed/>
                  <p:pic>
                    <p:nvPicPr>
                      <p:cNvPr id="4044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297498"/>
                        <a:ext cx="11176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096481"/>
              </p:ext>
            </p:extLst>
          </p:nvPr>
        </p:nvGraphicFramePr>
        <p:xfrm>
          <a:off x="5412377" y="4280081"/>
          <a:ext cx="27305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727" name="Equation" r:id="rId15" imgW="2730240" imgH="1168200" progId="Equation.3">
                  <p:embed/>
                </p:oleObj>
              </mc:Choice>
              <mc:Fallback>
                <p:oleObj name="Equation" r:id="rId15" imgW="2730240" imgH="1168200" progId="Equation.3">
                  <p:embed/>
                  <p:pic>
                    <p:nvPicPr>
                      <p:cNvPr id="40449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2377" y="4280081"/>
                        <a:ext cx="27305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4889500" y="5486400"/>
          <a:ext cx="3340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728" name="Equation" r:id="rId17" imgW="3340080" imgH="495000" progId="Equation.3">
                  <p:embed/>
                </p:oleObj>
              </mc:Choice>
              <mc:Fallback>
                <p:oleObj name="Equation" r:id="rId17" imgW="3340080" imgH="495000" progId="Equation.3">
                  <p:embed/>
                  <p:pic>
                    <p:nvPicPr>
                      <p:cNvPr id="40449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0" y="5486400"/>
                        <a:ext cx="33401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07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100" indent="-292100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Example </a:t>
            </a:r>
            <a:r>
              <a:rPr lang="en-US" sz="2800" dirty="0" smtClean="0">
                <a:solidFill>
                  <a:srgbClr val="0000FF"/>
                </a:solidFill>
              </a:rPr>
              <a:t>5</a:t>
            </a:r>
            <a:endParaRPr lang="en-US" sz="2800" dirty="0">
              <a:solidFill>
                <a:srgbClr val="0000FF"/>
              </a:solidFill>
            </a:endParaRPr>
          </a:p>
          <a:p>
            <a:pPr marL="55563" lvl="2" indent="-55563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It is desired to produce a magnetic field of 1 </a:t>
            </a:r>
            <a:r>
              <a:rPr lang="en-US" sz="2800" dirty="0" err="1">
                <a:solidFill>
                  <a:srgbClr val="0000FF"/>
                </a:solidFill>
              </a:rPr>
              <a:t>Wb</a:t>
            </a:r>
            <a:r>
              <a:rPr lang="en-US" sz="2800" dirty="0">
                <a:solidFill>
                  <a:srgbClr val="0000FF"/>
                </a:solidFill>
              </a:rPr>
              <a:t>/m</a:t>
            </a:r>
            <a:r>
              <a:rPr lang="en-US" sz="2800" baseline="30000" dirty="0">
                <a:solidFill>
                  <a:srgbClr val="0000FF"/>
                </a:solidFill>
              </a:rPr>
              <a:t>2</a:t>
            </a:r>
            <a:r>
              <a:rPr lang="en-US" sz="2800" dirty="0">
                <a:solidFill>
                  <a:srgbClr val="0000FF"/>
                </a:solidFill>
              </a:rPr>
              <a:t> in the air gap of </a:t>
            </a:r>
            <a:r>
              <a:rPr lang="en-US" sz="2800" dirty="0" smtClean="0">
                <a:solidFill>
                  <a:srgbClr val="0000FF"/>
                </a:solidFill>
              </a:rPr>
              <a:t>   the </a:t>
            </a:r>
            <a:r>
              <a:rPr lang="en-US" sz="2800" dirty="0">
                <a:solidFill>
                  <a:srgbClr val="0000FF"/>
                </a:solidFill>
              </a:rPr>
              <a:t>electromagnet shown in Example 2. The cross section of the iron is </a:t>
            </a:r>
            <a:r>
              <a:rPr lang="en-US" sz="2800" dirty="0" smtClean="0">
                <a:solidFill>
                  <a:srgbClr val="0000FF"/>
                </a:solidFill>
              </a:rPr>
              <a:t> 1 cm</a:t>
            </a:r>
            <a:r>
              <a:rPr lang="en-US" sz="2800" baseline="30000" dirty="0" smtClean="0">
                <a:solidFill>
                  <a:srgbClr val="0000FF"/>
                </a:solidFill>
              </a:rPr>
              <a:t>2</a:t>
            </a:r>
            <a:r>
              <a:rPr lang="en-US" sz="2800" dirty="0">
                <a:solidFill>
                  <a:srgbClr val="0000FF"/>
                </a:solidFill>
              </a:rPr>
              <a:t>, the mean length L</a:t>
            </a:r>
            <a:r>
              <a:rPr lang="en-US" sz="2800" baseline="-25000" dirty="0">
                <a:solidFill>
                  <a:srgbClr val="0000FF"/>
                </a:solidFill>
              </a:rPr>
              <a:t>i</a:t>
            </a:r>
            <a:r>
              <a:rPr lang="en-US" sz="2800" dirty="0">
                <a:solidFill>
                  <a:srgbClr val="0000FF"/>
                </a:solidFill>
              </a:rPr>
              <a:t> + </a:t>
            </a:r>
            <a:r>
              <a:rPr lang="en-US" sz="2800" dirty="0" err="1">
                <a:solidFill>
                  <a:srgbClr val="0000FF"/>
                </a:solidFill>
              </a:rPr>
              <a:t>L</a:t>
            </a:r>
            <a:r>
              <a:rPr lang="en-US" sz="2800" baseline="-25000" dirty="0" err="1">
                <a:solidFill>
                  <a:srgbClr val="0000FF"/>
                </a:solidFill>
              </a:rPr>
              <a:t>g</a:t>
            </a:r>
            <a:r>
              <a:rPr lang="en-US" sz="2800" dirty="0">
                <a:solidFill>
                  <a:srgbClr val="0000FF"/>
                </a:solidFill>
              </a:rPr>
              <a:t> = 10 cm, gap length </a:t>
            </a:r>
            <a:r>
              <a:rPr lang="en-US" sz="2800" dirty="0" err="1">
                <a:solidFill>
                  <a:srgbClr val="0000FF"/>
                </a:solidFill>
              </a:rPr>
              <a:t>L</a:t>
            </a:r>
            <a:r>
              <a:rPr lang="en-US" sz="2800" baseline="-25000" dirty="0" err="1">
                <a:solidFill>
                  <a:srgbClr val="0000FF"/>
                </a:solidFill>
              </a:rPr>
              <a:t>g</a:t>
            </a:r>
            <a:r>
              <a:rPr lang="en-US" sz="2800" dirty="0">
                <a:solidFill>
                  <a:srgbClr val="0000FF"/>
                </a:solidFill>
              </a:rPr>
              <a:t> = 5 mm, and </a:t>
            </a:r>
            <a:r>
              <a:rPr lang="en-US" sz="2800" dirty="0" smtClean="0">
                <a:solidFill>
                  <a:srgbClr val="0000FF"/>
                </a:solidFill>
              </a:rPr>
              <a:t>       from  the </a:t>
            </a:r>
            <a:r>
              <a:rPr lang="en-US" sz="2800" dirty="0">
                <a:solidFill>
                  <a:srgbClr val="0000FF"/>
                </a:solidFill>
              </a:rPr>
              <a:t>B-H curve of the iron </a:t>
            </a:r>
            <a:r>
              <a:rPr lang="en-US" sz="2800" dirty="0" err="1">
                <a:solidFill>
                  <a:srgbClr val="0000FF"/>
                </a:solidFill>
              </a:rPr>
              <a:t>μ</a:t>
            </a:r>
            <a:r>
              <a:rPr lang="en-US" sz="2800" baseline="-25000" dirty="0" err="1">
                <a:solidFill>
                  <a:srgbClr val="0000FF"/>
                </a:solidFill>
              </a:rPr>
              <a:t>r</a:t>
            </a:r>
            <a:r>
              <a:rPr lang="en-US" sz="2800" dirty="0">
                <a:solidFill>
                  <a:srgbClr val="0000FF"/>
                </a:solidFill>
              </a:rPr>
              <a:t> was found to be 500 at B = 1 </a:t>
            </a:r>
            <a:r>
              <a:rPr lang="en-US" sz="2800" dirty="0" err="1">
                <a:solidFill>
                  <a:srgbClr val="0000FF"/>
                </a:solidFill>
              </a:rPr>
              <a:t>Wb</a:t>
            </a:r>
            <a:r>
              <a:rPr lang="en-US" sz="2800" dirty="0">
                <a:solidFill>
                  <a:srgbClr val="0000FF"/>
                </a:solidFill>
              </a:rPr>
              <a:t>/m</a:t>
            </a:r>
            <a:r>
              <a:rPr lang="en-US" sz="2800" baseline="30000" dirty="0">
                <a:solidFill>
                  <a:srgbClr val="0000FF"/>
                </a:solidFill>
              </a:rPr>
              <a:t>2</a:t>
            </a:r>
            <a:r>
              <a:rPr lang="en-US" sz="2800" dirty="0" smtClean="0">
                <a:solidFill>
                  <a:srgbClr val="0000FF"/>
                </a:solidFill>
              </a:rPr>
              <a:t>.           </a:t>
            </a:r>
            <a:r>
              <a:rPr lang="en-US" sz="2800" dirty="0">
                <a:solidFill>
                  <a:srgbClr val="0000FF"/>
                </a:solidFill>
              </a:rPr>
              <a:t>Calculate the </a:t>
            </a:r>
            <a:r>
              <a:rPr lang="en-US" sz="2800" dirty="0" err="1">
                <a:solidFill>
                  <a:srgbClr val="0000FF"/>
                </a:solidFill>
              </a:rPr>
              <a:t>m.m.f</a:t>
            </a:r>
            <a:r>
              <a:rPr lang="en-US" sz="2800" dirty="0">
                <a:solidFill>
                  <a:srgbClr val="0000FF"/>
                </a:solidFill>
              </a:rPr>
              <a:t>. required.</a:t>
            </a:r>
          </a:p>
          <a:p>
            <a:pPr marL="55563" lvl="2" indent="-55563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  <a:p>
            <a:pPr marL="55563" lvl="2" indent="-55563" algn="just">
              <a:lnSpc>
                <a:spcPct val="120000"/>
              </a:lnSpc>
            </a:pPr>
            <a:endParaRPr lang="en-US" sz="112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21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365720"/>
              </p:ext>
            </p:extLst>
          </p:nvPr>
        </p:nvGraphicFramePr>
        <p:xfrm>
          <a:off x="1219200" y="5041900"/>
          <a:ext cx="30353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706" name="Equation" r:id="rId3" imgW="3035160" imgH="647640" progId="Equation.3">
                  <p:embed/>
                </p:oleObj>
              </mc:Choice>
              <mc:Fallback>
                <p:oleObj name="Equation" r:id="rId3" imgW="3035160" imgH="647640" progId="Equation.3">
                  <p:embed/>
                  <p:pic>
                    <p:nvPicPr>
                      <p:cNvPr id="4055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041900"/>
                        <a:ext cx="30353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454421"/>
              </p:ext>
            </p:extLst>
          </p:nvPr>
        </p:nvGraphicFramePr>
        <p:xfrm>
          <a:off x="4343400" y="4597400"/>
          <a:ext cx="42545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707" name="Equation" r:id="rId5" imgW="4254480" imgH="1485720" progId="Equation.3">
                  <p:embed/>
                </p:oleObj>
              </mc:Choice>
              <mc:Fallback>
                <p:oleObj name="Equation" r:id="rId5" imgW="4254480" imgH="1485720" progId="Equation.3">
                  <p:embed/>
                  <p:pic>
                    <p:nvPicPr>
                      <p:cNvPr id="4055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597400"/>
                        <a:ext cx="4254500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219564"/>
              </p:ext>
            </p:extLst>
          </p:nvPr>
        </p:nvGraphicFramePr>
        <p:xfrm>
          <a:off x="8686800" y="5054963"/>
          <a:ext cx="26543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708" name="Equation" r:id="rId7" imgW="2654280" imgH="647640" progId="Equation.3">
                  <p:embed/>
                </p:oleObj>
              </mc:Choice>
              <mc:Fallback>
                <p:oleObj name="Equation" r:id="rId7" imgW="2654280" imgH="647640" progId="Equation.3">
                  <p:embed/>
                  <p:pic>
                    <p:nvPicPr>
                      <p:cNvPr id="4055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5054963"/>
                        <a:ext cx="26543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23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7159506"/>
              </p:ext>
            </p:extLst>
          </p:nvPr>
        </p:nvGraphicFramePr>
        <p:xfrm>
          <a:off x="1295400" y="1600200"/>
          <a:ext cx="45466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727" name="Equation" r:id="rId3" imgW="4546440" imgH="1358640" progId="Equation.3">
                  <p:embed/>
                </p:oleObj>
              </mc:Choice>
              <mc:Fallback>
                <p:oleObj name="Equation" r:id="rId3" imgW="4546440" imgH="1358640" progId="Equation.3">
                  <p:embed/>
                  <p:pic>
                    <p:nvPicPr>
                      <p:cNvPr id="4055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600200"/>
                        <a:ext cx="45466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931454"/>
              </p:ext>
            </p:extLst>
          </p:nvPr>
        </p:nvGraphicFramePr>
        <p:xfrm>
          <a:off x="2514600" y="3117850"/>
          <a:ext cx="69977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728" name="Equation" r:id="rId5" imgW="6997680" imgH="1307880" progId="Equation.3">
                  <p:embed/>
                </p:oleObj>
              </mc:Choice>
              <mc:Fallback>
                <p:oleObj name="Equation" r:id="rId5" imgW="6997680" imgH="1307880" progId="Equation.3">
                  <p:embed/>
                  <p:pic>
                    <p:nvPicPr>
                      <p:cNvPr id="40653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117850"/>
                        <a:ext cx="6997700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72305"/>
              </p:ext>
            </p:extLst>
          </p:nvPr>
        </p:nvGraphicFramePr>
        <p:xfrm>
          <a:off x="2525486" y="4918075"/>
          <a:ext cx="2235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729" name="Equation" r:id="rId7" imgW="2234880" imgH="419040" progId="Equation.3">
                  <p:embed/>
                </p:oleObj>
              </mc:Choice>
              <mc:Fallback>
                <p:oleObj name="Equation" r:id="rId7" imgW="2234880" imgH="419040" progId="Equation.3">
                  <p:embed/>
                  <p:pic>
                    <p:nvPicPr>
                      <p:cNvPr id="40653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486" y="4918075"/>
                        <a:ext cx="2235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203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515600" cy="4692650"/>
          </a:xfrm>
        </p:spPr>
        <p:txBody>
          <a:bodyPr/>
          <a:lstStyle/>
          <a:p>
            <a:pPr marL="292100" indent="-292100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400" dirty="0" smtClean="0">
                <a:solidFill>
                  <a:srgbClr val="0000FF"/>
                </a:solidFill>
              </a:rPr>
              <a:t>Example 6</a:t>
            </a:r>
            <a:endParaRPr lang="en-US" sz="2400" dirty="0">
              <a:solidFill>
                <a:srgbClr val="0000FF"/>
              </a:solidFill>
            </a:endParaRPr>
          </a:p>
          <a:p>
            <a:pPr algn="just"/>
            <a:r>
              <a:rPr lang="en-US" sz="2400" dirty="0">
                <a:solidFill>
                  <a:srgbClr val="0000FF"/>
                </a:solidFill>
              </a:rPr>
              <a:t>A coil of 1500 turns is wound on a circular wooden former which has a mean </a:t>
            </a:r>
            <a:r>
              <a:rPr lang="en-US" sz="2400" dirty="0" err="1" smtClean="0">
                <a:solidFill>
                  <a:srgbClr val="0000FF"/>
                </a:solidFill>
              </a:rPr>
              <a:t>circu-mference</a:t>
            </a:r>
            <a:r>
              <a:rPr lang="en-US" sz="2400" dirty="0" smtClean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of 30cm and a cross-sectional area of 4cm</a:t>
            </a:r>
            <a:r>
              <a:rPr lang="en-US" sz="2400" baseline="30000" dirty="0">
                <a:solidFill>
                  <a:srgbClr val="0000FF"/>
                </a:solidFill>
              </a:rPr>
              <a:t>2</a:t>
            </a:r>
            <a:r>
              <a:rPr lang="en-US" sz="2400" dirty="0">
                <a:solidFill>
                  <a:srgbClr val="0000FF"/>
                </a:solidFill>
              </a:rPr>
              <a:t>. Calculate (a) the flux </a:t>
            </a:r>
            <a:r>
              <a:rPr lang="en-US" sz="2400" dirty="0" smtClean="0">
                <a:solidFill>
                  <a:srgbClr val="0000FF"/>
                </a:solidFill>
              </a:rPr>
              <a:t> density  in </a:t>
            </a:r>
            <a:r>
              <a:rPr lang="en-US" sz="2400" dirty="0">
                <a:solidFill>
                  <a:srgbClr val="0000FF"/>
                </a:solidFill>
              </a:rPr>
              <a:t>the ring when the coil carries a current of 0.4 A (b) the flux in the ring in </a:t>
            </a:r>
            <a:r>
              <a:rPr lang="en-US" sz="2400" dirty="0" err="1" smtClean="0">
                <a:solidFill>
                  <a:srgbClr val="0000FF"/>
                </a:solidFill>
              </a:rPr>
              <a:t>webers</a:t>
            </a:r>
            <a:r>
              <a:rPr lang="en-US" sz="2400" dirty="0" smtClean="0">
                <a:solidFill>
                  <a:srgbClr val="0000FF"/>
                </a:solidFill>
              </a:rPr>
              <a:t>.</a:t>
            </a:r>
          </a:p>
          <a:p>
            <a:pPr marL="0" indent="0" algn="just">
              <a:buNone/>
            </a:pPr>
            <a:endParaRPr lang="en-US" sz="240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r>
              <a:rPr lang="en-US" sz="2400" dirty="0" smtClean="0">
                <a:solidFill>
                  <a:srgbClr val="0000FF"/>
                </a:solidFill>
              </a:rPr>
              <a:t>    When </a:t>
            </a:r>
            <a:r>
              <a:rPr lang="en-US" sz="2400" dirty="0">
                <a:solidFill>
                  <a:srgbClr val="0000FF"/>
                </a:solidFill>
              </a:rPr>
              <a:t>the wooden former was replaced with a steel former of the same </a:t>
            </a:r>
            <a:r>
              <a:rPr lang="en-US" sz="2400" dirty="0" smtClean="0">
                <a:solidFill>
                  <a:srgbClr val="0000FF"/>
                </a:solidFill>
              </a:rPr>
              <a:t>dimension,   the </a:t>
            </a:r>
            <a:r>
              <a:rPr lang="en-US" sz="2400" dirty="0">
                <a:solidFill>
                  <a:srgbClr val="0000FF"/>
                </a:solidFill>
              </a:rPr>
              <a:t>total flux became 600μWb for a current of 0.4 A. Calculate the relative permeability of the steel and the reluctance of the magnetic circuit at this flux density.</a:t>
            </a:r>
          </a:p>
          <a:p>
            <a:pPr marL="55563" lvl="2" indent="-55563" algn="just">
              <a:lnSpc>
                <a:spcPct val="120000"/>
              </a:lnSpc>
            </a:pPr>
            <a:endParaRPr lang="en-US" sz="11200" b="1" dirty="0">
              <a:solidFill>
                <a:srgbClr val="0000FF"/>
              </a:solidFill>
            </a:endParaRPr>
          </a:p>
          <a:p>
            <a:pPr marL="622300" indent="-274638" algn="just">
              <a:lnSpc>
                <a:spcPct val="120000"/>
              </a:lnSpc>
            </a:pPr>
            <a:endParaRPr lang="en-US" sz="112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23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49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100" indent="-292100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0000FF"/>
                </a:solidFill>
              </a:rPr>
              <a:t>Solution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00FF"/>
                </a:solidFill>
              </a:rPr>
              <a:t>A coil of 1500 turns is wound on a circular wooden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400" dirty="0" smtClean="0">
                <a:solidFill>
                  <a:srgbClr val="0000FF"/>
                </a:solidFill>
              </a:rPr>
              <a:t>(</a:t>
            </a:r>
            <a:r>
              <a:rPr lang="en-US" sz="2400" dirty="0">
                <a:solidFill>
                  <a:srgbClr val="0000FF"/>
                </a:solidFill>
              </a:rPr>
              <a:t>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938503"/>
              </p:ext>
            </p:extLst>
          </p:nvPr>
        </p:nvGraphicFramePr>
        <p:xfrm>
          <a:off x="2171700" y="2244271"/>
          <a:ext cx="26670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793" name="Equation" r:id="rId3" imgW="2666880" imgH="1155600" progId="Equation.3">
                  <p:embed/>
                </p:oleObj>
              </mc:Choice>
              <mc:Fallback>
                <p:oleObj name="Equation" r:id="rId3" imgW="2666880" imgH="1155600" progId="Equation.3">
                  <p:embed/>
                  <p:pic>
                    <p:nvPicPr>
                      <p:cNvPr id="40858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2244271"/>
                        <a:ext cx="26670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5787758"/>
              </p:ext>
            </p:extLst>
          </p:nvPr>
        </p:nvGraphicFramePr>
        <p:xfrm>
          <a:off x="5010876" y="2244271"/>
          <a:ext cx="25527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794" name="Equation" r:id="rId5" imgW="2552400" imgH="1168200" progId="Equation.3">
                  <p:embed/>
                </p:oleObj>
              </mc:Choice>
              <mc:Fallback>
                <p:oleObj name="Equation" r:id="rId5" imgW="2552400" imgH="1168200" progId="Equation.3">
                  <p:embed/>
                  <p:pic>
                    <p:nvPicPr>
                      <p:cNvPr id="40858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876" y="2244271"/>
                        <a:ext cx="25527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7683500" y="2552700"/>
          <a:ext cx="3060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795" name="Equation" r:id="rId7" imgW="3060360" imgH="419040" progId="Equation.3">
                  <p:embed/>
                </p:oleObj>
              </mc:Choice>
              <mc:Fallback>
                <p:oleObj name="Equation" r:id="rId7" imgW="3060360" imgH="419040" progId="Equation.3">
                  <p:embed/>
                  <p:pic>
                    <p:nvPicPr>
                      <p:cNvPr id="40858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0" y="2552700"/>
                        <a:ext cx="3060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451100" y="3505200"/>
          <a:ext cx="1892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796" name="Equation" r:id="rId9" imgW="1892160" imgH="596880" progId="Equation.3">
                  <p:embed/>
                </p:oleObj>
              </mc:Choice>
              <mc:Fallback>
                <p:oleObj name="Equation" r:id="rId9" imgW="1892160" imgH="596880" progId="Equation.3">
                  <p:embed/>
                  <p:pic>
                    <p:nvPicPr>
                      <p:cNvPr id="408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505200"/>
                        <a:ext cx="18923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4343400" y="3505200"/>
          <a:ext cx="3822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797" name="Equation" r:id="rId11" imgW="3822480" imgH="495000" progId="Equation.3">
                  <p:embed/>
                </p:oleObj>
              </mc:Choice>
              <mc:Fallback>
                <p:oleObj name="Equation" r:id="rId11" imgW="3822480" imgH="495000" progId="Equation.3">
                  <p:embed/>
                  <p:pic>
                    <p:nvPicPr>
                      <p:cNvPr id="40858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505200"/>
                        <a:ext cx="38227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4343400" y="4038600"/>
          <a:ext cx="3708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798" name="Equation" r:id="rId13" imgW="3708360" imgH="495000" progId="Equation.3">
                  <p:embed/>
                </p:oleObj>
              </mc:Choice>
              <mc:Fallback>
                <p:oleObj name="Equation" r:id="rId13" imgW="3708360" imgH="495000" progId="Equation.3">
                  <p:embed/>
                  <p:pic>
                    <p:nvPicPr>
                      <p:cNvPr id="4085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038600"/>
                        <a:ext cx="3708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/>
        </p:nvGraphicFramePr>
        <p:xfrm>
          <a:off x="2527300" y="4737100"/>
          <a:ext cx="1511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799" name="Equation" r:id="rId15" imgW="1511280" imgH="520560" progId="Equation.3">
                  <p:embed/>
                </p:oleObj>
              </mc:Choice>
              <mc:Fallback>
                <p:oleObj name="Equation" r:id="rId15" imgW="1511280" imgH="520560" progId="Equation.3">
                  <p:embed/>
                  <p:pic>
                    <p:nvPicPr>
                      <p:cNvPr id="40858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0" y="4737100"/>
                        <a:ext cx="1511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/>
        </p:nvGraphicFramePr>
        <p:xfrm>
          <a:off x="4356100" y="4724400"/>
          <a:ext cx="4864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800" name="Equation" r:id="rId17" imgW="4863960" imgH="495000" progId="Equation.3">
                  <p:embed/>
                </p:oleObj>
              </mc:Choice>
              <mc:Fallback>
                <p:oleObj name="Equation" r:id="rId17" imgW="4863960" imgH="495000" progId="Equation.3">
                  <p:embed/>
                  <p:pic>
                    <p:nvPicPr>
                      <p:cNvPr id="40858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4724400"/>
                        <a:ext cx="48641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/>
          <p:cNvGraphicFramePr>
            <a:graphicFrameLocks noChangeAspect="1"/>
          </p:cNvGraphicFramePr>
          <p:nvPr/>
        </p:nvGraphicFramePr>
        <p:xfrm>
          <a:off x="4318000" y="5410200"/>
          <a:ext cx="2616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801" name="Equation" r:id="rId19" imgW="2616120" imgH="520560" progId="Equation.3">
                  <p:embed/>
                </p:oleObj>
              </mc:Choice>
              <mc:Fallback>
                <p:oleObj name="Equation" r:id="rId19" imgW="2616120" imgH="520560" progId="Equation.3">
                  <p:embed/>
                  <p:pic>
                    <p:nvPicPr>
                      <p:cNvPr id="40859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0" y="5410200"/>
                        <a:ext cx="2616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252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Magnetic Circuit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100" indent="-292100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With the magnetic former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1892300" y="1981200"/>
          <a:ext cx="3898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10" name="Equation" r:id="rId3" imgW="3898800" imgH="419040" progId="Equation.3">
                  <p:embed/>
                </p:oleObj>
              </mc:Choice>
              <mc:Fallback>
                <p:oleObj name="Equation" r:id="rId3" imgW="3898800" imgH="419040" progId="Equation.3">
                  <p:embed/>
                  <p:pic>
                    <p:nvPicPr>
                      <p:cNvPr id="40858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1981200"/>
                        <a:ext cx="3898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6299200" y="1905000"/>
          <a:ext cx="2616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11" name="Equation" r:id="rId5" imgW="2616120" imgH="520560" progId="Equation.3">
                  <p:embed/>
                </p:oleObj>
              </mc:Choice>
              <mc:Fallback>
                <p:oleObj name="Equation" r:id="rId5" imgW="2616120" imgH="520560" progId="Equation.3">
                  <p:embed/>
                  <p:pic>
                    <p:nvPicPr>
                      <p:cNvPr id="40961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1905000"/>
                        <a:ext cx="2616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1638300" y="2438400"/>
          <a:ext cx="72009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12" name="Equation" r:id="rId7" imgW="7200720" imgH="1193760" progId="Equation.3">
                  <p:embed/>
                </p:oleObj>
              </mc:Choice>
              <mc:Fallback>
                <p:oleObj name="Equation" r:id="rId7" imgW="7200720" imgH="1193760" progId="Equation.3">
                  <p:embed/>
                  <p:pic>
                    <p:nvPicPr>
                      <p:cNvPr id="40961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2438400"/>
                        <a:ext cx="72009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993900" y="3676650"/>
          <a:ext cx="20447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13" name="Equation" r:id="rId9" imgW="2044440" imgH="1295280" progId="Equation.3">
                  <p:embed/>
                </p:oleObj>
              </mc:Choice>
              <mc:Fallback>
                <p:oleObj name="Equation" r:id="rId9" imgW="2044440" imgH="1295280" progId="Equation.3">
                  <p:embed/>
                  <p:pic>
                    <p:nvPicPr>
                      <p:cNvPr id="40961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900" y="3676650"/>
                        <a:ext cx="20447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4191000" y="3708400"/>
          <a:ext cx="38481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14" name="Equation" r:id="rId11" imgW="3848040" imgH="1168200" progId="Equation.3">
                  <p:embed/>
                </p:oleObj>
              </mc:Choice>
              <mc:Fallback>
                <p:oleObj name="Equation" r:id="rId11" imgW="3848040" imgH="1168200" progId="Equation.3">
                  <p:embed/>
                  <p:pic>
                    <p:nvPicPr>
                      <p:cNvPr id="40961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708400"/>
                        <a:ext cx="38481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8229600" y="4114800"/>
          <a:ext cx="1244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15" name="Equation" r:id="rId13" imgW="1244520" imgH="419040" progId="Equation.3">
                  <p:embed/>
                </p:oleObj>
              </mc:Choice>
              <mc:Fallback>
                <p:oleObj name="Equation" r:id="rId13" imgW="1244520" imgH="419040" progId="Equation.3">
                  <p:embed/>
                  <p:pic>
                    <p:nvPicPr>
                      <p:cNvPr id="40961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4114800"/>
                        <a:ext cx="1244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580334"/>
              </p:ext>
            </p:extLst>
          </p:nvPr>
        </p:nvGraphicFramePr>
        <p:xfrm>
          <a:off x="1993900" y="4957718"/>
          <a:ext cx="25400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16" name="Equation" r:id="rId15" imgW="2539800" imgH="1257120" progId="Equation.3">
                  <p:embed/>
                </p:oleObj>
              </mc:Choice>
              <mc:Fallback>
                <p:oleObj name="Equation" r:id="rId15" imgW="2539800" imgH="1257120" progId="Equation.3">
                  <p:embed/>
                  <p:pic>
                    <p:nvPicPr>
                      <p:cNvPr id="4096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900" y="4957718"/>
                        <a:ext cx="25400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898575"/>
              </p:ext>
            </p:extLst>
          </p:nvPr>
        </p:nvGraphicFramePr>
        <p:xfrm>
          <a:off x="4883150" y="5088709"/>
          <a:ext cx="56261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17" name="Equation" r:id="rId17" imgW="5626080" imgH="1168200" progId="Equation.3">
                  <p:embed/>
                </p:oleObj>
              </mc:Choice>
              <mc:Fallback>
                <p:oleObj name="Equation" r:id="rId17" imgW="5626080" imgH="1168200" progId="Equation.3">
                  <p:embed/>
                  <p:pic>
                    <p:nvPicPr>
                      <p:cNvPr id="40962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50" y="5088709"/>
                        <a:ext cx="56261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735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knust_telecom_tempelate [Autosaved]">
  <a:themeElements>
    <a:clrScheme name="제 23 장 2-port에서의 삽입손실 및 반사손실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제 23 장 2-port에서의 삽입손실 및 반사손실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제 23 장 2-port에서의 삽입손실 및 반사손실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 23 장 2-port에서의 삽입손실 및 반사손실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 23 장 2-port에서의 삽입손실 및 반사손실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 23 장 2-port에서의 삽입손실 및 반사손실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 23 장 2-port에서의 삽입손실 및 반사손실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 23 장 2-port에서의 삽입손실 및 반사손실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1023</Words>
  <Application>Microsoft Office PowerPoint</Application>
  <PresentationFormat>Widescreen</PresentationFormat>
  <Paragraphs>131</Paragraphs>
  <Slides>25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맑은 고딕</vt:lpstr>
      <vt:lpstr>Americana XBd BT</vt:lpstr>
      <vt:lpstr>Arial</vt:lpstr>
      <vt:lpstr>Calibri</vt:lpstr>
      <vt:lpstr>Courier New</vt:lpstr>
      <vt:lpstr>돋움</vt:lpstr>
      <vt:lpstr>Garamond</vt:lpstr>
      <vt:lpstr>굴림</vt:lpstr>
      <vt:lpstr>Wingdings</vt:lpstr>
      <vt:lpstr>한컴돋움</vt:lpstr>
      <vt:lpstr>knust_telecom_tempelate [Autosaved]</vt:lpstr>
      <vt:lpstr>Equation</vt:lpstr>
      <vt:lpstr>Visio</vt:lpstr>
      <vt:lpstr>PowerPoint Presentation</vt:lpstr>
      <vt:lpstr>Magnetic Circuits</vt:lpstr>
      <vt:lpstr>Magnetic Circuits</vt:lpstr>
      <vt:lpstr>Magnetic Circuits</vt:lpstr>
      <vt:lpstr>Magnetic Circuits</vt:lpstr>
      <vt:lpstr>Magnetic Circuits</vt:lpstr>
      <vt:lpstr>Magnetic Circuits</vt:lpstr>
      <vt:lpstr>Magnetic Circuits</vt:lpstr>
      <vt:lpstr>Magnetic Circuits</vt:lpstr>
      <vt:lpstr>Magnetic Circuits</vt:lpstr>
      <vt:lpstr>Magnetic Circuits</vt:lpstr>
      <vt:lpstr>Magnetic Circuits</vt:lpstr>
      <vt:lpstr>Magnetic Circuit</vt:lpstr>
      <vt:lpstr>Magnetic Circuit</vt:lpstr>
      <vt:lpstr>Magnetic Circuit</vt:lpstr>
      <vt:lpstr>PowerPoint Presentation</vt:lpstr>
      <vt:lpstr>Magnetic Circuit</vt:lpstr>
      <vt:lpstr>Magnetic Circuit</vt:lpstr>
      <vt:lpstr>Magnetic Circuit</vt:lpstr>
      <vt:lpstr>Magnetic Circuit</vt:lpstr>
      <vt:lpstr>Magnetic Circuit</vt:lpstr>
      <vt:lpstr>Magnetic Circuit</vt:lpstr>
      <vt:lpstr>Magnetic Circuit</vt:lpstr>
      <vt:lpstr>Magnetic Circuit</vt:lpstr>
      <vt:lpstr>Magnetic Circuit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ELECTRICITY (EE 151)</dc:title>
  <dc:creator/>
  <cp:lastModifiedBy/>
  <cp:revision>430</cp:revision>
  <dcterms:created xsi:type="dcterms:W3CDTF">2011-09-27T20:47:54Z</dcterms:created>
  <dcterms:modified xsi:type="dcterms:W3CDTF">2018-11-26T14:48:36Z</dcterms:modified>
</cp:coreProperties>
</file>