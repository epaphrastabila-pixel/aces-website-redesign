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4" r:id="rId6"/>
    <p:sldId id="280" r:id="rId7"/>
    <p:sldId id="266" r:id="rId8"/>
    <p:sldId id="265" r:id="rId9"/>
    <p:sldId id="267" r:id="rId10"/>
    <p:sldId id="281" r:id="rId11"/>
    <p:sldId id="268" r:id="rId12"/>
    <p:sldId id="269" r:id="rId13"/>
    <p:sldId id="270" r:id="rId14"/>
    <p:sldId id="276" r:id="rId15"/>
    <p:sldId id="272" r:id="rId16"/>
    <p:sldId id="271" r:id="rId17"/>
    <p:sldId id="273" r:id="rId18"/>
    <p:sldId id="274" r:id="rId19"/>
    <p:sldId id="275" r:id="rId20"/>
    <p:sldId id="277" r:id="rId21"/>
    <p:sldId id="278" r:id="rId22"/>
    <p:sldId id="260" r:id="rId23"/>
    <p:sldId id="279" r:id="rId24"/>
    <p:sldId id="26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90"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3/21/2023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3/21/2023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3/21/2023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3/21/2023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w3schools.com/html/" TargetMode="External"/><Relationship Id="rId2" Type="http://schemas.openxmlformats.org/officeDocument/2006/relationships/hyperlink" Target="https://alison.com/course/web-development-with-html-and-css-for-beginner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bg1"/>
                </a:solidFill>
              </a:rPr>
              <a:t>HTML AND CSS</a:t>
            </a:r>
            <a:endParaRPr lang="en-US" dirty="0">
              <a:solidFill>
                <a:schemeClr val="bg1"/>
              </a:solidFill>
            </a:endParaRPr>
          </a:p>
        </p:txBody>
      </p:sp>
      <p:sp>
        <p:nvSpPr>
          <p:cNvPr id="3" name="Subtitle 2"/>
          <p:cNvSpPr>
            <a:spLocks noGrp="1"/>
          </p:cNvSpPr>
          <p:nvPr>
            <p:ph type="subTitle" idx="1"/>
          </p:nvPr>
        </p:nvSpPr>
        <p:spPr/>
        <p:txBody>
          <a:bodyPr/>
          <a:lstStyle/>
          <a:p>
            <a:r>
              <a:rPr lang="en-US" dirty="0" smtClean="0">
                <a:solidFill>
                  <a:schemeClr val="bg1"/>
                </a:solidFill>
              </a:rPr>
              <a:t>INTRODUCTION TO WEB DEVELOPMENT</a:t>
            </a:r>
            <a:endParaRPr lang="en-US" dirty="0">
              <a:solidFill>
                <a:schemeClr val="bg1"/>
              </a:solidFill>
            </a:endParaRPr>
          </a:p>
        </p:txBody>
      </p:sp>
    </p:spTree>
    <p:extLst>
      <p:ext uri="{BB962C8B-B14F-4D97-AF65-F5344CB8AC3E}">
        <p14:creationId xmlns:p14="http://schemas.microsoft.com/office/powerpoint/2010/main" val="1905909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WHAT IS HTML?</a:t>
            </a:r>
            <a:endParaRPr lang="en-US" dirty="0">
              <a:solidFill>
                <a:schemeClr val="bg1"/>
              </a:solidFill>
            </a:endParaRPr>
          </a:p>
        </p:txBody>
      </p:sp>
      <p:sp>
        <p:nvSpPr>
          <p:cNvPr id="3" name="Content Placeholder 2"/>
          <p:cNvSpPr>
            <a:spLocks noGrp="1"/>
          </p:cNvSpPr>
          <p:nvPr>
            <p:ph idx="1"/>
          </p:nvPr>
        </p:nvSpPr>
        <p:spPr>
          <a:xfrm>
            <a:off x="1141413" y="1374844"/>
            <a:ext cx="10228952" cy="5483156"/>
          </a:xfrm>
        </p:spPr>
        <p:txBody>
          <a:bodyPr>
            <a:normAutofit fontScale="92500" lnSpcReduction="20000"/>
          </a:bodyPr>
          <a:lstStyle/>
          <a:p>
            <a:r>
              <a:rPr lang="en-US" sz="3200" dirty="0" smtClean="0">
                <a:solidFill>
                  <a:schemeClr val="bg1"/>
                </a:solidFill>
              </a:rPr>
              <a:t>HTML (Hypertext Markup Language) is a coding language for developing websites.</a:t>
            </a:r>
          </a:p>
          <a:p>
            <a:r>
              <a:rPr lang="en-US" sz="3200" dirty="0">
                <a:solidFill>
                  <a:schemeClr val="bg1"/>
                </a:solidFill>
              </a:rPr>
              <a:t>It is in charge of the website structure, defining the headers, text, links, images, input fields, etc</a:t>
            </a:r>
            <a:r>
              <a:rPr lang="en-US" sz="3200" dirty="0" smtClean="0">
                <a:solidFill>
                  <a:schemeClr val="bg1"/>
                </a:solidFill>
              </a:rPr>
              <a:t>.</a:t>
            </a:r>
          </a:p>
          <a:p>
            <a:r>
              <a:rPr lang="en-US" sz="3200" dirty="0">
                <a:solidFill>
                  <a:schemeClr val="bg1"/>
                </a:solidFill>
              </a:rPr>
              <a:t> </a:t>
            </a:r>
            <a:r>
              <a:rPr lang="en-US" sz="3200" dirty="0" smtClean="0">
                <a:solidFill>
                  <a:schemeClr val="bg1"/>
                </a:solidFill>
              </a:rPr>
              <a:t>To develop a website you need;</a:t>
            </a:r>
          </a:p>
          <a:p>
            <a:pPr lvl="1"/>
            <a:r>
              <a:rPr lang="en-US" sz="2800" dirty="0" smtClean="0">
                <a:solidFill>
                  <a:schemeClr val="bg1"/>
                </a:solidFill>
              </a:rPr>
              <a:t>Browsers like Google Chrome and Mozilla Firefox.</a:t>
            </a:r>
          </a:p>
          <a:p>
            <a:pPr lvl="1"/>
            <a:r>
              <a:rPr lang="en-US" sz="2800" dirty="0" smtClean="0">
                <a:solidFill>
                  <a:schemeClr val="bg1"/>
                </a:solidFill>
              </a:rPr>
              <a:t>Integrated Development Environment (IDE) for writing HTML code.</a:t>
            </a:r>
          </a:p>
          <a:p>
            <a:pPr lvl="2"/>
            <a:r>
              <a:rPr lang="en-US" sz="2400" dirty="0" smtClean="0">
                <a:solidFill>
                  <a:schemeClr val="bg1"/>
                </a:solidFill>
              </a:rPr>
              <a:t>Atom, Bracket, Notepad++,Sublime text, Visual Studio (VS) Code.</a:t>
            </a:r>
          </a:p>
          <a:p>
            <a:r>
              <a:rPr lang="en-US" sz="3400" dirty="0" smtClean="0">
                <a:solidFill>
                  <a:schemeClr val="bg1"/>
                </a:solidFill>
              </a:rPr>
              <a:t>You can use cloud-based IDEs to see results of code quickly.</a:t>
            </a:r>
          </a:p>
          <a:p>
            <a:pPr lvl="1"/>
            <a:r>
              <a:rPr lang="en-US" sz="2600" dirty="0" smtClean="0">
                <a:solidFill>
                  <a:schemeClr val="bg1"/>
                </a:solidFill>
              </a:rPr>
              <a:t>repl.it</a:t>
            </a:r>
          </a:p>
          <a:p>
            <a:pPr lvl="1"/>
            <a:r>
              <a:rPr lang="en-US" sz="2600" dirty="0" smtClean="0">
                <a:solidFill>
                  <a:schemeClr val="bg1"/>
                </a:solidFill>
              </a:rPr>
              <a:t>JS Bin</a:t>
            </a:r>
          </a:p>
          <a:p>
            <a:endParaRPr lang="en-US" sz="3200" dirty="0">
              <a:solidFill>
                <a:schemeClr val="bg1"/>
              </a:solidFill>
            </a:endParaRPr>
          </a:p>
        </p:txBody>
      </p:sp>
    </p:spTree>
    <p:extLst>
      <p:ext uri="{BB962C8B-B14F-4D97-AF65-F5344CB8AC3E}">
        <p14:creationId xmlns:p14="http://schemas.microsoft.com/office/powerpoint/2010/main" val="4882698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lstStyle/>
          <a:p>
            <a:r>
              <a:rPr lang="en-US" dirty="0" smtClean="0">
                <a:solidFill>
                  <a:schemeClr val="bg1"/>
                </a:solidFill>
              </a:rPr>
              <a:t>WHAT IS CSS?</a:t>
            </a:r>
            <a:endParaRPr lang="en-US" dirty="0">
              <a:solidFill>
                <a:schemeClr val="bg1"/>
              </a:solidFill>
            </a:endParaRPr>
          </a:p>
        </p:txBody>
      </p:sp>
      <p:sp>
        <p:nvSpPr>
          <p:cNvPr id="3" name="Content Placeholder 2"/>
          <p:cNvSpPr>
            <a:spLocks noGrp="1"/>
          </p:cNvSpPr>
          <p:nvPr>
            <p:ph idx="1"/>
          </p:nvPr>
        </p:nvSpPr>
        <p:spPr>
          <a:xfrm>
            <a:off x="1141412" y="1478570"/>
            <a:ext cx="10281962" cy="5379430"/>
          </a:xfrm>
        </p:spPr>
        <p:txBody>
          <a:bodyPr>
            <a:normAutofit fontScale="92500"/>
          </a:bodyPr>
          <a:lstStyle/>
          <a:p>
            <a:r>
              <a:rPr lang="en-US" sz="2800" dirty="0">
                <a:solidFill>
                  <a:schemeClr val="bg1"/>
                </a:solidFill>
              </a:rPr>
              <a:t>CSS stands for Cascading Style </a:t>
            </a:r>
            <a:r>
              <a:rPr lang="en-US" sz="2800" dirty="0" smtClean="0">
                <a:solidFill>
                  <a:schemeClr val="bg1"/>
                </a:solidFill>
              </a:rPr>
              <a:t>Sheets.</a:t>
            </a:r>
          </a:p>
          <a:p>
            <a:r>
              <a:rPr lang="en-US" sz="2800" dirty="0">
                <a:solidFill>
                  <a:schemeClr val="bg1"/>
                </a:solidFill>
              </a:rPr>
              <a:t>CSS </a:t>
            </a:r>
            <a:r>
              <a:rPr lang="en-US" sz="2800" dirty="0" smtClean="0">
                <a:solidFill>
                  <a:schemeClr val="bg1"/>
                </a:solidFill>
              </a:rPr>
              <a:t>is </a:t>
            </a:r>
            <a:r>
              <a:rPr lang="en-US" sz="2800" dirty="0">
                <a:solidFill>
                  <a:schemeClr val="bg1"/>
                </a:solidFill>
              </a:rPr>
              <a:t>used to format a website. This includes defining the layouts, fonts, colors, etc. Without CSS, all the websites on the internet will look similar.</a:t>
            </a:r>
          </a:p>
          <a:p>
            <a:r>
              <a:rPr lang="en-US" sz="2800" dirty="0" smtClean="0">
                <a:solidFill>
                  <a:schemeClr val="bg1"/>
                </a:solidFill>
              </a:rPr>
              <a:t>CSS </a:t>
            </a:r>
            <a:r>
              <a:rPr lang="en-US" sz="2800" dirty="0">
                <a:solidFill>
                  <a:schemeClr val="bg1"/>
                </a:solidFill>
              </a:rPr>
              <a:t>saves a lot of work. It can control the layout of multiple web pages all at </a:t>
            </a:r>
            <a:r>
              <a:rPr lang="en-US" sz="2800" dirty="0" smtClean="0">
                <a:solidFill>
                  <a:schemeClr val="bg1"/>
                </a:solidFill>
              </a:rPr>
              <a:t>once.</a:t>
            </a:r>
            <a:endParaRPr lang="en-US" sz="2800" dirty="0">
              <a:solidFill>
                <a:schemeClr val="bg1"/>
              </a:solidFill>
            </a:endParaRPr>
          </a:p>
          <a:p>
            <a:r>
              <a:rPr lang="en-US" sz="2800" dirty="0">
                <a:solidFill>
                  <a:schemeClr val="bg1"/>
                </a:solidFill>
              </a:rPr>
              <a:t>External stylesheets are stored in CSS </a:t>
            </a:r>
            <a:r>
              <a:rPr lang="en-US" sz="2800" dirty="0" smtClean="0">
                <a:solidFill>
                  <a:schemeClr val="bg1"/>
                </a:solidFill>
              </a:rPr>
              <a:t>files.</a:t>
            </a:r>
          </a:p>
          <a:p>
            <a:r>
              <a:rPr lang="en-US" sz="2800" dirty="0" smtClean="0">
                <a:solidFill>
                  <a:schemeClr val="bg1"/>
                </a:solidFill>
              </a:rPr>
              <a:t>HTML can be saved with the extensions: “.</a:t>
            </a:r>
            <a:r>
              <a:rPr lang="en-US" sz="2800" dirty="0" err="1" smtClean="0">
                <a:solidFill>
                  <a:schemeClr val="bg1"/>
                </a:solidFill>
              </a:rPr>
              <a:t>htm</a:t>
            </a:r>
            <a:r>
              <a:rPr lang="en-US" sz="2800" dirty="0" smtClean="0">
                <a:solidFill>
                  <a:schemeClr val="bg1"/>
                </a:solidFill>
              </a:rPr>
              <a:t>”, “.html” and UTF-8 encoding.</a:t>
            </a:r>
          </a:p>
          <a:p>
            <a:r>
              <a:rPr lang="en-US" sz="2800" dirty="0" smtClean="0">
                <a:solidFill>
                  <a:schemeClr val="bg1"/>
                </a:solidFill>
              </a:rPr>
              <a:t>CSS can be saved with the extension “.</a:t>
            </a:r>
            <a:r>
              <a:rPr lang="en-US" sz="2800" dirty="0" err="1" smtClean="0">
                <a:solidFill>
                  <a:schemeClr val="bg1"/>
                </a:solidFill>
              </a:rPr>
              <a:t>css</a:t>
            </a:r>
            <a:r>
              <a:rPr lang="en-US" sz="2800" dirty="0" smtClean="0">
                <a:solidFill>
                  <a:schemeClr val="bg1"/>
                </a:solidFill>
              </a:rPr>
              <a:t>”.</a:t>
            </a:r>
            <a:endParaRPr lang="en-US" sz="2800" dirty="0">
              <a:solidFill>
                <a:schemeClr val="bg1"/>
              </a:solidFill>
            </a:endParaRPr>
          </a:p>
        </p:txBody>
      </p:sp>
    </p:spTree>
    <p:extLst>
      <p:ext uri="{BB962C8B-B14F-4D97-AF65-F5344CB8AC3E}">
        <p14:creationId xmlns:p14="http://schemas.microsoft.com/office/powerpoint/2010/main" val="1807224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a:t>
            </a:r>
            <a:endParaRPr lang="en-US" dirty="0">
              <a:solidFill>
                <a:schemeClr val="bg1"/>
              </a:solidFill>
            </a:endParaRPr>
          </a:p>
        </p:txBody>
      </p:sp>
      <p:sp>
        <p:nvSpPr>
          <p:cNvPr id="3" name="Content Placeholder 2"/>
          <p:cNvSpPr>
            <a:spLocks noGrp="1"/>
          </p:cNvSpPr>
          <p:nvPr>
            <p:ph idx="1"/>
          </p:nvPr>
        </p:nvSpPr>
        <p:spPr>
          <a:xfrm>
            <a:off x="1141413" y="1554700"/>
            <a:ext cx="10281961" cy="5303300"/>
          </a:xfrm>
        </p:spPr>
        <p:txBody>
          <a:bodyPr>
            <a:normAutofit/>
          </a:bodyPr>
          <a:lstStyle/>
          <a:p>
            <a:r>
              <a:rPr lang="en-US" sz="3200" dirty="0" smtClean="0">
                <a:solidFill>
                  <a:schemeClr val="bg1"/>
                </a:solidFill>
              </a:rPr>
              <a:t>All HTML documents must start with a document type declaration: &lt;!DOCTYPE </a:t>
            </a:r>
            <a:r>
              <a:rPr lang="en-US" sz="3200" i="1" dirty="0" smtClean="0">
                <a:solidFill>
                  <a:schemeClr val="bg1"/>
                </a:solidFill>
              </a:rPr>
              <a:t>document type&gt;</a:t>
            </a:r>
          </a:p>
          <a:p>
            <a:r>
              <a:rPr lang="en-US" sz="3200" dirty="0" smtClean="0">
                <a:solidFill>
                  <a:schemeClr val="bg1"/>
                </a:solidFill>
              </a:rPr>
              <a:t>The document type for HTML5 is </a:t>
            </a:r>
            <a:r>
              <a:rPr lang="en-US" sz="3200" b="1" i="1" dirty="0" smtClean="0">
                <a:solidFill>
                  <a:schemeClr val="bg1"/>
                </a:solidFill>
              </a:rPr>
              <a:t>html.</a:t>
            </a:r>
          </a:p>
          <a:p>
            <a:r>
              <a:rPr lang="en-US" sz="3200" dirty="0" smtClean="0">
                <a:solidFill>
                  <a:schemeClr val="bg1"/>
                </a:solidFill>
              </a:rPr>
              <a:t>The HTML document itself begins with an </a:t>
            </a:r>
            <a:r>
              <a:rPr lang="en-US" sz="3200" b="1" i="1" dirty="0" smtClean="0">
                <a:solidFill>
                  <a:srgbClr val="0070C0"/>
                </a:solidFill>
              </a:rPr>
              <a:t>&lt;</a:t>
            </a:r>
            <a:r>
              <a:rPr lang="en-US" sz="3200" b="1" i="1" dirty="0" smtClean="0">
                <a:solidFill>
                  <a:srgbClr val="FF0000"/>
                </a:solidFill>
              </a:rPr>
              <a:t>html</a:t>
            </a:r>
            <a:r>
              <a:rPr lang="en-US" sz="3200" b="1" i="1" dirty="0" smtClean="0">
                <a:solidFill>
                  <a:srgbClr val="0070C0"/>
                </a:solidFill>
              </a:rPr>
              <a:t>&gt;</a:t>
            </a:r>
            <a:r>
              <a:rPr lang="en-US" sz="3200" b="1" i="1" dirty="0" smtClean="0">
                <a:solidFill>
                  <a:schemeClr val="bg1"/>
                </a:solidFill>
              </a:rPr>
              <a:t> </a:t>
            </a:r>
            <a:r>
              <a:rPr lang="en-US" sz="3200" dirty="0" smtClean="0">
                <a:solidFill>
                  <a:schemeClr val="bg1"/>
                </a:solidFill>
              </a:rPr>
              <a:t>tag and ends with a </a:t>
            </a:r>
            <a:r>
              <a:rPr lang="en-US" sz="3200" b="1" i="1" dirty="0" smtClean="0">
                <a:solidFill>
                  <a:srgbClr val="0070C0"/>
                </a:solidFill>
              </a:rPr>
              <a:t>&lt;/</a:t>
            </a:r>
            <a:r>
              <a:rPr lang="en-US" sz="3200" b="1" i="1" dirty="0" smtClean="0">
                <a:solidFill>
                  <a:srgbClr val="FF0000"/>
                </a:solidFill>
              </a:rPr>
              <a:t>html</a:t>
            </a:r>
            <a:r>
              <a:rPr lang="en-US" sz="3200" b="1" i="1" dirty="0" smtClean="0">
                <a:solidFill>
                  <a:srgbClr val="0070C0"/>
                </a:solidFill>
              </a:rPr>
              <a:t>&gt;</a:t>
            </a:r>
            <a:r>
              <a:rPr lang="en-US" sz="3200" b="1" i="1" dirty="0" smtClean="0">
                <a:solidFill>
                  <a:schemeClr val="bg1"/>
                </a:solidFill>
              </a:rPr>
              <a:t> </a:t>
            </a:r>
            <a:r>
              <a:rPr lang="en-US" sz="3200" dirty="0" smtClean="0">
                <a:solidFill>
                  <a:schemeClr val="bg1"/>
                </a:solidFill>
              </a:rPr>
              <a:t>tag.</a:t>
            </a:r>
          </a:p>
          <a:p>
            <a:r>
              <a:rPr lang="en-US" sz="3200" dirty="0" smtClean="0">
                <a:solidFill>
                  <a:schemeClr val="bg1"/>
                </a:solidFill>
              </a:rPr>
              <a:t>The visible part of the document is in between the </a:t>
            </a:r>
            <a:r>
              <a:rPr lang="en-US" sz="3200" b="1" i="1" dirty="0" smtClean="0">
                <a:solidFill>
                  <a:srgbClr val="0070C0"/>
                </a:solidFill>
              </a:rPr>
              <a:t>&lt;</a:t>
            </a:r>
            <a:r>
              <a:rPr lang="en-US" sz="3200" b="1" i="1" dirty="0" smtClean="0">
                <a:solidFill>
                  <a:srgbClr val="FF0000"/>
                </a:solidFill>
              </a:rPr>
              <a:t>body</a:t>
            </a:r>
            <a:r>
              <a:rPr lang="en-US" sz="3200" b="1" i="1" dirty="0" smtClean="0">
                <a:solidFill>
                  <a:srgbClr val="0070C0"/>
                </a:solidFill>
              </a:rPr>
              <a:t>&gt;</a:t>
            </a:r>
            <a:r>
              <a:rPr lang="en-US" sz="3200" b="1" i="1" dirty="0" smtClean="0">
                <a:solidFill>
                  <a:schemeClr val="bg1"/>
                </a:solidFill>
              </a:rPr>
              <a:t> </a:t>
            </a:r>
            <a:r>
              <a:rPr lang="en-US" sz="3200" dirty="0" smtClean="0">
                <a:solidFill>
                  <a:schemeClr val="bg1"/>
                </a:solidFill>
              </a:rPr>
              <a:t>and </a:t>
            </a:r>
            <a:r>
              <a:rPr lang="en-US" sz="3200" b="1" i="1" dirty="0" smtClean="0">
                <a:solidFill>
                  <a:srgbClr val="0070C0"/>
                </a:solidFill>
              </a:rPr>
              <a:t>&lt;/</a:t>
            </a:r>
            <a:r>
              <a:rPr lang="en-US" sz="3200" b="1" i="1" dirty="0" smtClean="0">
                <a:solidFill>
                  <a:srgbClr val="FF0000"/>
                </a:solidFill>
              </a:rPr>
              <a:t>body</a:t>
            </a:r>
            <a:r>
              <a:rPr lang="en-US" sz="3200" b="1" i="1" dirty="0" smtClean="0">
                <a:solidFill>
                  <a:srgbClr val="0070C0"/>
                </a:solidFill>
              </a:rPr>
              <a:t>&gt;</a:t>
            </a:r>
            <a:r>
              <a:rPr lang="en-US" sz="3200" b="1" i="1" dirty="0" smtClean="0">
                <a:solidFill>
                  <a:schemeClr val="bg1"/>
                </a:solidFill>
              </a:rPr>
              <a:t> </a:t>
            </a:r>
            <a:r>
              <a:rPr lang="en-US" sz="3200" dirty="0" smtClean="0">
                <a:solidFill>
                  <a:schemeClr val="bg1"/>
                </a:solidFill>
              </a:rPr>
              <a:t>tags.</a:t>
            </a:r>
          </a:p>
          <a:p>
            <a:r>
              <a:rPr lang="en-US" sz="3200" dirty="0" smtClean="0">
                <a:solidFill>
                  <a:schemeClr val="bg1"/>
                </a:solidFill>
              </a:rPr>
              <a:t>These are general requirements.</a:t>
            </a:r>
            <a:endParaRPr lang="en-US" sz="3200" dirty="0">
              <a:solidFill>
                <a:schemeClr val="bg1"/>
              </a:solidFill>
            </a:endParaRPr>
          </a:p>
        </p:txBody>
      </p:sp>
    </p:spTree>
    <p:extLst>
      <p:ext uri="{BB962C8B-B14F-4D97-AF65-F5344CB8AC3E}">
        <p14:creationId xmlns:p14="http://schemas.microsoft.com/office/powerpoint/2010/main" val="4615214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 ELEMENTS</a:t>
            </a:r>
            <a:endParaRPr lang="en-US" dirty="0">
              <a:solidFill>
                <a:schemeClr val="bg1"/>
              </a:solidFill>
            </a:endParaRPr>
          </a:p>
        </p:txBody>
      </p:sp>
      <p:sp>
        <p:nvSpPr>
          <p:cNvPr id="3" name="Content Placeholder 2"/>
          <p:cNvSpPr>
            <a:spLocks noGrp="1"/>
          </p:cNvSpPr>
          <p:nvPr>
            <p:ph idx="1"/>
          </p:nvPr>
        </p:nvSpPr>
        <p:spPr>
          <a:xfrm>
            <a:off x="1141412" y="1547564"/>
            <a:ext cx="10281554" cy="5310435"/>
          </a:xfrm>
        </p:spPr>
        <p:txBody>
          <a:bodyPr>
            <a:normAutofit lnSpcReduction="10000"/>
          </a:bodyPr>
          <a:lstStyle/>
          <a:p>
            <a:r>
              <a:rPr lang="en-US" sz="3000" dirty="0" smtClean="0">
                <a:solidFill>
                  <a:schemeClr val="bg1"/>
                </a:solidFill>
              </a:rPr>
              <a:t>An HTML element</a:t>
            </a:r>
          </a:p>
          <a:p>
            <a:r>
              <a:rPr lang="en-US" sz="3000" dirty="0" smtClean="0">
                <a:solidFill>
                  <a:schemeClr val="bg1"/>
                </a:solidFill>
              </a:rPr>
              <a:t>It comprises of :</a:t>
            </a:r>
          </a:p>
          <a:p>
            <a:pPr marL="0" indent="0">
              <a:buNone/>
            </a:pPr>
            <a:r>
              <a:rPr lang="en-US" sz="2800" dirty="0" smtClean="0">
                <a:solidFill>
                  <a:srgbClr val="0070C0"/>
                </a:solidFill>
              </a:rPr>
              <a:t>		&lt;</a:t>
            </a:r>
            <a:r>
              <a:rPr lang="en-US" sz="2800" dirty="0" smtClean="0">
                <a:solidFill>
                  <a:srgbClr val="FF0000"/>
                </a:solidFill>
              </a:rPr>
              <a:t>Opening Tag</a:t>
            </a:r>
            <a:r>
              <a:rPr lang="en-US" sz="2800" dirty="0" smtClean="0">
                <a:solidFill>
                  <a:srgbClr val="0070C0"/>
                </a:solidFill>
              </a:rPr>
              <a:t>&gt; </a:t>
            </a:r>
            <a:r>
              <a:rPr lang="en-US" sz="2800" dirty="0" smtClean="0">
                <a:solidFill>
                  <a:schemeClr val="bg1"/>
                </a:solidFill>
              </a:rPr>
              <a:t>Content</a:t>
            </a:r>
            <a:r>
              <a:rPr lang="en-US" sz="2800" dirty="0" smtClean="0">
                <a:solidFill>
                  <a:srgbClr val="0070C0"/>
                </a:solidFill>
              </a:rPr>
              <a:t> &lt;/</a:t>
            </a:r>
            <a:r>
              <a:rPr lang="en-US" sz="2800" dirty="0" smtClean="0">
                <a:solidFill>
                  <a:srgbClr val="FF0000"/>
                </a:solidFill>
              </a:rPr>
              <a:t>Closing Tag</a:t>
            </a:r>
            <a:r>
              <a:rPr lang="en-US" sz="2800" dirty="0" smtClean="0">
                <a:solidFill>
                  <a:srgbClr val="0070C0"/>
                </a:solidFill>
              </a:rPr>
              <a:t>&gt;</a:t>
            </a:r>
            <a:endParaRPr lang="en-US" sz="2800" dirty="0">
              <a:solidFill>
                <a:srgbClr val="0070C0"/>
              </a:solidFill>
            </a:endParaRPr>
          </a:p>
          <a:p>
            <a:r>
              <a:rPr lang="en-US" sz="3000" dirty="0" smtClean="0">
                <a:solidFill>
                  <a:schemeClr val="bg1"/>
                </a:solidFill>
              </a:rPr>
              <a:t>Header (&lt;h1&gt;-&lt;h6&gt;)- </a:t>
            </a:r>
            <a:r>
              <a:rPr lang="en-US" sz="3000" dirty="0" smtClean="0">
                <a:solidFill>
                  <a:srgbClr val="0070C0"/>
                </a:solidFill>
              </a:rPr>
              <a:t>&lt;</a:t>
            </a:r>
            <a:r>
              <a:rPr lang="en-US" sz="3000" dirty="0" smtClean="0">
                <a:solidFill>
                  <a:srgbClr val="FF0000"/>
                </a:solidFill>
              </a:rPr>
              <a:t>h1</a:t>
            </a:r>
            <a:r>
              <a:rPr lang="en-US" sz="3000" dirty="0" smtClean="0">
                <a:solidFill>
                  <a:srgbClr val="0070C0"/>
                </a:solidFill>
              </a:rPr>
              <a:t>&gt;&lt;/</a:t>
            </a:r>
            <a:r>
              <a:rPr lang="en-US" sz="3000" dirty="0" smtClean="0">
                <a:solidFill>
                  <a:srgbClr val="FF0000"/>
                </a:solidFill>
              </a:rPr>
              <a:t>h1</a:t>
            </a:r>
            <a:r>
              <a:rPr lang="en-US" sz="3000" dirty="0" smtClean="0">
                <a:solidFill>
                  <a:srgbClr val="0070C0"/>
                </a:solidFill>
              </a:rPr>
              <a:t>&gt;</a:t>
            </a:r>
          </a:p>
          <a:p>
            <a:r>
              <a:rPr lang="en-US" sz="3000" dirty="0" smtClean="0">
                <a:solidFill>
                  <a:schemeClr val="bg1"/>
                </a:solidFill>
              </a:rPr>
              <a:t>Paragraphs- </a:t>
            </a:r>
            <a:r>
              <a:rPr lang="en-US" sz="3000" dirty="0" smtClean="0">
                <a:solidFill>
                  <a:srgbClr val="0070C0"/>
                </a:solidFill>
              </a:rPr>
              <a:t>&lt;</a:t>
            </a:r>
            <a:r>
              <a:rPr lang="en-US" sz="3000" dirty="0" smtClean="0">
                <a:solidFill>
                  <a:srgbClr val="FF0000"/>
                </a:solidFill>
              </a:rPr>
              <a:t>p</a:t>
            </a:r>
            <a:r>
              <a:rPr lang="en-US" sz="3000" dirty="0" smtClean="0">
                <a:solidFill>
                  <a:srgbClr val="0070C0"/>
                </a:solidFill>
              </a:rPr>
              <a:t>&gt;&lt;/</a:t>
            </a:r>
            <a:r>
              <a:rPr lang="en-US" sz="3000" dirty="0" smtClean="0">
                <a:solidFill>
                  <a:srgbClr val="FF0000"/>
                </a:solidFill>
              </a:rPr>
              <a:t>p</a:t>
            </a:r>
            <a:r>
              <a:rPr lang="en-US" sz="3000" dirty="0" smtClean="0">
                <a:solidFill>
                  <a:srgbClr val="0070C0"/>
                </a:solidFill>
              </a:rPr>
              <a:t>&gt;</a:t>
            </a:r>
          </a:p>
          <a:p>
            <a:r>
              <a:rPr lang="en-US" sz="3000" dirty="0" smtClean="0">
                <a:solidFill>
                  <a:schemeClr val="bg1"/>
                </a:solidFill>
              </a:rPr>
              <a:t>Links-</a:t>
            </a:r>
            <a:r>
              <a:rPr lang="en-US" sz="3000" dirty="0" smtClean="0">
                <a:solidFill>
                  <a:srgbClr val="0070C0"/>
                </a:solidFill>
              </a:rPr>
              <a:t>&lt;</a:t>
            </a:r>
            <a:r>
              <a:rPr lang="en-US" sz="3000" dirty="0" smtClean="0">
                <a:solidFill>
                  <a:srgbClr val="FF0000"/>
                </a:solidFill>
              </a:rPr>
              <a:t>a</a:t>
            </a:r>
            <a:r>
              <a:rPr lang="en-US" sz="3000" dirty="0" smtClean="0">
                <a:solidFill>
                  <a:schemeClr val="bg1"/>
                </a:solidFill>
              </a:rPr>
              <a:t> </a:t>
            </a:r>
            <a:r>
              <a:rPr lang="en-US" sz="3000" dirty="0" err="1" smtClean="0">
                <a:solidFill>
                  <a:srgbClr val="00B0F0"/>
                </a:solidFill>
              </a:rPr>
              <a:t>href</a:t>
            </a:r>
            <a:r>
              <a:rPr lang="en-US" sz="3000" dirty="0" smtClean="0">
                <a:solidFill>
                  <a:srgbClr val="00B0F0"/>
                </a:solidFill>
              </a:rPr>
              <a:t>= “link description”</a:t>
            </a:r>
            <a:r>
              <a:rPr lang="en-US" sz="3000" dirty="0" smtClean="0">
                <a:solidFill>
                  <a:srgbClr val="0070C0"/>
                </a:solidFill>
              </a:rPr>
              <a:t>&gt;&lt;/</a:t>
            </a:r>
            <a:r>
              <a:rPr lang="en-US" sz="3000" dirty="0" smtClean="0">
                <a:solidFill>
                  <a:srgbClr val="FF0000"/>
                </a:solidFill>
              </a:rPr>
              <a:t>a</a:t>
            </a:r>
            <a:r>
              <a:rPr lang="en-US" sz="3000" dirty="0" smtClean="0">
                <a:solidFill>
                  <a:srgbClr val="0070C0"/>
                </a:solidFill>
              </a:rPr>
              <a:t>&gt;</a:t>
            </a:r>
          </a:p>
          <a:p>
            <a:r>
              <a:rPr lang="en-US" sz="3000" dirty="0" smtClean="0">
                <a:solidFill>
                  <a:schemeClr val="bg1"/>
                </a:solidFill>
              </a:rPr>
              <a:t>Images-</a:t>
            </a:r>
            <a:r>
              <a:rPr lang="en-US" sz="3000" dirty="0" smtClean="0">
                <a:solidFill>
                  <a:srgbClr val="0070C0"/>
                </a:solidFill>
              </a:rPr>
              <a:t>&lt;</a:t>
            </a:r>
            <a:r>
              <a:rPr lang="en-US" sz="3000" dirty="0" err="1" smtClean="0">
                <a:solidFill>
                  <a:srgbClr val="FF0000"/>
                </a:solidFill>
              </a:rPr>
              <a:t>img</a:t>
            </a:r>
            <a:r>
              <a:rPr lang="en-US" sz="3000" dirty="0" smtClean="0">
                <a:solidFill>
                  <a:srgbClr val="FF0000"/>
                </a:solidFill>
              </a:rPr>
              <a:t> </a:t>
            </a:r>
            <a:r>
              <a:rPr lang="en-US" sz="3000" dirty="0" err="1" smtClean="0">
                <a:solidFill>
                  <a:srgbClr val="FF0000"/>
                </a:solidFill>
              </a:rPr>
              <a:t>src</a:t>
            </a:r>
            <a:r>
              <a:rPr lang="en-US" sz="3000" dirty="0">
                <a:solidFill>
                  <a:srgbClr val="FF0000"/>
                </a:solidFill>
              </a:rPr>
              <a:t>= </a:t>
            </a:r>
            <a:r>
              <a:rPr lang="en-US" sz="3000" dirty="0" smtClean="0">
                <a:solidFill>
                  <a:srgbClr val="FF0000"/>
                </a:solidFill>
              </a:rPr>
              <a:t>"</a:t>
            </a:r>
            <a:r>
              <a:rPr lang="en-US" sz="3000" dirty="0">
                <a:solidFill>
                  <a:srgbClr val="FF0000"/>
                </a:solidFill>
              </a:rPr>
              <a:t>C:\Users\USER\Pictures\Picture2.jpg"</a:t>
            </a:r>
            <a:r>
              <a:rPr lang="en-US" sz="3000" dirty="0" smtClean="0">
                <a:solidFill>
                  <a:srgbClr val="0070C0"/>
                </a:solidFill>
              </a:rPr>
              <a:t>&gt;</a:t>
            </a:r>
          </a:p>
          <a:p>
            <a:r>
              <a:rPr lang="en-US" sz="3000" dirty="0" smtClean="0">
                <a:solidFill>
                  <a:schemeClr val="bg1"/>
                </a:solidFill>
              </a:rPr>
              <a:t>Empty Elements-</a:t>
            </a:r>
            <a:r>
              <a:rPr lang="en-US" sz="3000" dirty="0" err="1" smtClean="0">
                <a:solidFill>
                  <a:schemeClr val="bg1"/>
                </a:solidFill>
              </a:rPr>
              <a:t>eg</a:t>
            </a:r>
            <a:r>
              <a:rPr lang="en-US" sz="3000" dirty="0" smtClean="0">
                <a:solidFill>
                  <a:schemeClr val="bg1"/>
                </a:solidFill>
              </a:rPr>
              <a:t>. Line break- </a:t>
            </a:r>
            <a:r>
              <a:rPr lang="en-US" sz="3000" dirty="0" smtClean="0">
                <a:solidFill>
                  <a:srgbClr val="0070C0"/>
                </a:solidFill>
              </a:rPr>
              <a:t>&lt;</a:t>
            </a:r>
            <a:r>
              <a:rPr lang="en-US" sz="3000" dirty="0" err="1" smtClean="0">
                <a:solidFill>
                  <a:srgbClr val="FF0000"/>
                </a:solidFill>
              </a:rPr>
              <a:t>br</a:t>
            </a:r>
            <a:r>
              <a:rPr lang="en-US" sz="3000" dirty="0" smtClean="0">
                <a:solidFill>
                  <a:srgbClr val="0070C0"/>
                </a:solidFill>
              </a:rPr>
              <a:t>&gt;</a:t>
            </a:r>
          </a:p>
          <a:p>
            <a:pPr marL="0" indent="0">
              <a:buNone/>
            </a:pPr>
            <a:endParaRPr lang="en-US" sz="3000" dirty="0" smtClean="0">
              <a:solidFill>
                <a:schemeClr val="bg1"/>
              </a:solidFill>
            </a:endParaRPr>
          </a:p>
          <a:p>
            <a:pPr marL="0" indent="0">
              <a:buNone/>
            </a:pPr>
            <a:endParaRPr lang="en-US" sz="3200" dirty="0" smtClean="0">
              <a:solidFill>
                <a:schemeClr val="bg1"/>
              </a:solidFill>
            </a:endParaRPr>
          </a:p>
        </p:txBody>
      </p:sp>
    </p:spTree>
    <p:extLst>
      <p:ext uri="{BB962C8B-B14F-4D97-AF65-F5344CB8AC3E}">
        <p14:creationId xmlns:p14="http://schemas.microsoft.com/office/powerpoint/2010/main" val="42176365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 ELEMENTS</a:t>
            </a:r>
            <a:endParaRPr lang="en-US" dirty="0">
              <a:solidFill>
                <a:schemeClr val="bg1"/>
              </a:solidFill>
            </a:endParaRPr>
          </a:p>
        </p:txBody>
      </p:sp>
      <p:sp>
        <p:nvSpPr>
          <p:cNvPr id="3" name="Content Placeholder 2"/>
          <p:cNvSpPr>
            <a:spLocks noGrp="1"/>
          </p:cNvSpPr>
          <p:nvPr>
            <p:ph idx="1"/>
          </p:nvPr>
        </p:nvSpPr>
        <p:spPr>
          <a:xfrm>
            <a:off x="1141412" y="1547564"/>
            <a:ext cx="10281554" cy="5310435"/>
          </a:xfrm>
        </p:spPr>
        <p:txBody>
          <a:bodyPr>
            <a:normAutofit/>
          </a:bodyPr>
          <a:lstStyle/>
          <a:p>
            <a:r>
              <a:rPr lang="en-US" sz="6000" dirty="0" smtClean="0">
                <a:solidFill>
                  <a:schemeClr val="bg1"/>
                </a:solidFill>
              </a:rPr>
              <a:t>Images-</a:t>
            </a:r>
            <a:r>
              <a:rPr lang="en-US" sz="6000" dirty="0" smtClean="0">
                <a:solidFill>
                  <a:srgbClr val="0070C0"/>
                </a:solidFill>
              </a:rPr>
              <a:t>&lt;</a:t>
            </a:r>
            <a:r>
              <a:rPr lang="en-US" sz="6000" dirty="0" err="1" smtClean="0">
                <a:solidFill>
                  <a:srgbClr val="FF0000"/>
                </a:solidFill>
              </a:rPr>
              <a:t>img</a:t>
            </a:r>
            <a:r>
              <a:rPr lang="en-US" sz="6000" dirty="0" smtClean="0">
                <a:solidFill>
                  <a:srgbClr val="FF0000"/>
                </a:solidFill>
              </a:rPr>
              <a:t> </a:t>
            </a:r>
            <a:r>
              <a:rPr lang="en-US" sz="6000" dirty="0" err="1" smtClean="0">
                <a:solidFill>
                  <a:srgbClr val="FF0000"/>
                </a:solidFill>
              </a:rPr>
              <a:t>src</a:t>
            </a:r>
            <a:r>
              <a:rPr lang="en-US" sz="6000" dirty="0">
                <a:solidFill>
                  <a:srgbClr val="FF0000"/>
                </a:solidFill>
              </a:rPr>
              <a:t>= </a:t>
            </a:r>
            <a:r>
              <a:rPr lang="en-US" sz="6000" dirty="0" smtClean="0">
                <a:solidFill>
                  <a:srgbClr val="FF0000"/>
                </a:solidFill>
              </a:rPr>
              <a:t>"</a:t>
            </a:r>
            <a:r>
              <a:rPr lang="en-US" sz="6000" dirty="0">
                <a:solidFill>
                  <a:srgbClr val="FF0000"/>
                </a:solidFill>
              </a:rPr>
              <a:t>C:\Users\USER\Pictures\Picture2.jpg"</a:t>
            </a:r>
            <a:r>
              <a:rPr lang="en-US" sz="6000" dirty="0" smtClean="0">
                <a:solidFill>
                  <a:srgbClr val="0070C0"/>
                </a:solidFill>
              </a:rPr>
              <a:t>&gt;</a:t>
            </a:r>
          </a:p>
          <a:p>
            <a:pPr marL="0" indent="0">
              <a:buNone/>
            </a:pPr>
            <a:endParaRPr lang="en-US" sz="6600" dirty="0" smtClean="0">
              <a:solidFill>
                <a:schemeClr val="bg1"/>
              </a:solidFill>
            </a:endParaRPr>
          </a:p>
        </p:txBody>
      </p:sp>
    </p:spTree>
    <p:extLst>
      <p:ext uri="{BB962C8B-B14F-4D97-AF65-F5344CB8AC3E}">
        <p14:creationId xmlns:p14="http://schemas.microsoft.com/office/powerpoint/2010/main" val="30038488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 ELEMENTS</a:t>
            </a:r>
            <a:endParaRPr lang="en-US" dirty="0">
              <a:solidFill>
                <a:schemeClr val="bg1"/>
              </a:solidFill>
            </a:endParaRPr>
          </a:p>
        </p:txBody>
      </p:sp>
      <p:sp>
        <p:nvSpPr>
          <p:cNvPr id="3" name="Content Placeholder 2"/>
          <p:cNvSpPr>
            <a:spLocks noGrp="1"/>
          </p:cNvSpPr>
          <p:nvPr>
            <p:ph idx="1"/>
          </p:nvPr>
        </p:nvSpPr>
        <p:spPr>
          <a:xfrm>
            <a:off x="1141412" y="1547564"/>
            <a:ext cx="10281554" cy="5310435"/>
          </a:xfrm>
        </p:spPr>
        <p:txBody>
          <a:bodyPr>
            <a:normAutofit fontScale="92500" lnSpcReduction="10000"/>
          </a:bodyPr>
          <a:lstStyle/>
          <a:p>
            <a:r>
              <a:rPr lang="en-US" sz="3000" dirty="0" smtClean="0">
                <a:solidFill>
                  <a:schemeClr val="bg1"/>
                </a:solidFill>
              </a:rPr>
              <a:t>Nested HTML Elements:</a:t>
            </a:r>
          </a:p>
          <a:p>
            <a:r>
              <a:rPr lang="en-US" sz="3000" dirty="0" smtClean="0">
                <a:solidFill>
                  <a:schemeClr val="bg1"/>
                </a:solidFill>
              </a:rPr>
              <a:t>Elements which contain other elements. </a:t>
            </a:r>
            <a:r>
              <a:rPr lang="en-US" sz="3000" dirty="0" err="1" smtClean="0">
                <a:solidFill>
                  <a:schemeClr val="bg1"/>
                </a:solidFill>
              </a:rPr>
              <a:t>Eg</a:t>
            </a:r>
            <a:r>
              <a:rPr lang="en-US" sz="3000" dirty="0" smtClean="0">
                <a:solidFill>
                  <a:schemeClr val="bg1"/>
                </a:solidFill>
              </a:rPr>
              <a:t>.</a:t>
            </a:r>
          </a:p>
          <a:p>
            <a:pPr marL="0" indent="0">
              <a:buNone/>
            </a:pPr>
            <a:r>
              <a:rPr lang="en-US" sz="3000" dirty="0">
                <a:solidFill>
                  <a:schemeClr val="bg1"/>
                </a:solidFill>
              </a:rPr>
              <a:t>	</a:t>
            </a:r>
            <a:r>
              <a:rPr lang="en-US" sz="3000" dirty="0" smtClean="0">
                <a:solidFill>
                  <a:srgbClr val="0070C0"/>
                </a:solidFill>
              </a:rPr>
              <a:t>&lt;</a:t>
            </a:r>
            <a:r>
              <a:rPr lang="en-US" sz="3000" dirty="0" smtClean="0">
                <a:solidFill>
                  <a:srgbClr val="FF0000"/>
                </a:solidFill>
              </a:rPr>
              <a:t>html</a:t>
            </a:r>
            <a:r>
              <a:rPr lang="en-US" sz="3000" dirty="0" smtClean="0">
                <a:solidFill>
                  <a:srgbClr val="0070C0"/>
                </a:solidFill>
              </a:rPr>
              <a:t>&gt;</a:t>
            </a:r>
          </a:p>
          <a:p>
            <a:pPr marL="0" indent="0">
              <a:buNone/>
            </a:pPr>
            <a:r>
              <a:rPr lang="en-US" sz="3000" dirty="0">
                <a:solidFill>
                  <a:srgbClr val="0070C0"/>
                </a:solidFill>
              </a:rPr>
              <a:t>	</a:t>
            </a:r>
            <a:r>
              <a:rPr lang="en-US" sz="3000" dirty="0" smtClean="0">
                <a:solidFill>
                  <a:srgbClr val="0070C0"/>
                </a:solidFill>
              </a:rPr>
              <a:t>&lt;</a:t>
            </a:r>
            <a:r>
              <a:rPr lang="en-US" sz="3000" dirty="0" smtClean="0">
                <a:solidFill>
                  <a:srgbClr val="FF0000"/>
                </a:solidFill>
              </a:rPr>
              <a:t>body</a:t>
            </a:r>
            <a:r>
              <a:rPr lang="en-US" sz="3000" dirty="0" smtClean="0">
                <a:solidFill>
                  <a:srgbClr val="0070C0"/>
                </a:solidFill>
              </a:rPr>
              <a:t>&gt;</a:t>
            </a:r>
          </a:p>
          <a:p>
            <a:pPr marL="0" indent="0">
              <a:buNone/>
            </a:pPr>
            <a:r>
              <a:rPr lang="en-US" sz="3000" dirty="0">
                <a:solidFill>
                  <a:schemeClr val="bg1"/>
                </a:solidFill>
              </a:rPr>
              <a:t>	</a:t>
            </a:r>
            <a:r>
              <a:rPr lang="en-US" sz="3000" dirty="0" smtClean="0">
                <a:solidFill>
                  <a:srgbClr val="0070C0"/>
                </a:solidFill>
              </a:rPr>
              <a:t>&lt;/</a:t>
            </a:r>
            <a:r>
              <a:rPr lang="en-US" sz="3000" dirty="0" smtClean="0">
                <a:solidFill>
                  <a:srgbClr val="FF0000"/>
                </a:solidFill>
              </a:rPr>
              <a:t>body</a:t>
            </a:r>
            <a:r>
              <a:rPr lang="en-US" sz="3000" dirty="0" smtClean="0">
                <a:solidFill>
                  <a:srgbClr val="0070C0"/>
                </a:solidFill>
              </a:rPr>
              <a:t>&gt;</a:t>
            </a:r>
          </a:p>
          <a:p>
            <a:pPr marL="0" indent="0">
              <a:buNone/>
            </a:pPr>
            <a:r>
              <a:rPr lang="en-US" sz="3000" dirty="0">
                <a:solidFill>
                  <a:schemeClr val="bg1"/>
                </a:solidFill>
              </a:rPr>
              <a:t>	</a:t>
            </a:r>
            <a:r>
              <a:rPr lang="en-US" sz="3000" dirty="0" smtClean="0">
                <a:solidFill>
                  <a:srgbClr val="0070C0"/>
                </a:solidFill>
              </a:rPr>
              <a:t>&lt;/</a:t>
            </a:r>
            <a:r>
              <a:rPr lang="en-US" sz="3000" dirty="0" smtClean="0">
                <a:solidFill>
                  <a:srgbClr val="FF0000"/>
                </a:solidFill>
              </a:rPr>
              <a:t>html</a:t>
            </a:r>
            <a:r>
              <a:rPr lang="en-US" sz="3000" dirty="0" smtClean="0">
                <a:solidFill>
                  <a:srgbClr val="0070C0"/>
                </a:solidFill>
              </a:rPr>
              <a:t>&gt;</a:t>
            </a:r>
          </a:p>
          <a:p>
            <a:r>
              <a:rPr lang="en-US" sz="3000" dirty="0" smtClean="0">
                <a:solidFill>
                  <a:schemeClr val="bg1"/>
                </a:solidFill>
              </a:rPr>
              <a:t>HTML tags are not case sensitive in the HTML Standard. W3C </a:t>
            </a:r>
            <a:r>
              <a:rPr lang="en-US" sz="3000" b="1" dirty="0" smtClean="0">
                <a:solidFill>
                  <a:schemeClr val="bg1"/>
                </a:solidFill>
              </a:rPr>
              <a:t>recommends</a:t>
            </a:r>
            <a:r>
              <a:rPr lang="en-US" sz="3000" dirty="0" smtClean="0">
                <a:solidFill>
                  <a:schemeClr val="bg1"/>
                </a:solidFill>
              </a:rPr>
              <a:t> lower case in HTML and </a:t>
            </a:r>
            <a:r>
              <a:rPr lang="en-US" sz="3000" b="1" dirty="0" smtClean="0">
                <a:solidFill>
                  <a:schemeClr val="bg1"/>
                </a:solidFill>
              </a:rPr>
              <a:t>demands</a:t>
            </a:r>
            <a:r>
              <a:rPr lang="en-US" sz="3000" dirty="0" smtClean="0">
                <a:solidFill>
                  <a:schemeClr val="bg1"/>
                </a:solidFill>
              </a:rPr>
              <a:t> lowercase for stricter document types like XHTML. </a:t>
            </a:r>
            <a:endParaRPr lang="en-US" sz="3200" dirty="0" smtClean="0">
              <a:solidFill>
                <a:schemeClr val="bg1"/>
              </a:solidFill>
            </a:endParaRPr>
          </a:p>
        </p:txBody>
      </p:sp>
    </p:spTree>
    <p:extLst>
      <p:ext uri="{BB962C8B-B14F-4D97-AF65-F5344CB8AC3E}">
        <p14:creationId xmlns:p14="http://schemas.microsoft.com/office/powerpoint/2010/main" val="18894076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 Attributes</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a:bodyPr>
          <a:lstStyle/>
          <a:p>
            <a:r>
              <a:rPr lang="en-US" sz="2800" dirty="0" smtClean="0">
                <a:solidFill>
                  <a:schemeClr val="bg1"/>
                </a:solidFill>
              </a:rPr>
              <a:t>All HTML elements can have attributes. Attributes provide additional information about elements.</a:t>
            </a:r>
          </a:p>
          <a:p>
            <a:r>
              <a:rPr lang="en-US" sz="2800" dirty="0" smtClean="0">
                <a:solidFill>
                  <a:schemeClr val="bg1"/>
                </a:solidFill>
              </a:rPr>
              <a:t>They are always specified in the opening tag.</a:t>
            </a:r>
          </a:p>
          <a:p>
            <a:r>
              <a:rPr lang="en-US" sz="2800" dirty="0" smtClean="0">
                <a:solidFill>
                  <a:schemeClr val="bg1"/>
                </a:solidFill>
              </a:rPr>
              <a:t>They usually come in </a:t>
            </a:r>
            <a:r>
              <a:rPr lang="en-US" sz="2800" dirty="0" smtClean="0">
                <a:solidFill>
                  <a:srgbClr val="00B0F0"/>
                </a:solidFill>
              </a:rPr>
              <a:t>name/value</a:t>
            </a:r>
            <a:r>
              <a:rPr lang="en-US" sz="2800" dirty="0" smtClean="0">
                <a:solidFill>
                  <a:srgbClr val="0070C0"/>
                </a:solidFill>
              </a:rPr>
              <a:t> </a:t>
            </a:r>
            <a:r>
              <a:rPr lang="en-US" sz="2800" dirty="0" smtClean="0">
                <a:solidFill>
                  <a:schemeClr val="bg1"/>
                </a:solidFill>
              </a:rPr>
              <a:t>pairs like: </a:t>
            </a:r>
            <a:r>
              <a:rPr lang="en-US" sz="2800" dirty="0" smtClean="0">
                <a:solidFill>
                  <a:srgbClr val="00B0F0"/>
                </a:solidFill>
              </a:rPr>
              <a:t>name=“value”</a:t>
            </a:r>
          </a:p>
          <a:p>
            <a:pPr marL="514350" indent="-514350">
              <a:buFont typeface="+mj-lt"/>
              <a:buAutoNum type="arabicPeriod"/>
            </a:pPr>
            <a:r>
              <a:rPr lang="en-US" sz="2800" dirty="0" smtClean="0">
                <a:solidFill>
                  <a:schemeClr val="bg1"/>
                </a:solidFill>
              </a:rPr>
              <a:t>The </a:t>
            </a:r>
            <a:r>
              <a:rPr lang="en-US" sz="2800" dirty="0" err="1" smtClean="0">
                <a:solidFill>
                  <a:schemeClr val="bg1"/>
                </a:solidFill>
              </a:rPr>
              <a:t>src</a:t>
            </a:r>
            <a:r>
              <a:rPr lang="en-US" sz="2800" dirty="0" smtClean="0">
                <a:solidFill>
                  <a:schemeClr val="bg1"/>
                </a:solidFill>
              </a:rPr>
              <a:t> Attribute- specifies the source of an image. </a:t>
            </a:r>
          </a:p>
          <a:p>
            <a:pPr marL="514350" indent="-514350">
              <a:buFont typeface="+mj-lt"/>
              <a:buAutoNum type="arabicPeriod"/>
            </a:pPr>
            <a:r>
              <a:rPr lang="en-US" sz="2800" dirty="0" smtClean="0">
                <a:solidFill>
                  <a:schemeClr val="bg1"/>
                </a:solidFill>
              </a:rPr>
              <a:t>The width &amp; height Attributes- specifies width and height of an image in pixels. </a:t>
            </a:r>
            <a:r>
              <a:rPr lang="en-US" sz="2800" dirty="0" err="1" smtClean="0">
                <a:solidFill>
                  <a:schemeClr val="bg1"/>
                </a:solidFill>
              </a:rPr>
              <a:t>Eg</a:t>
            </a:r>
            <a:r>
              <a:rPr lang="en-US" sz="2800" dirty="0" smtClean="0">
                <a:solidFill>
                  <a:schemeClr val="bg1"/>
                </a:solidFill>
              </a:rPr>
              <a:t>. </a:t>
            </a:r>
            <a:r>
              <a:rPr lang="en-US" sz="2800" dirty="0" smtClean="0">
                <a:solidFill>
                  <a:srgbClr val="0070C0"/>
                </a:solidFill>
              </a:rPr>
              <a:t>&lt;</a:t>
            </a:r>
            <a:r>
              <a:rPr lang="en-US" sz="2800" dirty="0" err="1" smtClean="0">
                <a:solidFill>
                  <a:srgbClr val="FF0000"/>
                </a:solidFill>
              </a:rPr>
              <a:t>img</a:t>
            </a:r>
            <a:r>
              <a:rPr lang="en-US" sz="2800" dirty="0" smtClean="0">
                <a:solidFill>
                  <a:schemeClr val="bg1"/>
                </a:solidFill>
              </a:rPr>
              <a:t> </a:t>
            </a:r>
            <a:r>
              <a:rPr lang="en-US" sz="2800" dirty="0" err="1" smtClean="0">
                <a:solidFill>
                  <a:srgbClr val="00B0F0"/>
                </a:solidFill>
              </a:rPr>
              <a:t>src</a:t>
            </a:r>
            <a:r>
              <a:rPr lang="en-US" sz="2800" dirty="0" smtClean="0">
                <a:solidFill>
                  <a:srgbClr val="00B0F0"/>
                </a:solidFill>
              </a:rPr>
              <a:t>=“img_cat.jpg” width=“500” height=“600” alt=“A white cat”</a:t>
            </a:r>
            <a:r>
              <a:rPr lang="en-US" sz="2800" dirty="0" smtClean="0">
                <a:solidFill>
                  <a:srgbClr val="0070C0"/>
                </a:solidFill>
              </a:rPr>
              <a:t>&gt;</a:t>
            </a:r>
          </a:p>
          <a:p>
            <a:pPr marL="514350" indent="-514350">
              <a:buFont typeface="+mj-lt"/>
              <a:buAutoNum type="arabicPeriod"/>
            </a:pPr>
            <a:r>
              <a:rPr lang="en-US" sz="2800" dirty="0" smtClean="0">
                <a:solidFill>
                  <a:schemeClr val="bg1"/>
                </a:solidFill>
              </a:rPr>
              <a:t>The alt Attributes-specifies alternate text.</a:t>
            </a:r>
          </a:p>
        </p:txBody>
      </p:sp>
    </p:spTree>
    <p:extLst>
      <p:ext uri="{BB962C8B-B14F-4D97-AF65-F5344CB8AC3E}">
        <p14:creationId xmlns:p14="http://schemas.microsoft.com/office/powerpoint/2010/main" val="25028676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 Attributes</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a:bodyPr>
          <a:lstStyle/>
          <a:p>
            <a:pPr marL="514350" indent="-514350">
              <a:buFont typeface="+mj-lt"/>
              <a:buAutoNum type="arabicPeriod" startAt="4"/>
            </a:pPr>
            <a:r>
              <a:rPr lang="en-US" sz="2800" dirty="0" smtClean="0">
                <a:solidFill>
                  <a:schemeClr val="bg1"/>
                </a:solidFill>
              </a:rPr>
              <a:t>The style Attribute- specifies the style of an HTML element.</a:t>
            </a:r>
            <a:r>
              <a:rPr lang="en-US" sz="2800" dirty="0">
                <a:solidFill>
                  <a:schemeClr val="bg1"/>
                </a:solidFill>
              </a:rPr>
              <a:t> </a:t>
            </a:r>
            <a:r>
              <a:rPr lang="en-US" sz="2800" dirty="0" smtClean="0">
                <a:solidFill>
                  <a:schemeClr val="bg1"/>
                </a:solidFill>
              </a:rPr>
              <a:t>Syntax:</a:t>
            </a:r>
          </a:p>
          <a:p>
            <a:pPr marL="457200" lvl="1" indent="0">
              <a:buNone/>
            </a:pPr>
            <a:r>
              <a:rPr lang="en-US" sz="2800" dirty="0" smtClean="0">
                <a:solidFill>
                  <a:srgbClr val="0070C0"/>
                </a:solidFill>
              </a:rPr>
              <a:t>&lt;</a:t>
            </a:r>
            <a:r>
              <a:rPr lang="en-US" sz="2800" dirty="0" err="1" smtClean="0">
                <a:solidFill>
                  <a:srgbClr val="FF0000"/>
                </a:solidFill>
              </a:rPr>
              <a:t>tagname</a:t>
            </a:r>
            <a:r>
              <a:rPr lang="en-US" sz="2800" dirty="0" smtClean="0">
                <a:solidFill>
                  <a:schemeClr val="bg1"/>
                </a:solidFill>
              </a:rPr>
              <a:t> </a:t>
            </a:r>
            <a:r>
              <a:rPr lang="en-US" sz="2800" dirty="0" smtClean="0">
                <a:solidFill>
                  <a:srgbClr val="00B0F0"/>
                </a:solidFill>
              </a:rPr>
              <a:t>style=“</a:t>
            </a:r>
            <a:r>
              <a:rPr lang="en-US" sz="2800" dirty="0" err="1" smtClean="0">
                <a:solidFill>
                  <a:srgbClr val="00B0F0"/>
                </a:solidFill>
              </a:rPr>
              <a:t>property:value</a:t>
            </a:r>
            <a:r>
              <a:rPr lang="en-US" sz="2800" dirty="0" smtClean="0">
                <a:solidFill>
                  <a:srgbClr val="00B0F0"/>
                </a:solidFill>
              </a:rPr>
              <a:t>;”</a:t>
            </a:r>
            <a:r>
              <a:rPr lang="en-US" sz="2800" dirty="0" smtClean="0">
                <a:solidFill>
                  <a:srgbClr val="0070C0"/>
                </a:solidFill>
              </a:rPr>
              <a:t>&gt;</a:t>
            </a:r>
          </a:p>
          <a:p>
            <a:pPr marL="457200" lvl="1" indent="0">
              <a:buNone/>
            </a:pPr>
            <a:r>
              <a:rPr lang="en-US" sz="2800" dirty="0" smtClean="0">
                <a:solidFill>
                  <a:schemeClr val="bg1"/>
                </a:solidFill>
              </a:rPr>
              <a:t>Property-CSS property, Value-CSS value</a:t>
            </a:r>
          </a:p>
          <a:p>
            <a:pPr marL="457200" lvl="1" indent="0">
              <a:buNone/>
            </a:pPr>
            <a:r>
              <a:rPr lang="en-US" sz="2800" dirty="0" smtClean="0">
                <a:solidFill>
                  <a:schemeClr val="bg1"/>
                </a:solidFill>
              </a:rPr>
              <a:t>CSS Properties:</a:t>
            </a:r>
          </a:p>
          <a:p>
            <a:pPr lvl="1"/>
            <a:r>
              <a:rPr lang="en-US" sz="2800" dirty="0" smtClean="0">
                <a:solidFill>
                  <a:schemeClr val="bg1"/>
                </a:solidFill>
              </a:rPr>
              <a:t>background-color: defines background color for an element.</a:t>
            </a:r>
          </a:p>
          <a:p>
            <a:pPr lvl="1"/>
            <a:r>
              <a:rPr lang="en-US" sz="2800" dirty="0" smtClean="0">
                <a:solidFill>
                  <a:schemeClr val="bg1"/>
                </a:solidFill>
              </a:rPr>
              <a:t>color: defines the text color for an element.</a:t>
            </a:r>
          </a:p>
          <a:p>
            <a:pPr lvl="1"/>
            <a:r>
              <a:rPr lang="en-US" sz="2800" dirty="0" smtClean="0">
                <a:solidFill>
                  <a:schemeClr val="bg1"/>
                </a:solidFill>
              </a:rPr>
              <a:t>Font-family: defines font type.</a:t>
            </a:r>
          </a:p>
          <a:p>
            <a:pPr lvl="1"/>
            <a:r>
              <a:rPr lang="en-US" sz="2800" dirty="0" smtClean="0">
                <a:solidFill>
                  <a:schemeClr val="bg1"/>
                </a:solidFill>
              </a:rPr>
              <a:t>Font-size(in% or </a:t>
            </a:r>
            <a:r>
              <a:rPr lang="en-US" sz="2800" dirty="0" err="1" smtClean="0">
                <a:solidFill>
                  <a:schemeClr val="bg1"/>
                </a:solidFill>
              </a:rPr>
              <a:t>px</a:t>
            </a:r>
            <a:r>
              <a:rPr lang="en-US" sz="2800" dirty="0" smtClean="0">
                <a:solidFill>
                  <a:schemeClr val="bg1"/>
                </a:solidFill>
              </a:rPr>
              <a:t>): defines text size.</a:t>
            </a:r>
          </a:p>
          <a:p>
            <a:pPr lvl="1"/>
            <a:r>
              <a:rPr lang="en-US" sz="2800" dirty="0" smtClean="0">
                <a:solidFill>
                  <a:schemeClr val="bg1"/>
                </a:solidFill>
              </a:rPr>
              <a:t>Text-align: defines the horizontal text alignment.</a:t>
            </a:r>
          </a:p>
        </p:txBody>
      </p:sp>
    </p:spTree>
    <p:extLst>
      <p:ext uri="{BB962C8B-B14F-4D97-AF65-F5344CB8AC3E}">
        <p14:creationId xmlns:p14="http://schemas.microsoft.com/office/powerpoint/2010/main" val="20343245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 Attributes</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a:bodyPr>
          <a:lstStyle/>
          <a:p>
            <a:pPr marL="0" lvl="1" indent="0">
              <a:spcBef>
                <a:spcPts val="1000"/>
              </a:spcBef>
              <a:buNone/>
            </a:pPr>
            <a:r>
              <a:rPr lang="en-US" sz="6600" dirty="0" smtClean="0">
                <a:solidFill>
                  <a:srgbClr val="0070C0"/>
                </a:solidFill>
              </a:rPr>
              <a:t>&lt;</a:t>
            </a:r>
            <a:r>
              <a:rPr lang="en-US" sz="6600" dirty="0" smtClean="0">
                <a:solidFill>
                  <a:srgbClr val="FF0000"/>
                </a:solidFill>
              </a:rPr>
              <a:t>p</a:t>
            </a:r>
            <a:r>
              <a:rPr lang="en-US" sz="6600" dirty="0" smtClean="0">
                <a:solidFill>
                  <a:schemeClr val="bg1"/>
                </a:solidFill>
              </a:rPr>
              <a:t> </a:t>
            </a:r>
            <a:r>
              <a:rPr lang="en-US" sz="6600" dirty="0">
                <a:solidFill>
                  <a:srgbClr val="00B0F0"/>
                </a:solidFill>
              </a:rPr>
              <a:t>style</a:t>
            </a:r>
            <a:r>
              <a:rPr lang="en-US" sz="6600" dirty="0" smtClean="0">
                <a:solidFill>
                  <a:srgbClr val="00B0F0"/>
                </a:solidFill>
              </a:rPr>
              <a:t>=“</a:t>
            </a:r>
            <a:r>
              <a:rPr lang="en-US" sz="6600" dirty="0" err="1" smtClean="0">
                <a:solidFill>
                  <a:srgbClr val="00B0F0"/>
                </a:solidFill>
              </a:rPr>
              <a:t>background-color:tomato</a:t>
            </a:r>
            <a:r>
              <a:rPr lang="en-US" sz="6600" dirty="0" smtClean="0">
                <a:solidFill>
                  <a:srgbClr val="00B0F0"/>
                </a:solidFill>
              </a:rPr>
              <a:t>;”</a:t>
            </a:r>
            <a:r>
              <a:rPr lang="en-US" sz="6600" dirty="0" smtClean="0">
                <a:solidFill>
                  <a:srgbClr val="0070C0"/>
                </a:solidFill>
              </a:rPr>
              <a:t>&gt;</a:t>
            </a:r>
            <a:endParaRPr lang="en-US" sz="6600" dirty="0">
              <a:solidFill>
                <a:srgbClr val="0070C0"/>
              </a:solidFill>
            </a:endParaRPr>
          </a:p>
          <a:p>
            <a:pPr marL="514350" indent="-514350">
              <a:buFont typeface="+mj-lt"/>
              <a:buAutoNum type="arabicPeriod" startAt="4"/>
            </a:pPr>
            <a:endParaRPr lang="en-US" sz="6600" dirty="0" smtClean="0">
              <a:solidFill>
                <a:schemeClr val="bg1"/>
              </a:solidFill>
            </a:endParaRPr>
          </a:p>
        </p:txBody>
      </p:sp>
    </p:spTree>
    <p:extLst>
      <p:ext uri="{BB962C8B-B14F-4D97-AF65-F5344CB8AC3E}">
        <p14:creationId xmlns:p14="http://schemas.microsoft.com/office/powerpoint/2010/main" val="42044482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 Attributes</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lnSpcReduction="10000"/>
          </a:bodyPr>
          <a:lstStyle/>
          <a:p>
            <a:pPr marL="514350" indent="-514350">
              <a:buFont typeface="+mj-lt"/>
              <a:buAutoNum type="arabicPeriod" startAt="5"/>
            </a:pPr>
            <a:r>
              <a:rPr lang="en-US" sz="2800" dirty="0" smtClean="0">
                <a:solidFill>
                  <a:schemeClr val="bg1"/>
                </a:solidFill>
              </a:rPr>
              <a:t>The </a:t>
            </a:r>
            <a:r>
              <a:rPr lang="en-US" sz="2800" dirty="0" err="1" smtClean="0">
                <a:solidFill>
                  <a:schemeClr val="bg1"/>
                </a:solidFill>
              </a:rPr>
              <a:t>lang</a:t>
            </a:r>
            <a:r>
              <a:rPr lang="en-US" sz="2800" dirty="0" smtClean="0">
                <a:solidFill>
                  <a:schemeClr val="bg1"/>
                </a:solidFill>
              </a:rPr>
              <a:t> Attribute- declares the language of the web page. This is meant to assist search engines and browsers. It is included in the &lt;html&gt; tag. </a:t>
            </a:r>
            <a:r>
              <a:rPr lang="en-US" sz="2800" dirty="0" err="1" smtClean="0">
                <a:solidFill>
                  <a:schemeClr val="bg1"/>
                </a:solidFill>
              </a:rPr>
              <a:t>Eg</a:t>
            </a:r>
            <a:r>
              <a:rPr lang="en-US" sz="2800" dirty="0" smtClean="0">
                <a:solidFill>
                  <a:schemeClr val="bg1"/>
                </a:solidFill>
              </a:rPr>
              <a:t>. &lt;html </a:t>
            </a:r>
            <a:r>
              <a:rPr lang="en-US" sz="2800" dirty="0" err="1" smtClean="0">
                <a:solidFill>
                  <a:schemeClr val="bg1"/>
                </a:solidFill>
              </a:rPr>
              <a:t>lang</a:t>
            </a:r>
            <a:r>
              <a:rPr lang="en-US" sz="2800" dirty="0" smtClean="0">
                <a:solidFill>
                  <a:schemeClr val="bg1"/>
                </a:solidFill>
              </a:rPr>
              <a:t>=“</a:t>
            </a:r>
            <a:r>
              <a:rPr lang="en-US" sz="2800" dirty="0" err="1" smtClean="0">
                <a:solidFill>
                  <a:schemeClr val="bg1"/>
                </a:solidFill>
              </a:rPr>
              <a:t>en</a:t>
            </a:r>
            <a:r>
              <a:rPr lang="en-US" sz="2800" dirty="0" smtClean="0">
                <a:solidFill>
                  <a:schemeClr val="bg1"/>
                </a:solidFill>
              </a:rPr>
              <a:t>”&gt;&lt;/html&gt;. Country codes can be added in the </a:t>
            </a:r>
            <a:r>
              <a:rPr lang="en-US" sz="2800" dirty="0" err="1" smtClean="0">
                <a:solidFill>
                  <a:schemeClr val="bg1"/>
                </a:solidFill>
              </a:rPr>
              <a:t>lang</a:t>
            </a:r>
            <a:r>
              <a:rPr lang="en-US" sz="2800" dirty="0" smtClean="0">
                <a:solidFill>
                  <a:schemeClr val="bg1"/>
                </a:solidFill>
              </a:rPr>
              <a:t> attribute. </a:t>
            </a:r>
            <a:r>
              <a:rPr lang="en-US" sz="2800" dirty="0" err="1" smtClean="0">
                <a:solidFill>
                  <a:schemeClr val="bg1"/>
                </a:solidFill>
              </a:rPr>
              <a:t>Eg</a:t>
            </a:r>
            <a:r>
              <a:rPr lang="en-US" sz="2800" dirty="0" smtClean="0">
                <a:solidFill>
                  <a:schemeClr val="bg1"/>
                </a:solidFill>
              </a:rPr>
              <a:t> “</a:t>
            </a:r>
            <a:r>
              <a:rPr lang="en-US" sz="2800" dirty="0" err="1" smtClean="0">
                <a:solidFill>
                  <a:schemeClr val="bg1"/>
                </a:solidFill>
              </a:rPr>
              <a:t>en</a:t>
            </a:r>
            <a:r>
              <a:rPr lang="en-US" sz="2800" dirty="0" smtClean="0">
                <a:solidFill>
                  <a:schemeClr val="bg1"/>
                </a:solidFill>
              </a:rPr>
              <a:t>-US” specifies the language and the country.</a:t>
            </a:r>
          </a:p>
          <a:p>
            <a:pPr marL="514350" indent="-514350">
              <a:buFont typeface="+mj-lt"/>
              <a:buAutoNum type="arabicPeriod" startAt="5"/>
            </a:pPr>
            <a:r>
              <a:rPr lang="en-US" sz="2800" dirty="0" smtClean="0">
                <a:solidFill>
                  <a:schemeClr val="bg1"/>
                </a:solidFill>
              </a:rPr>
              <a:t>The title Attribute- defines some extra information about an element. </a:t>
            </a:r>
            <a:r>
              <a:rPr lang="en-US" sz="2800" dirty="0" err="1" smtClean="0">
                <a:solidFill>
                  <a:schemeClr val="bg1"/>
                </a:solidFill>
              </a:rPr>
              <a:t>Eg</a:t>
            </a:r>
            <a:r>
              <a:rPr lang="en-US" sz="2800" dirty="0" smtClean="0">
                <a:solidFill>
                  <a:schemeClr val="bg1"/>
                </a:solidFill>
              </a:rPr>
              <a:t>. &lt;p title=“This is a cat”&gt;&lt;/p&gt;.</a:t>
            </a:r>
            <a:endParaRPr lang="en-US" sz="2800" dirty="0">
              <a:solidFill>
                <a:schemeClr val="bg1"/>
              </a:solidFill>
            </a:endParaRPr>
          </a:p>
          <a:p>
            <a:r>
              <a:rPr lang="en-US" sz="2800" dirty="0">
                <a:solidFill>
                  <a:schemeClr val="bg1"/>
                </a:solidFill>
              </a:rPr>
              <a:t>HTML </a:t>
            </a:r>
            <a:r>
              <a:rPr lang="en-US" sz="2800" dirty="0" smtClean="0">
                <a:solidFill>
                  <a:schemeClr val="bg1"/>
                </a:solidFill>
              </a:rPr>
              <a:t>attributes </a:t>
            </a:r>
            <a:r>
              <a:rPr lang="en-US" sz="2800" dirty="0">
                <a:solidFill>
                  <a:schemeClr val="bg1"/>
                </a:solidFill>
              </a:rPr>
              <a:t>are not case sensitive in the HTML Standard. W3C </a:t>
            </a:r>
            <a:r>
              <a:rPr lang="en-US" sz="2800" b="1" dirty="0">
                <a:solidFill>
                  <a:schemeClr val="bg1"/>
                </a:solidFill>
              </a:rPr>
              <a:t>recommends</a:t>
            </a:r>
            <a:r>
              <a:rPr lang="en-US" sz="2800" dirty="0">
                <a:solidFill>
                  <a:schemeClr val="bg1"/>
                </a:solidFill>
              </a:rPr>
              <a:t> lower case in HTML and </a:t>
            </a:r>
            <a:r>
              <a:rPr lang="en-US" sz="2800" b="1" dirty="0">
                <a:solidFill>
                  <a:schemeClr val="bg1"/>
                </a:solidFill>
              </a:rPr>
              <a:t>demands</a:t>
            </a:r>
            <a:r>
              <a:rPr lang="en-US" sz="2800" dirty="0">
                <a:solidFill>
                  <a:schemeClr val="bg1"/>
                </a:solidFill>
              </a:rPr>
              <a:t> lowercase for stricter document types like XHTML. </a:t>
            </a:r>
          </a:p>
          <a:p>
            <a:pPr marL="514350" indent="-514350">
              <a:buFont typeface="+mj-lt"/>
              <a:buAutoNum type="arabicPeriod" startAt="5"/>
            </a:pPr>
            <a:endParaRPr lang="en-US" sz="2800" dirty="0" smtClean="0">
              <a:solidFill>
                <a:schemeClr val="bg1"/>
              </a:solidFill>
            </a:endParaRPr>
          </a:p>
        </p:txBody>
      </p:sp>
    </p:spTree>
    <p:extLst>
      <p:ext uri="{BB962C8B-B14F-4D97-AF65-F5344CB8AC3E}">
        <p14:creationId xmlns:p14="http://schemas.microsoft.com/office/powerpoint/2010/main" val="28803578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 Attributes</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a:bodyPr>
          <a:lstStyle/>
          <a:p>
            <a:r>
              <a:rPr lang="en-US" sz="2800" dirty="0" smtClean="0">
                <a:solidFill>
                  <a:schemeClr val="bg1"/>
                </a:solidFill>
              </a:rPr>
              <a:t>W3C </a:t>
            </a:r>
            <a:r>
              <a:rPr lang="en-US" sz="2800" b="1" dirty="0">
                <a:solidFill>
                  <a:schemeClr val="bg1"/>
                </a:solidFill>
              </a:rPr>
              <a:t>recommends</a:t>
            </a:r>
            <a:r>
              <a:rPr lang="en-US" sz="2800" dirty="0">
                <a:solidFill>
                  <a:schemeClr val="bg1"/>
                </a:solidFill>
              </a:rPr>
              <a:t> </a:t>
            </a:r>
            <a:r>
              <a:rPr lang="en-US" sz="2800" dirty="0" smtClean="0">
                <a:solidFill>
                  <a:schemeClr val="bg1"/>
                </a:solidFill>
              </a:rPr>
              <a:t>quotes for attribute values in </a:t>
            </a:r>
            <a:r>
              <a:rPr lang="en-US" sz="2800" dirty="0">
                <a:solidFill>
                  <a:schemeClr val="bg1"/>
                </a:solidFill>
              </a:rPr>
              <a:t>HTML and </a:t>
            </a:r>
            <a:r>
              <a:rPr lang="en-US" sz="2800" b="1" dirty="0">
                <a:solidFill>
                  <a:schemeClr val="bg1"/>
                </a:solidFill>
              </a:rPr>
              <a:t>demands</a:t>
            </a:r>
            <a:r>
              <a:rPr lang="en-US" sz="2800" dirty="0">
                <a:solidFill>
                  <a:schemeClr val="bg1"/>
                </a:solidFill>
              </a:rPr>
              <a:t> </a:t>
            </a:r>
            <a:r>
              <a:rPr lang="en-US" sz="2800" dirty="0" smtClean="0">
                <a:solidFill>
                  <a:schemeClr val="bg1"/>
                </a:solidFill>
              </a:rPr>
              <a:t>them </a:t>
            </a:r>
            <a:r>
              <a:rPr lang="en-US" sz="2800" dirty="0">
                <a:solidFill>
                  <a:schemeClr val="bg1"/>
                </a:solidFill>
              </a:rPr>
              <a:t>for stricter document types like XHTML. </a:t>
            </a:r>
            <a:endParaRPr lang="en-US" sz="2800" dirty="0" smtClean="0">
              <a:solidFill>
                <a:schemeClr val="bg1"/>
              </a:solidFill>
            </a:endParaRPr>
          </a:p>
          <a:p>
            <a:r>
              <a:rPr lang="en-US" sz="2800" dirty="0" smtClean="0">
                <a:solidFill>
                  <a:schemeClr val="bg1"/>
                </a:solidFill>
              </a:rPr>
              <a:t>Suggestion: Always quote attribute values.</a:t>
            </a:r>
          </a:p>
          <a:p>
            <a:r>
              <a:rPr lang="en-US" sz="2800" dirty="0" smtClean="0">
                <a:solidFill>
                  <a:schemeClr val="bg1"/>
                </a:solidFill>
              </a:rPr>
              <a:t>Double quotes are more common than single quotes.</a:t>
            </a:r>
          </a:p>
          <a:p>
            <a:r>
              <a:rPr lang="en-US" sz="2800" dirty="0" smtClean="0">
                <a:solidFill>
                  <a:schemeClr val="bg1"/>
                </a:solidFill>
              </a:rPr>
              <a:t>In some cases when the attribute itself contains double quotes, it is necessary to use single quotes.</a:t>
            </a:r>
            <a:endParaRPr lang="en-US" sz="2800" dirty="0">
              <a:solidFill>
                <a:schemeClr val="bg1"/>
              </a:solidFill>
            </a:endParaRPr>
          </a:p>
        </p:txBody>
      </p:sp>
    </p:spTree>
    <p:extLst>
      <p:ext uri="{BB962C8B-B14F-4D97-AF65-F5344CB8AC3E}">
        <p14:creationId xmlns:p14="http://schemas.microsoft.com/office/powerpoint/2010/main" val="14553268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a:bodyPr>
          <a:lstStyle/>
          <a:p>
            <a:r>
              <a:rPr lang="en-US" sz="2800" dirty="0" smtClean="0">
                <a:solidFill>
                  <a:schemeClr val="bg1"/>
                </a:solidFill>
              </a:rPr>
              <a:t>HTML Paragraphs. (&lt;p&gt;&lt;/p&gt;)</a:t>
            </a:r>
          </a:p>
          <a:p>
            <a:pPr marL="0" indent="0">
              <a:buNone/>
            </a:pPr>
            <a:r>
              <a:rPr lang="en-US" sz="2800" dirty="0" smtClean="0">
                <a:solidFill>
                  <a:schemeClr val="bg1"/>
                </a:solidFill>
              </a:rPr>
              <a:t>You cannot change the display by adding extra spaces or extra lines in the HTML code. The browser will automatically remove any extra space and lines when the page is displayed. Paragraphs help to specify new lines.</a:t>
            </a:r>
          </a:p>
          <a:p>
            <a:r>
              <a:rPr lang="en-US" sz="2800" dirty="0" smtClean="0">
                <a:solidFill>
                  <a:schemeClr val="bg1"/>
                </a:solidFill>
              </a:rPr>
              <a:t>HTML Horizontal Rules (&lt;</a:t>
            </a:r>
            <a:r>
              <a:rPr lang="en-US" sz="2800" dirty="0" err="1" smtClean="0">
                <a:solidFill>
                  <a:schemeClr val="bg1"/>
                </a:solidFill>
              </a:rPr>
              <a:t>hr</a:t>
            </a:r>
            <a:r>
              <a:rPr lang="en-US" sz="2800" dirty="0" smtClean="0">
                <a:solidFill>
                  <a:schemeClr val="bg1"/>
                </a:solidFill>
              </a:rPr>
              <a:t>&gt;) and Line Breaks (&lt;</a:t>
            </a:r>
            <a:r>
              <a:rPr lang="en-US" sz="2800" dirty="0" err="1" smtClean="0">
                <a:solidFill>
                  <a:schemeClr val="bg1"/>
                </a:solidFill>
              </a:rPr>
              <a:t>br</a:t>
            </a:r>
            <a:r>
              <a:rPr lang="en-US" sz="2800" dirty="0" smtClean="0">
                <a:solidFill>
                  <a:schemeClr val="bg1"/>
                </a:solidFill>
              </a:rPr>
              <a:t>&gt;)</a:t>
            </a:r>
          </a:p>
          <a:p>
            <a:pPr marL="0" indent="0">
              <a:buNone/>
            </a:pPr>
            <a:r>
              <a:rPr lang="en-US" sz="2800" dirty="0" smtClean="0">
                <a:solidFill>
                  <a:schemeClr val="bg1"/>
                </a:solidFill>
              </a:rPr>
              <a:t>&lt;</a:t>
            </a:r>
            <a:r>
              <a:rPr lang="en-US" sz="2800" dirty="0" err="1" smtClean="0">
                <a:solidFill>
                  <a:schemeClr val="bg1"/>
                </a:solidFill>
              </a:rPr>
              <a:t>hr</a:t>
            </a:r>
            <a:r>
              <a:rPr lang="en-US" sz="2800" dirty="0" smtClean="0">
                <a:solidFill>
                  <a:schemeClr val="bg1"/>
                </a:solidFill>
              </a:rPr>
              <a:t>&gt; defines a thematic break in an HTML page and is most often displayed as a horizontal rule. It is used to separate content or define a change in an HTML page &lt;</a:t>
            </a:r>
            <a:r>
              <a:rPr lang="en-US" sz="2800" dirty="0" err="1" smtClean="0">
                <a:solidFill>
                  <a:schemeClr val="bg1"/>
                </a:solidFill>
              </a:rPr>
              <a:t>br</a:t>
            </a:r>
            <a:r>
              <a:rPr lang="en-US" sz="2800" dirty="0" smtClean="0">
                <a:solidFill>
                  <a:schemeClr val="bg1"/>
                </a:solidFill>
              </a:rPr>
              <a:t>&gt; defines a line break.</a:t>
            </a:r>
          </a:p>
          <a:p>
            <a:pPr marL="0" indent="0">
              <a:buNone/>
            </a:pPr>
            <a:endParaRPr lang="en-US" sz="2800" dirty="0" smtClean="0">
              <a:solidFill>
                <a:schemeClr val="bg1"/>
              </a:solidFill>
            </a:endParaRPr>
          </a:p>
          <a:p>
            <a:endParaRPr lang="en-US" sz="2800" dirty="0" smtClean="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17412482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HTML</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a:bodyPr>
          <a:lstStyle/>
          <a:p>
            <a:r>
              <a:rPr lang="en-US" sz="2800" dirty="0" smtClean="0">
                <a:solidFill>
                  <a:schemeClr val="bg1"/>
                </a:solidFill>
              </a:rPr>
              <a:t>HTML &lt;pre&gt; element.</a:t>
            </a:r>
          </a:p>
          <a:p>
            <a:pPr marL="0" indent="0">
              <a:buNone/>
            </a:pPr>
            <a:r>
              <a:rPr lang="en-US" sz="2800" dirty="0" smtClean="0">
                <a:solidFill>
                  <a:schemeClr val="bg1"/>
                </a:solidFill>
              </a:rPr>
              <a:t>It defines preformatted text. The text inside this element is displayed in a fixed-width font (usually Courier), and it preserves both spaces and line breaks.</a:t>
            </a:r>
          </a:p>
          <a:p>
            <a:pPr marL="0" indent="0">
              <a:buNone/>
            </a:pPr>
            <a:endParaRPr lang="en-US" sz="2800" dirty="0" smtClean="0">
              <a:solidFill>
                <a:schemeClr val="bg1"/>
              </a:solidFill>
            </a:endParaRPr>
          </a:p>
          <a:p>
            <a:endParaRPr lang="en-US" sz="2800" dirty="0" smtClean="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6013388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10154944" cy="1478570"/>
          </a:xfrm>
        </p:spPr>
        <p:txBody>
          <a:bodyPr/>
          <a:lstStyle/>
          <a:p>
            <a:r>
              <a:rPr lang="en-US" dirty="0">
                <a:solidFill>
                  <a:schemeClr val="bg1"/>
                </a:solidFill>
              </a:rPr>
              <a:t>HTML </a:t>
            </a:r>
            <a:r>
              <a:rPr lang="en-US" dirty="0" smtClean="0">
                <a:solidFill>
                  <a:schemeClr val="bg1"/>
                </a:solidFill>
              </a:rPr>
              <a:t>FORMATTING</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fontScale="92500" lnSpcReduction="20000"/>
          </a:bodyPr>
          <a:lstStyle/>
          <a:p>
            <a:r>
              <a:rPr lang="en-US" sz="2800" dirty="0">
                <a:solidFill>
                  <a:schemeClr val="bg1"/>
                </a:solidFill>
              </a:rPr>
              <a:t>&lt;b&gt; - Bold text</a:t>
            </a:r>
          </a:p>
          <a:p>
            <a:r>
              <a:rPr lang="en-US" sz="2800" dirty="0">
                <a:solidFill>
                  <a:schemeClr val="bg1"/>
                </a:solidFill>
              </a:rPr>
              <a:t>&lt;strong&gt; - Important text</a:t>
            </a:r>
          </a:p>
          <a:p>
            <a:r>
              <a:rPr lang="en-US" sz="2800" dirty="0">
                <a:solidFill>
                  <a:schemeClr val="bg1"/>
                </a:solidFill>
              </a:rPr>
              <a:t>&lt;</a:t>
            </a:r>
            <a:r>
              <a:rPr lang="en-US" sz="2800" dirty="0" err="1">
                <a:solidFill>
                  <a:schemeClr val="bg1"/>
                </a:solidFill>
              </a:rPr>
              <a:t>i</a:t>
            </a:r>
            <a:r>
              <a:rPr lang="en-US" sz="2800" dirty="0">
                <a:solidFill>
                  <a:schemeClr val="bg1"/>
                </a:solidFill>
              </a:rPr>
              <a:t>&gt; - Italic text</a:t>
            </a:r>
          </a:p>
          <a:p>
            <a:r>
              <a:rPr lang="en-US" sz="2800" dirty="0">
                <a:solidFill>
                  <a:schemeClr val="bg1"/>
                </a:solidFill>
              </a:rPr>
              <a:t>&lt;</a:t>
            </a:r>
            <a:r>
              <a:rPr lang="en-US" sz="2800" dirty="0" err="1">
                <a:solidFill>
                  <a:schemeClr val="bg1"/>
                </a:solidFill>
              </a:rPr>
              <a:t>em</a:t>
            </a:r>
            <a:r>
              <a:rPr lang="en-US" sz="2800" dirty="0">
                <a:solidFill>
                  <a:schemeClr val="bg1"/>
                </a:solidFill>
              </a:rPr>
              <a:t>&gt; - Emphasized text</a:t>
            </a:r>
          </a:p>
          <a:p>
            <a:r>
              <a:rPr lang="en-US" sz="2800" dirty="0">
                <a:solidFill>
                  <a:schemeClr val="bg1"/>
                </a:solidFill>
              </a:rPr>
              <a:t>&lt;mark&gt; - Marked </a:t>
            </a:r>
            <a:r>
              <a:rPr lang="en-US" sz="2800" dirty="0" smtClean="0">
                <a:solidFill>
                  <a:schemeClr val="bg1"/>
                </a:solidFill>
              </a:rPr>
              <a:t>highlighted text </a:t>
            </a:r>
            <a:endParaRPr lang="en-US" sz="2800" dirty="0">
              <a:solidFill>
                <a:schemeClr val="bg1"/>
              </a:solidFill>
            </a:endParaRPr>
          </a:p>
          <a:p>
            <a:r>
              <a:rPr lang="en-US" sz="2800" dirty="0">
                <a:solidFill>
                  <a:schemeClr val="bg1"/>
                </a:solidFill>
              </a:rPr>
              <a:t>&lt;small&gt; - Smaller text</a:t>
            </a:r>
          </a:p>
          <a:p>
            <a:r>
              <a:rPr lang="en-US" sz="2800" dirty="0">
                <a:solidFill>
                  <a:schemeClr val="bg1"/>
                </a:solidFill>
              </a:rPr>
              <a:t>&lt;del&gt; - Deleted </a:t>
            </a:r>
            <a:r>
              <a:rPr lang="en-US" sz="2800" dirty="0" smtClean="0">
                <a:solidFill>
                  <a:schemeClr val="bg1"/>
                </a:solidFill>
              </a:rPr>
              <a:t>text (Browser will usually strike through)</a:t>
            </a:r>
            <a:endParaRPr lang="en-US" sz="2800" dirty="0">
              <a:solidFill>
                <a:schemeClr val="bg1"/>
              </a:solidFill>
            </a:endParaRPr>
          </a:p>
          <a:p>
            <a:r>
              <a:rPr lang="en-US" sz="2800" dirty="0">
                <a:solidFill>
                  <a:schemeClr val="bg1"/>
                </a:solidFill>
              </a:rPr>
              <a:t>&lt;ins&gt; - Inserted </a:t>
            </a:r>
            <a:r>
              <a:rPr lang="en-US" sz="2800" dirty="0" smtClean="0">
                <a:solidFill>
                  <a:schemeClr val="bg1"/>
                </a:solidFill>
              </a:rPr>
              <a:t>text (Browsers will usually underline)</a:t>
            </a:r>
            <a:endParaRPr lang="en-US" sz="2800" dirty="0">
              <a:solidFill>
                <a:schemeClr val="bg1"/>
              </a:solidFill>
            </a:endParaRPr>
          </a:p>
          <a:p>
            <a:r>
              <a:rPr lang="en-US" sz="2800" dirty="0">
                <a:solidFill>
                  <a:schemeClr val="bg1"/>
                </a:solidFill>
              </a:rPr>
              <a:t>&lt;sub&gt; - Subscript text</a:t>
            </a:r>
          </a:p>
          <a:p>
            <a:r>
              <a:rPr lang="en-US" sz="2800" dirty="0">
                <a:solidFill>
                  <a:schemeClr val="bg1"/>
                </a:solidFill>
              </a:rPr>
              <a:t>&lt;sup&gt; - Superscript text</a:t>
            </a:r>
            <a:endParaRPr lang="en-US" sz="2800" dirty="0" smtClean="0">
              <a:solidFill>
                <a:schemeClr val="bg1"/>
              </a:solidFill>
            </a:endParaRPr>
          </a:p>
          <a:p>
            <a:endParaRPr lang="en-US" sz="2800" dirty="0" smtClean="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26490941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10154944" cy="1478570"/>
          </a:xfrm>
        </p:spPr>
        <p:txBody>
          <a:bodyPr/>
          <a:lstStyle/>
          <a:p>
            <a:r>
              <a:rPr lang="en-US" dirty="0" smtClean="0">
                <a:solidFill>
                  <a:schemeClr val="bg1"/>
                </a:solidFill>
              </a:rPr>
              <a:t>HTML QUOTATIONS</a:t>
            </a:r>
            <a:endParaRPr lang="en-US" dirty="0">
              <a:solidFill>
                <a:schemeClr val="bg1"/>
              </a:solidFill>
            </a:endParaRPr>
          </a:p>
        </p:txBody>
      </p:sp>
      <p:sp>
        <p:nvSpPr>
          <p:cNvPr id="3" name="Content Placeholder 2"/>
          <p:cNvSpPr>
            <a:spLocks noGrp="1"/>
          </p:cNvSpPr>
          <p:nvPr>
            <p:ph idx="1"/>
          </p:nvPr>
        </p:nvSpPr>
        <p:spPr>
          <a:xfrm>
            <a:off x="1141412" y="1478570"/>
            <a:ext cx="11050588" cy="5379430"/>
          </a:xfrm>
        </p:spPr>
        <p:txBody>
          <a:bodyPr>
            <a:normAutofit fontScale="92500" lnSpcReduction="10000"/>
          </a:bodyPr>
          <a:lstStyle/>
          <a:p>
            <a:r>
              <a:rPr lang="en-US" sz="2800" dirty="0">
                <a:solidFill>
                  <a:schemeClr val="bg1"/>
                </a:solidFill>
              </a:rPr>
              <a:t>The HTML &lt;</a:t>
            </a:r>
            <a:r>
              <a:rPr lang="en-US" sz="2800" dirty="0" err="1" smtClean="0">
                <a:solidFill>
                  <a:schemeClr val="bg1"/>
                </a:solidFill>
              </a:rPr>
              <a:t>blockquote</a:t>
            </a:r>
            <a:r>
              <a:rPr lang="en-US" sz="2800" dirty="0" smtClean="0">
                <a:solidFill>
                  <a:schemeClr val="bg1"/>
                </a:solidFill>
              </a:rPr>
              <a:t> cite=“—”&gt; </a:t>
            </a:r>
            <a:r>
              <a:rPr lang="en-US" sz="2800" dirty="0">
                <a:solidFill>
                  <a:schemeClr val="bg1"/>
                </a:solidFill>
              </a:rPr>
              <a:t>element defines a section that is quoted from another </a:t>
            </a:r>
            <a:r>
              <a:rPr lang="en-US" sz="2800" dirty="0" smtClean="0">
                <a:solidFill>
                  <a:schemeClr val="bg1"/>
                </a:solidFill>
              </a:rPr>
              <a:t>source.</a:t>
            </a:r>
          </a:p>
          <a:p>
            <a:r>
              <a:rPr lang="en-US" sz="2800" dirty="0">
                <a:solidFill>
                  <a:schemeClr val="bg1"/>
                </a:solidFill>
              </a:rPr>
              <a:t>The HTML &lt;q&gt; tag defines a short </a:t>
            </a:r>
            <a:r>
              <a:rPr lang="en-US" sz="2800" dirty="0" smtClean="0">
                <a:solidFill>
                  <a:schemeClr val="bg1"/>
                </a:solidFill>
              </a:rPr>
              <a:t>quotation.</a:t>
            </a:r>
          </a:p>
          <a:p>
            <a:r>
              <a:rPr lang="en-US" sz="2800" dirty="0">
                <a:solidFill>
                  <a:schemeClr val="bg1"/>
                </a:solidFill>
              </a:rPr>
              <a:t>The HTML &lt;</a:t>
            </a:r>
            <a:r>
              <a:rPr lang="en-US" sz="2800" dirty="0" err="1">
                <a:solidFill>
                  <a:schemeClr val="bg1"/>
                </a:solidFill>
              </a:rPr>
              <a:t>abbr</a:t>
            </a:r>
            <a:r>
              <a:rPr lang="en-US" sz="2800" dirty="0">
                <a:solidFill>
                  <a:schemeClr val="bg1"/>
                </a:solidFill>
              </a:rPr>
              <a:t>&gt; tag defines an abbreviation or an </a:t>
            </a:r>
            <a:r>
              <a:rPr lang="en-US" sz="2800" dirty="0" smtClean="0">
                <a:solidFill>
                  <a:schemeClr val="bg1"/>
                </a:solidFill>
              </a:rPr>
              <a:t>acronym.</a:t>
            </a:r>
          </a:p>
          <a:p>
            <a:pPr marL="0" indent="0">
              <a:buNone/>
            </a:pPr>
            <a:r>
              <a:rPr lang="en-US" sz="2800" dirty="0">
                <a:solidFill>
                  <a:schemeClr val="bg1"/>
                </a:solidFill>
              </a:rPr>
              <a:t>Use the global title attribute to show the description for </a:t>
            </a:r>
            <a:r>
              <a:rPr lang="en-US" sz="2800" dirty="0" smtClean="0">
                <a:solidFill>
                  <a:schemeClr val="bg1"/>
                </a:solidFill>
              </a:rPr>
              <a:t>the abbreviation/acronym </a:t>
            </a:r>
            <a:r>
              <a:rPr lang="en-US" sz="2800" dirty="0">
                <a:solidFill>
                  <a:schemeClr val="bg1"/>
                </a:solidFill>
              </a:rPr>
              <a:t>when you mouse over the element. </a:t>
            </a:r>
            <a:endParaRPr lang="en-US" sz="2800" dirty="0" smtClean="0">
              <a:solidFill>
                <a:schemeClr val="bg1"/>
              </a:solidFill>
            </a:endParaRPr>
          </a:p>
          <a:p>
            <a:r>
              <a:rPr lang="en-US" sz="2800" dirty="0">
                <a:solidFill>
                  <a:schemeClr val="bg1"/>
                </a:solidFill>
              </a:rPr>
              <a:t>The HTML &lt;address&gt; tag defines the contact information for the author/owner of a document or an article</a:t>
            </a:r>
            <a:r>
              <a:rPr lang="en-US" sz="2800" dirty="0" smtClean="0">
                <a:solidFill>
                  <a:schemeClr val="bg1"/>
                </a:solidFill>
              </a:rPr>
              <a:t>.</a:t>
            </a:r>
            <a:endParaRPr lang="en-US" sz="2800" dirty="0">
              <a:solidFill>
                <a:schemeClr val="bg1"/>
              </a:solidFill>
            </a:endParaRPr>
          </a:p>
          <a:p>
            <a:pPr marL="0" indent="0">
              <a:buNone/>
            </a:pPr>
            <a:r>
              <a:rPr lang="en-US" sz="2800" dirty="0" smtClean="0">
                <a:solidFill>
                  <a:schemeClr val="bg1"/>
                </a:solidFill>
              </a:rPr>
              <a:t>The </a:t>
            </a:r>
            <a:r>
              <a:rPr lang="en-US" sz="2800" dirty="0">
                <a:solidFill>
                  <a:schemeClr val="bg1"/>
                </a:solidFill>
              </a:rPr>
              <a:t>text in the &lt;address&gt; element usually renders in italic, and browsers will always add a line break before and after the &lt;address&gt; element.</a:t>
            </a:r>
            <a:endParaRPr lang="en-US" sz="2800" dirty="0" smtClean="0">
              <a:solidFill>
                <a:schemeClr val="bg1"/>
              </a:solidFill>
            </a:endParaRPr>
          </a:p>
          <a:p>
            <a:pPr marL="0" indent="0">
              <a:buNone/>
            </a:pPr>
            <a:endParaRPr lang="en-US" sz="2800" dirty="0" smtClean="0">
              <a:solidFill>
                <a:schemeClr val="bg1"/>
              </a:solidFill>
            </a:endParaRPr>
          </a:p>
          <a:p>
            <a:endParaRPr lang="en-US" sz="2800" dirty="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10260724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10154944" cy="1478570"/>
          </a:xfrm>
        </p:spPr>
        <p:txBody>
          <a:bodyPr/>
          <a:lstStyle/>
          <a:p>
            <a:r>
              <a:rPr lang="en-US" dirty="0" smtClean="0">
                <a:solidFill>
                  <a:schemeClr val="bg1"/>
                </a:solidFill>
              </a:rPr>
              <a:t>HTML QUOTATIONS</a:t>
            </a:r>
            <a:endParaRPr lang="en-US" dirty="0">
              <a:solidFill>
                <a:schemeClr val="bg1"/>
              </a:solidFill>
            </a:endParaRPr>
          </a:p>
        </p:txBody>
      </p:sp>
      <p:sp>
        <p:nvSpPr>
          <p:cNvPr id="3" name="Content Placeholder 2"/>
          <p:cNvSpPr>
            <a:spLocks noGrp="1"/>
          </p:cNvSpPr>
          <p:nvPr>
            <p:ph idx="1"/>
          </p:nvPr>
        </p:nvSpPr>
        <p:spPr>
          <a:xfrm>
            <a:off x="1141412" y="1478570"/>
            <a:ext cx="11050588" cy="5379430"/>
          </a:xfrm>
        </p:spPr>
        <p:txBody>
          <a:bodyPr>
            <a:normAutofit/>
          </a:bodyPr>
          <a:lstStyle/>
          <a:p>
            <a:r>
              <a:rPr lang="en-US" sz="2800" dirty="0">
                <a:solidFill>
                  <a:schemeClr val="bg1"/>
                </a:solidFill>
              </a:rPr>
              <a:t>The HTML &lt;cite&gt; tag defines the title of a creative </a:t>
            </a:r>
            <a:r>
              <a:rPr lang="en-US" sz="2800" dirty="0" smtClean="0">
                <a:solidFill>
                  <a:schemeClr val="bg1"/>
                </a:solidFill>
              </a:rPr>
              <a:t>work. </a:t>
            </a:r>
            <a:r>
              <a:rPr lang="en-US" sz="2800" dirty="0">
                <a:solidFill>
                  <a:schemeClr val="bg1"/>
                </a:solidFill>
              </a:rPr>
              <a:t>The text in the &lt;cite&gt; element usually renders in italic</a:t>
            </a:r>
            <a:r>
              <a:rPr lang="en-US" sz="2800" dirty="0" smtClean="0">
                <a:solidFill>
                  <a:schemeClr val="bg1"/>
                </a:solidFill>
              </a:rPr>
              <a:t>.</a:t>
            </a:r>
          </a:p>
          <a:p>
            <a:r>
              <a:rPr lang="en-US" sz="2800" dirty="0">
                <a:solidFill>
                  <a:schemeClr val="bg1"/>
                </a:solidFill>
              </a:rPr>
              <a:t>The HTML &lt;</a:t>
            </a:r>
            <a:r>
              <a:rPr lang="en-US" sz="2800" dirty="0" err="1">
                <a:solidFill>
                  <a:schemeClr val="bg1"/>
                </a:solidFill>
              </a:rPr>
              <a:t>bdo</a:t>
            </a:r>
            <a:r>
              <a:rPr lang="en-US" sz="2800" dirty="0">
                <a:solidFill>
                  <a:schemeClr val="bg1"/>
                </a:solidFill>
              </a:rPr>
              <a:t>&gt; tag is used to override the current text direction. BDO stands for Bi-Directional Override</a:t>
            </a:r>
            <a:r>
              <a:rPr lang="en-US" sz="2800" dirty="0" smtClean="0">
                <a:solidFill>
                  <a:schemeClr val="bg1"/>
                </a:solidFill>
              </a:rPr>
              <a:t>.</a:t>
            </a:r>
          </a:p>
          <a:p>
            <a:r>
              <a:rPr lang="en-US" sz="2800" dirty="0" smtClean="0">
                <a:solidFill>
                  <a:schemeClr val="bg1"/>
                </a:solidFill>
              </a:rPr>
              <a:t> </a:t>
            </a:r>
            <a:endParaRPr lang="en-US" sz="2800" dirty="0">
              <a:solidFill>
                <a:schemeClr val="bg1"/>
              </a:solidFill>
            </a:endParaRPr>
          </a:p>
        </p:txBody>
      </p:sp>
    </p:spTree>
    <p:extLst>
      <p:ext uri="{BB962C8B-B14F-4D97-AF65-F5344CB8AC3E}">
        <p14:creationId xmlns:p14="http://schemas.microsoft.com/office/powerpoint/2010/main" val="29477155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10154944" cy="1478570"/>
          </a:xfrm>
        </p:spPr>
        <p:txBody>
          <a:bodyPr/>
          <a:lstStyle/>
          <a:p>
            <a:r>
              <a:rPr lang="en-US" dirty="0" smtClean="0">
                <a:solidFill>
                  <a:schemeClr val="bg1"/>
                </a:solidFill>
              </a:rPr>
              <a:t>HTML COMMENTS</a:t>
            </a:r>
            <a:endParaRPr lang="en-US" dirty="0">
              <a:solidFill>
                <a:schemeClr val="bg1"/>
              </a:solidFill>
            </a:endParaRPr>
          </a:p>
        </p:txBody>
      </p:sp>
      <p:sp>
        <p:nvSpPr>
          <p:cNvPr id="3" name="Content Placeholder 2"/>
          <p:cNvSpPr>
            <a:spLocks noGrp="1"/>
          </p:cNvSpPr>
          <p:nvPr>
            <p:ph idx="1"/>
          </p:nvPr>
        </p:nvSpPr>
        <p:spPr>
          <a:xfrm>
            <a:off x="1141412" y="1478570"/>
            <a:ext cx="11050588" cy="5379430"/>
          </a:xfrm>
        </p:spPr>
        <p:txBody>
          <a:bodyPr>
            <a:normAutofit lnSpcReduction="10000"/>
          </a:bodyPr>
          <a:lstStyle/>
          <a:p>
            <a:r>
              <a:rPr lang="en-US" sz="2800" dirty="0" smtClean="0">
                <a:solidFill>
                  <a:schemeClr val="bg1"/>
                </a:solidFill>
              </a:rPr>
              <a:t>Comments are not displayed in the browser but they can help document your HTML source code.</a:t>
            </a:r>
          </a:p>
          <a:p>
            <a:r>
              <a:rPr lang="en-US" sz="2800" dirty="0" smtClean="0">
                <a:solidFill>
                  <a:schemeClr val="bg1"/>
                </a:solidFill>
              </a:rPr>
              <a:t>Syntax: </a:t>
            </a:r>
            <a:r>
              <a:rPr lang="en-US" sz="2800" dirty="0" smtClean="0">
                <a:solidFill>
                  <a:schemeClr val="accent6">
                    <a:lumMod val="75000"/>
                  </a:schemeClr>
                </a:solidFill>
              </a:rPr>
              <a:t>&lt;!-- comments --&gt; </a:t>
            </a:r>
            <a:r>
              <a:rPr lang="en-US" sz="2800" dirty="0" smtClean="0">
                <a:solidFill>
                  <a:schemeClr val="bg1"/>
                </a:solidFill>
              </a:rPr>
              <a:t>.</a:t>
            </a:r>
            <a:endParaRPr lang="en-US" sz="2800" dirty="0" smtClean="0">
              <a:solidFill>
                <a:schemeClr val="accent6">
                  <a:lumMod val="75000"/>
                </a:schemeClr>
              </a:solidFill>
            </a:endParaRPr>
          </a:p>
          <a:p>
            <a:r>
              <a:rPr lang="en-US" sz="2800" dirty="0" smtClean="0">
                <a:solidFill>
                  <a:schemeClr val="bg1"/>
                </a:solidFill>
              </a:rPr>
              <a:t>It can be used to hide content: </a:t>
            </a:r>
            <a:r>
              <a:rPr lang="en-US" sz="2800" dirty="0" smtClean="0">
                <a:solidFill>
                  <a:schemeClr val="accent6">
                    <a:lumMod val="75000"/>
                  </a:schemeClr>
                </a:solidFill>
              </a:rPr>
              <a:t>&lt;!--&lt;p&gt;&lt;/p&gt;--&gt; </a:t>
            </a:r>
            <a:r>
              <a:rPr lang="en-US" sz="2800" dirty="0" smtClean="0">
                <a:solidFill>
                  <a:schemeClr val="bg1"/>
                </a:solidFill>
              </a:rPr>
              <a:t>or </a:t>
            </a:r>
            <a:r>
              <a:rPr lang="en-US" sz="2800" dirty="0" smtClean="0">
                <a:solidFill>
                  <a:srgbClr val="0070C0"/>
                </a:solidFill>
              </a:rPr>
              <a:t>&lt;</a:t>
            </a:r>
            <a:r>
              <a:rPr lang="en-US" sz="2800" dirty="0" smtClean="0">
                <a:solidFill>
                  <a:srgbClr val="FF0000"/>
                </a:solidFill>
              </a:rPr>
              <a:t>p</a:t>
            </a:r>
            <a:r>
              <a:rPr lang="en-US" sz="2800" dirty="0" smtClean="0">
                <a:solidFill>
                  <a:srgbClr val="0070C0"/>
                </a:solidFill>
              </a:rPr>
              <a:t>&gt;</a:t>
            </a:r>
            <a:r>
              <a:rPr lang="en-US" sz="2800" dirty="0" smtClean="0">
                <a:solidFill>
                  <a:schemeClr val="accent6">
                    <a:lumMod val="75000"/>
                  </a:schemeClr>
                </a:solidFill>
              </a:rPr>
              <a:t>&lt;!-- </a:t>
            </a:r>
            <a:r>
              <a:rPr lang="en-US" sz="2800" dirty="0" err="1" smtClean="0">
                <a:solidFill>
                  <a:schemeClr val="accent6">
                    <a:lumMod val="75000"/>
                  </a:schemeClr>
                </a:solidFill>
              </a:rPr>
              <a:t>str</a:t>
            </a:r>
            <a:r>
              <a:rPr lang="en-US" sz="2800" dirty="0" smtClean="0">
                <a:solidFill>
                  <a:schemeClr val="accent6">
                    <a:lumMod val="75000"/>
                  </a:schemeClr>
                </a:solidFill>
              </a:rPr>
              <a:t> --&gt;</a:t>
            </a:r>
            <a:r>
              <a:rPr lang="en-US" sz="2800" dirty="0" smtClean="0">
                <a:solidFill>
                  <a:srgbClr val="0070C0"/>
                </a:solidFill>
              </a:rPr>
              <a:t>&lt;/</a:t>
            </a:r>
            <a:r>
              <a:rPr lang="en-US" sz="2800" dirty="0" smtClean="0">
                <a:solidFill>
                  <a:srgbClr val="FF0000"/>
                </a:solidFill>
              </a:rPr>
              <a:t>p</a:t>
            </a:r>
            <a:r>
              <a:rPr lang="en-US" sz="2800" dirty="0" smtClean="0">
                <a:solidFill>
                  <a:srgbClr val="0070C0"/>
                </a:solidFill>
              </a:rPr>
              <a:t>&gt;</a:t>
            </a:r>
            <a:r>
              <a:rPr lang="en-US" sz="2800" dirty="0" smtClean="0">
                <a:solidFill>
                  <a:schemeClr val="accent6">
                    <a:lumMod val="75000"/>
                  </a:schemeClr>
                </a:solidFill>
              </a:rPr>
              <a:t> </a:t>
            </a:r>
            <a:r>
              <a:rPr lang="en-US" sz="2800" dirty="0" smtClean="0">
                <a:solidFill>
                  <a:schemeClr val="bg1"/>
                </a:solidFill>
              </a:rPr>
              <a:t>.</a:t>
            </a:r>
          </a:p>
          <a:p>
            <a:r>
              <a:rPr lang="en-US" sz="2800" dirty="0" smtClean="0">
                <a:solidFill>
                  <a:schemeClr val="bg1"/>
                </a:solidFill>
              </a:rPr>
              <a:t>It can be used to hide more than one line:</a:t>
            </a:r>
          </a:p>
          <a:p>
            <a:pPr marL="0" indent="0">
              <a:buNone/>
            </a:pPr>
            <a:r>
              <a:rPr lang="en-US" sz="2800" dirty="0" smtClean="0">
                <a:solidFill>
                  <a:schemeClr val="bg1"/>
                </a:solidFill>
              </a:rPr>
              <a:t>	</a:t>
            </a:r>
            <a:r>
              <a:rPr lang="en-US" sz="2800" dirty="0" smtClean="0">
                <a:solidFill>
                  <a:schemeClr val="accent6">
                    <a:lumMod val="75000"/>
                  </a:schemeClr>
                </a:solidFill>
              </a:rPr>
              <a:t>&lt;!-- </a:t>
            </a:r>
          </a:p>
          <a:p>
            <a:pPr marL="0" indent="0">
              <a:buNone/>
            </a:pPr>
            <a:r>
              <a:rPr lang="en-US" sz="2800" dirty="0">
                <a:solidFill>
                  <a:schemeClr val="accent6">
                    <a:lumMod val="75000"/>
                  </a:schemeClr>
                </a:solidFill>
              </a:rPr>
              <a:t>	</a:t>
            </a:r>
            <a:r>
              <a:rPr lang="en-US" sz="2800" dirty="0" smtClean="0">
                <a:solidFill>
                  <a:schemeClr val="accent6">
                    <a:lumMod val="75000"/>
                  </a:schemeClr>
                </a:solidFill>
              </a:rPr>
              <a:t>&lt;p&gt;&lt;/p&gt;</a:t>
            </a:r>
          </a:p>
          <a:p>
            <a:pPr marL="0" indent="0">
              <a:buNone/>
            </a:pPr>
            <a:r>
              <a:rPr lang="en-US" sz="2800" dirty="0">
                <a:solidFill>
                  <a:schemeClr val="accent6">
                    <a:lumMod val="75000"/>
                  </a:schemeClr>
                </a:solidFill>
              </a:rPr>
              <a:t>	</a:t>
            </a:r>
            <a:r>
              <a:rPr lang="en-US" sz="2800" dirty="0" smtClean="0">
                <a:solidFill>
                  <a:schemeClr val="accent6">
                    <a:lumMod val="75000"/>
                  </a:schemeClr>
                </a:solidFill>
              </a:rPr>
              <a:t>&lt;p&gt;&lt;/p&gt;</a:t>
            </a:r>
          </a:p>
          <a:p>
            <a:pPr marL="0" indent="0">
              <a:buNone/>
            </a:pPr>
            <a:r>
              <a:rPr lang="en-US" sz="2800" dirty="0">
                <a:solidFill>
                  <a:schemeClr val="accent6">
                    <a:lumMod val="75000"/>
                  </a:schemeClr>
                </a:solidFill>
              </a:rPr>
              <a:t>	</a:t>
            </a:r>
            <a:r>
              <a:rPr lang="en-US" sz="2800" dirty="0" smtClean="0">
                <a:solidFill>
                  <a:schemeClr val="accent6">
                    <a:lumMod val="75000"/>
                  </a:schemeClr>
                </a:solidFill>
              </a:rPr>
              <a:t>--&gt;</a:t>
            </a:r>
          </a:p>
        </p:txBody>
      </p:sp>
    </p:spTree>
    <p:extLst>
      <p:ext uri="{BB962C8B-B14F-4D97-AF65-F5344CB8AC3E}">
        <p14:creationId xmlns:p14="http://schemas.microsoft.com/office/powerpoint/2010/main" val="4525282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10154944" cy="1478570"/>
          </a:xfrm>
        </p:spPr>
        <p:txBody>
          <a:bodyPr/>
          <a:lstStyle/>
          <a:p>
            <a:r>
              <a:rPr lang="en-US" dirty="0" smtClean="0">
                <a:solidFill>
                  <a:schemeClr val="bg1"/>
                </a:solidFill>
              </a:rPr>
              <a:t>HTML CSS</a:t>
            </a:r>
            <a:endParaRPr lang="en-US" dirty="0">
              <a:solidFill>
                <a:schemeClr val="bg1"/>
              </a:solidFill>
            </a:endParaRPr>
          </a:p>
        </p:txBody>
      </p:sp>
      <p:sp>
        <p:nvSpPr>
          <p:cNvPr id="3" name="Content Placeholder 2"/>
          <p:cNvSpPr>
            <a:spLocks noGrp="1"/>
          </p:cNvSpPr>
          <p:nvPr>
            <p:ph idx="1"/>
          </p:nvPr>
        </p:nvSpPr>
        <p:spPr>
          <a:xfrm>
            <a:off x="1141412" y="1478570"/>
            <a:ext cx="11050588" cy="5379430"/>
          </a:xfrm>
        </p:spPr>
        <p:txBody>
          <a:bodyPr>
            <a:normAutofit fontScale="85000" lnSpcReduction="20000"/>
          </a:bodyPr>
          <a:lstStyle/>
          <a:p>
            <a:r>
              <a:rPr lang="en-US" sz="2800" dirty="0">
                <a:solidFill>
                  <a:schemeClr val="bg1"/>
                </a:solidFill>
              </a:rPr>
              <a:t>CSS can be added to HTML documents in 3 ways</a:t>
            </a:r>
            <a:r>
              <a:rPr lang="en-US" sz="2800" dirty="0" smtClean="0">
                <a:solidFill>
                  <a:schemeClr val="bg1"/>
                </a:solidFill>
              </a:rPr>
              <a:t>:</a:t>
            </a:r>
            <a:endParaRPr lang="en-US" sz="2800" dirty="0">
              <a:solidFill>
                <a:schemeClr val="bg1"/>
              </a:solidFill>
            </a:endParaRPr>
          </a:p>
          <a:p>
            <a:pPr lvl="1"/>
            <a:r>
              <a:rPr lang="en-US" sz="2800" dirty="0">
                <a:solidFill>
                  <a:schemeClr val="bg1"/>
                </a:solidFill>
              </a:rPr>
              <a:t>Inline - by using the style attribute inside HTML </a:t>
            </a:r>
            <a:r>
              <a:rPr lang="en-US" sz="2800" dirty="0" smtClean="0">
                <a:solidFill>
                  <a:schemeClr val="bg1"/>
                </a:solidFill>
              </a:rPr>
              <a:t>elements.</a:t>
            </a:r>
          </a:p>
          <a:p>
            <a:pPr marL="457200" lvl="1" indent="0">
              <a:buNone/>
            </a:pPr>
            <a:r>
              <a:rPr lang="en-US" sz="2800" dirty="0" err="1" smtClean="0">
                <a:solidFill>
                  <a:schemeClr val="bg1"/>
                </a:solidFill>
              </a:rPr>
              <a:t>Eg</a:t>
            </a:r>
            <a:r>
              <a:rPr lang="en-US" sz="2800" dirty="0">
                <a:solidFill>
                  <a:schemeClr val="bg1"/>
                </a:solidFill>
              </a:rPr>
              <a:t>. &lt;h1 style="</a:t>
            </a:r>
            <a:r>
              <a:rPr lang="en-US" sz="2800" dirty="0" err="1">
                <a:solidFill>
                  <a:schemeClr val="bg1"/>
                </a:solidFill>
              </a:rPr>
              <a:t>color:blue</a:t>
            </a:r>
            <a:r>
              <a:rPr lang="en-US" sz="2800" dirty="0">
                <a:solidFill>
                  <a:schemeClr val="bg1"/>
                </a:solidFill>
              </a:rPr>
              <a:t>;"&gt;A Blue Heading&lt;/h1</a:t>
            </a:r>
            <a:r>
              <a:rPr lang="en-US" sz="2800" dirty="0" smtClean="0">
                <a:solidFill>
                  <a:schemeClr val="bg1"/>
                </a:solidFill>
              </a:rPr>
              <a:t>&gt; .</a:t>
            </a:r>
          </a:p>
          <a:p>
            <a:pPr marL="457200" lvl="1" indent="0">
              <a:buNone/>
            </a:pPr>
            <a:endParaRPr lang="en-US" sz="2800" dirty="0">
              <a:solidFill>
                <a:schemeClr val="bg1"/>
              </a:solidFill>
            </a:endParaRPr>
          </a:p>
          <a:p>
            <a:pPr lvl="1"/>
            <a:r>
              <a:rPr lang="en-US" sz="2800" dirty="0">
                <a:solidFill>
                  <a:schemeClr val="bg1"/>
                </a:solidFill>
              </a:rPr>
              <a:t>Internal - by using a &lt;style&gt; element in the &lt;head&gt; </a:t>
            </a:r>
            <a:r>
              <a:rPr lang="en-US" sz="2800" dirty="0" smtClean="0">
                <a:solidFill>
                  <a:schemeClr val="bg1"/>
                </a:solidFill>
              </a:rPr>
              <a:t>section</a:t>
            </a:r>
          </a:p>
          <a:p>
            <a:pPr marL="457200" lvl="1" indent="0">
              <a:buNone/>
            </a:pPr>
            <a:r>
              <a:rPr lang="en-US" sz="2800" dirty="0">
                <a:solidFill>
                  <a:schemeClr val="bg1"/>
                </a:solidFill>
              </a:rPr>
              <a:t>&lt;head&gt;</a:t>
            </a:r>
          </a:p>
          <a:p>
            <a:pPr marL="457200" lvl="1" indent="0">
              <a:buNone/>
            </a:pPr>
            <a:r>
              <a:rPr lang="en-US" sz="2800" dirty="0">
                <a:solidFill>
                  <a:schemeClr val="bg1"/>
                </a:solidFill>
              </a:rPr>
              <a:t>&lt;style&gt;</a:t>
            </a:r>
          </a:p>
          <a:p>
            <a:pPr marL="457200" lvl="1" indent="0">
              <a:buNone/>
            </a:pPr>
            <a:r>
              <a:rPr lang="en-US" sz="2800" dirty="0">
                <a:solidFill>
                  <a:schemeClr val="bg1"/>
                </a:solidFill>
              </a:rPr>
              <a:t>body {background-color: </a:t>
            </a:r>
            <a:r>
              <a:rPr lang="en-US" sz="2800" dirty="0" err="1">
                <a:solidFill>
                  <a:schemeClr val="bg1"/>
                </a:solidFill>
              </a:rPr>
              <a:t>powderblue</a:t>
            </a:r>
            <a:r>
              <a:rPr lang="en-US" sz="2800" dirty="0">
                <a:solidFill>
                  <a:schemeClr val="bg1"/>
                </a:solidFill>
              </a:rPr>
              <a:t>;}</a:t>
            </a:r>
          </a:p>
          <a:p>
            <a:pPr marL="457200" lvl="1" indent="0">
              <a:buNone/>
            </a:pPr>
            <a:r>
              <a:rPr lang="en-US" sz="2800" dirty="0">
                <a:solidFill>
                  <a:schemeClr val="bg1"/>
                </a:solidFill>
              </a:rPr>
              <a:t>h1   {color: blue;}</a:t>
            </a:r>
          </a:p>
          <a:p>
            <a:pPr marL="457200" lvl="1" indent="0">
              <a:buNone/>
            </a:pPr>
            <a:r>
              <a:rPr lang="en-US" sz="2800" dirty="0">
                <a:solidFill>
                  <a:schemeClr val="bg1"/>
                </a:solidFill>
              </a:rPr>
              <a:t>p    {color: red;}</a:t>
            </a:r>
          </a:p>
          <a:p>
            <a:pPr marL="457200" lvl="1" indent="0">
              <a:buNone/>
            </a:pPr>
            <a:r>
              <a:rPr lang="en-US" sz="2800" dirty="0">
                <a:solidFill>
                  <a:schemeClr val="bg1"/>
                </a:solidFill>
              </a:rPr>
              <a:t>&lt;/style&gt;</a:t>
            </a:r>
          </a:p>
          <a:p>
            <a:pPr marL="457200" lvl="1" indent="0">
              <a:buNone/>
            </a:pPr>
            <a:r>
              <a:rPr lang="en-US" sz="2800" dirty="0">
                <a:solidFill>
                  <a:schemeClr val="bg1"/>
                </a:solidFill>
              </a:rPr>
              <a:t>&lt;/head</a:t>
            </a:r>
            <a:r>
              <a:rPr lang="en-US" sz="2800" dirty="0" smtClean="0">
                <a:solidFill>
                  <a:schemeClr val="bg1"/>
                </a:solidFill>
              </a:rPr>
              <a:t>&gt;</a:t>
            </a:r>
            <a:endParaRPr lang="en-US" sz="2800" dirty="0">
              <a:solidFill>
                <a:schemeClr val="bg1"/>
              </a:solidFill>
            </a:endParaRPr>
          </a:p>
        </p:txBody>
      </p:sp>
    </p:spTree>
    <p:extLst>
      <p:ext uri="{BB962C8B-B14F-4D97-AF65-F5344CB8AC3E}">
        <p14:creationId xmlns:p14="http://schemas.microsoft.com/office/powerpoint/2010/main" val="4207872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10154944" cy="1478570"/>
          </a:xfrm>
        </p:spPr>
        <p:txBody>
          <a:bodyPr/>
          <a:lstStyle/>
          <a:p>
            <a:r>
              <a:rPr lang="en-US" dirty="0" smtClean="0">
                <a:solidFill>
                  <a:schemeClr val="bg1"/>
                </a:solidFill>
              </a:rPr>
              <a:t>HTML CSS</a:t>
            </a:r>
            <a:endParaRPr lang="en-US" dirty="0">
              <a:solidFill>
                <a:schemeClr val="bg1"/>
              </a:solidFill>
            </a:endParaRPr>
          </a:p>
        </p:txBody>
      </p:sp>
      <p:sp>
        <p:nvSpPr>
          <p:cNvPr id="3" name="Content Placeholder 2"/>
          <p:cNvSpPr>
            <a:spLocks noGrp="1"/>
          </p:cNvSpPr>
          <p:nvPr>
            <p:ph idx="1"/>
          </p:nvPr>
        </p:nvSpPr>
        <p:spPr>
          <a:xfrm>
            <a:off x="1141412" y="1478570"/>
            <a:ext cx="11050588" cy="5379430"/>
          </a:xfrm>
        </p:spPr>
        <p:txBody>
          <a:bodyPr>
            <a:normAutofit lnSpcReduction="10000"/>
          </a:bodyPr>
          <a:lstStyle/>
          <a:p>
            <a:r>
              <a:rPr lang="en-US" sz="2800" dirty="0">
                <a:solidFill>
                  <a:schemeClr val="bg1"/>
                </a:solidFill>
              </a:rPr>
              <a:t>External - by using a &lt;link&gt; element to link to an external CSS file. An external style sheet is used to define the style for many HTML </a:t>
            </a:r>
            <a:r>
              <a:rPr lang="en-US" sz="2800" dirty="0" smtClean="0">
                <a:solidFill>
                  <a:schemeClr val="bg1"/>
                </a:solidFill>
              </a:rPr>
              <a:t>pages. To </a:t>
            </a:r>
            <a:r>
              <a:rPr lang="en-US" sz="2800" dirty="0">
                <a:solidFill>
                  <a:schemeClr val="bg1"/>
                </a:solidFill>
              </a:rPr>
              <a:t>use an external style sheet, add a link to it in the &lt;head&gt; section of each HTML </a:t>
            </a:r>
            <a:r>
              <a:rPr lang="en-US" sz="2800" dirty="0" smtClean="0">
                <a:solidFill>
                  <a:schemeClr val="bg1"/>
                </a:solidFill>
              </a:rPr>
              <a:t>page. “</a:t>
            </a:r>
            <a:r>
              <a:rPr lang="en-US" sz="2800" dirty="0" err="1" smtClean="0">
                <a:solidFill>
                  <a:schemeClr val="bg1"/>
                </a:solidFill>
              </a:rPr>
              <a:t>rel</a:t>
            </a:r>
            <a:r>
              <a:rPr lang="en-US" sz="2800" dirty="0" smtClean="0">
                <a:solidFill>
                  <a:schemeClr val="bg1"/>
                </a:solidFill>
              </a:rPr>
              <a:t>”-relationship between tag and </a:t>
            </a:r>
            <a:r>
              <a:rPr lang="en-US" sz="2800" dirty="0" err="1" smtClean="0">
                <a:solidFill>
                  <a:schemeClr val="bg1"/>
                </a:solidFill>
              </a:rPr>
              <a:t>href</a:t>
            </a:r>
            <a:r>
              <a:rPr lang="en-US" sz="2800" dirty="0" smtClean="0">
                <a:solidFill>
                  <a:schemeClr val="bg1"/>
                </a:solidFill>
              </a:rPr>
              <a:t>. “</a:t>
            </a:r>
            <a:r>
              <a:rPr lang="en-US" sz="2800" dirty="0" err="1" smtClean="0">
                <a:solidFill>
                  <a:schemeClr val="bg1"/>
                </a:solidFill>
              </a:rPr>
              <a:t>href</a:t>
            </a:r>
            <a:r>
              <a:rPr lang="en-US" sz="2800" dirty="0" smtClean="0">
                <a:solidFill>
                  <a:schemeClr val="bg1"/>
                </a:solidFill>
              </a:rPr>
              <a:t>”-hypertext reference.</a:t>
            </a:r>
          </a:p>
          <a:p>
            <a:pPr marL="0" indent="0">
              <a:buNone/>
            </a:pPr>
            <a:r>
              <a:rPr lang="en-US" sz="2800" dirty="0" err="1" smtClean="0">
                <a:solidFill>
                  <a:schemeClr val="bg1"/>
                </a:solidFill>
              </a:rPr>
              <a:t>Eg</a:t>
            </a:r>
            <a:r>
              <a:rPr lang="en-US" sz="2800" dirty="0">
                <a:solidFill>
                  <a:schemeClr val="bg1"/>
                </a:solidFill>
              </a:rPr>
              <a:t>. &lt;head&gt;</a:t>
            </a:r>
          </a:p>
          <a:p>
            <a:pPr marL="0" indent="0">
              <a:buNone/>
            </a:pPr>
            <a:r>
              <a:rPr lang="en-US" sz="2800" dirty="0">
                <a:solidFill>
                  <a:schemeClr val="bg1"/>
                </a:solidFill>
              </a:rPr>
              <a:t>  &lt;link </a:t>
            </a:r>
            <a:r>
              <a:rPr lang="en-US" sz="2800" dirty="0" err="1">
                <a:solidFill>
                  <a:schemeClr val="bg1"/>
                </a:solidFill>
              </a:rPr>
              <a:t>rel</a:t>
            </a:r>
            <a:r>
              <a:rPr lang="en-US" sz="2800" dirty="0">
                <a:solidFill>
                  <a:schemeClr val="bg1"/>
                </a:solidFill>
              </a:rPr>
              <a:t>="stylesheet" </a:t>
            </a:r>
            <a:r>
              <a:rPr lang="en-US" sz="2800" dirty="0" err="1">
                <a:solidFill>
                  <a:schemeClr val="bg1"/>
                </a:solidFill>
              </a:rPr>
              <a:t>href</a:t>
            </a:r>
            <a:r>
              <a:rPr lang="en-US" sz="2800" dirty="0">
                <a:solidFill>
                  <a:schemeClr val="bg1"/>
                </a:solidFill>
              </a:rPr>
              <a:t>="styles.css"&gt;</a:t>
            </a:r>
          </a:p>
          <a:p>
            <a:pPr marL="0" indent="0">
              <a:buNone/>
            </a:pPr>
            <a:r>
              <a:rPr lang="en-US" sz="2800" dirty="0">
                <a:solidFill>
                  <a:schemeClr val="bg1"/>
                </a:solidFill>
              </a:rPr>
              <a:t>&lt;/head</a:t>
            </a:r>
            <a:r>
              <a:rPr lang="en-US" sz="2800" dirty="0" smtClean="0">
                <a:solidFill>
                  <a:schemeClr val="bg1"/>
                </a:solidFill>
              </a:rPr>
              <a:t>&gt;</a:t>
            </a:r>
          </a:p>
          <a:p>
            <a:r>
              <a:rPr lang="en-US" sz="2800" dirty="0">
                <a:solidFill>
                  <a:schemeClr val="bg1"/>
                </a:solidFill>
              </a:rPr>
              <a:t>The external style sheet can be written in any text editor. The file must not contain any HTML code, and must be saved with a .</a:t>
            </a:r>
            <a:r>
              <a:rPr lang="en-US" sz="2800" dirty="0" err="1">
                <a:solidFill>
                  <a:schemeClr val="bg1"/>
                </a:solidFill>
              </a:rPr>
              <a:t>css</a:t>
            </a:r>
            <a:r>
              <a:rPr lang="en-US" sz="2800" dirty="0">
                <a:solidFill>
                  <a:schemeClr val="bg1"/>
                </a:solidFill>
              </a:rPr>
              <a:t> extension</a:t>
            </a:r>
            <a:r>
              <a:rPr lang="en-US" sz="2800" dirty="0" smtClean="0">
                <a:solidFill>
                  <a:schemeClr val="bg1"/>
                </a:solidFill>
              </a:rPr>
              <a:t>.</a:t>
            </a:r>
            <a:endParaRPr lang="en-US" sz="2800" dirty="0">
              <a:solidFill>
                <a:schemeClr val="bg1"/>
              </a:solidFill>
            </a:endParaRPr>
          </a:p>
        </p:txBody>
      </p:sp>
    </p:spTree>
    <p:extLst>
      <p:ext uri="{BB962C8B-B14F-4D97-AF65-F5344CB8AC3E}">
        <p14:creationId xmlns:p14="http://schemas.microsoft.com/office/powerpoint/2010/main" val="32675214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10154944" cy="1478570"/>
          </a:xfrm>
        </p:spPr>
        <p:txBody>
          <a:bodyPr/>
          <a:lstStyle/>
          <a:p>
            <a:r>
              <a:rPr lang="en-US" dirty="0" smtClean="0">
                <a:solidFill>
                  <a:schemeClr val="bg1"/>
                </a:solidFill>
              </a:rPr>
              <a:t>HTML CSS</a:t>
            </a:r>
            <a:endParaRPr lang="en-US" dirty="0">
              <a:solidFill>
                <a:schemeClr val="bg1"/>
              </a:solidFill>
            </a:endParaRPr>
          </a:p>
        </p:txBody>
      </p:sp>
      <p:sp>
        <p:nvSpPr>
          <p:cNvPr id="3" name="Content Placeholder 2"/>
          <p:cNvSpPr>
            <a:spLocks noGrp="1"/>
          </p:cNvSpPr>
          <p:nvPr>
            <p:ph idx="1"/>
          </p:nvPr>
        </p:nvSpPr>
        <p:spPr>
          <a:xfrm>
            <a:off x="1141412" y="1478570"/>
            <a:ext cx="11050588" cy="5379430"/>
          </a:xfrm>
        </p:spPr>
        <p:txBody>
          <a:bodyPr>
            <a:normAutofit fontScale="92500" lnSpcReduction="20000"/>
          </a:bodyPr>
          <a:lstStyle/>
          <a:p>
            <a:r>
              <a:rPr lang="en-US" sz="2800" dirty="0">
                <a:solidFill>
                  <a:schemeClr val="bg1"/>
                </a:solidFill>
              </a:rPr>
              <a:t>Here is what the "styles.css" file looks </a:t>
            </a:r>
            <a:r>
              <a:rPr lang="en-US" sz="2800" dirty="0" smtClean="0">
                <a:solidFill>
                  <a:schemeClr val="bg1"/>
                </a:solidFill>
              </a:rPr>
              <a:t>like:</a:t>
            </a:r>
          </a:p>
          <a:p>
            <a:pPr marL="0" indent="0">
              <a:buNone/>
            </a:pPr>
            <a:r>
              <a:rPr lang="en-US" sz="2800" dirty="0">
                <a:solidFill>
                  <a:schemeClr val="bg1"/>
                </a:solidFill>
              </a:rPr>
              <a:t>body {</a:t>
            </a:r>
          </a:p>
          <a:p>
            <a:pPr marL="0" indent="0">
              <a:buNone/>
            </a:pPr>
            <a:r>
              <a:rPr lang="en-US" sz="2800" dirty="0">
                <a:solidFill>
                  <a:schemeClr val="bg1"/>
                </a:solidFill>
              </a:rPr>
              <a:t>  background-color: </a:t>
            </a:r>
            <a:r>
              <a:rPr lang="en-US" sz="2800" dirty="0" err="1">
                <a:solidFill>
                  <a:schemeClr val="bg1"/>
                </a:solidFill>
              </a:rPr>
              <a:t>powderblue</a:t>
            </a:r>
            <a:r>
              <a:rPr lang="en-US" sz="2800" dirty="0">
                <a:solidFill>
                  <a:schemeClr val="bg1"/>
                </a:solidFill>
              </a:rPr>
              <a:t>;</a:t>
            </a:r>
          </a:p>
          <a:p>
            <a:pPr marL="0" indent="0">
              <a:buNone/>
            </a:pPr>
            <a:r>
              <a:rPr lang="en-US" sz="2800" dirty="0">
                <a:solidFill>
                  <a:schemeClr val="bg1"/>
                </a:solidFill>
              </a:rPr>
              <a:t>}</a:t>
            </a:r>
          </a:p>
          <a:p>
            <a:pPr marL="0" indent="0">
              <a:buNone/>
            </a:pPr>
            <a:r>
              <a:rPr lang="en-US" sz="2800" dirty="0">
                <a:solidFill>
                  <a:schemeClr val="bg1"/>
                </a:solidFill>
              </a:rPr>
              <a:t>h1 {</a:t>
            </a:r>
          </a:p>
          <a:p>
            <a:pPr marL="0" indent="0">
              <a:buNone/>
            </a:pPr>
            <a:r>
              <a:rPr lang="en-US" sz="2800" dirty="0">
                <a:solidFill>
                  <a:schemeClr val="bg1"/>
                </a:solidFill>
              </a:rPr>
              <a:t>  color: blue;</a:t>
            </a:r>
          </a:p>
          <a:p>
            <a:pPr marL="0" indent="0">
              <a:buNone/>
            </a:pPr>
            <a:r>
              <a:rPr lang="en-US" sz="2800" dirty="0">
                <a:solidFill>
                  <a:schemeClr val="bg1"/>
                </a:solidFill>
              </a:rPr>
              <a:t>}</a:t>
            </a:r>
          </a:p>
          <a:p>
            <a:pPr marL="0" indent="0">
              <a:buNone/>
            </a:pPr>
            <a:r>
              <a:rPr lang="en-US" sz="2800" dirty="0">
                <a:solidFill>
                  <a:schemeClr val="bg1"/>
                </a:solidFill>
              </a:rPr>
              <a:t>p {</a:t>
            </a:r>
          </a:p>
          <a:p>
            <a:pPr marL="0" indent="0">
              <a:buNone/>
            </a:pPr>
            <a:r>
              <a:rPr lang="en-US" sz="2800" dirty="0">
                <a:solidFill>
                  <a:schemeClr val="bg1"/>
                </a:solidFill>
              </a:rPr>
              <a:t>  color: red;</a:t>
            </a:r>
          </a:p>
          <a:p>
            <a:pPr marL="0" indent="0">
              <a:buNone/>
            </a:pPr>
            <a:r>
              <a:rPr lang="en-US" sz="2800" dirty="0">
                <a:solidFill>
                  <a:schemeClr val="bg1"/>
                </a:solidFill>
              </a:rPr>
              <a:t>}</a:t>
            </a:r>
          </a:p>
        </p:txBody>
      </p:sp>
    </p:spTree>
    <p:extLst>
      <p:ext uri="{BB962C8B-B14F-4D97-AF65-F5344CB8AC3E}">
        <p14:creationId xmlns:p14="http://schemas.microsoft.com/office/powerpoint/2010/main" val="5712205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CSS SYNTAX</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a:bodyPr>
          <a:lstStyle/>
          <a:p>
            <a:r>
              <a:rPr lang="en-US" dirty="0" smtClean="0">
                <a:solidFill>
                  <a:schemeClr val="bg1"/>
                </a:solidFill>
              </a:rPr>
              <a:t>h1 {property: value; property: value;}</a:t>
            </a:r>
            <a:r>
              <a:rPr lang="en-US" dirty="0" smtClean="0">
                <a:solidFill>
                  <a:schemeClr val="bg1"/>
                </a:solidFill>
                <a:sym typeface="Wingdings" panose="05000000000000000000" pitchFamily="2" charset="2"/>
              </a:rPr>
              <a:t>Declaration block</a:t>
            </a:r>
            <a:endParaRPr lang="en-US" dirty="0" smtClean="0">
              <a:solidFill>
                <a:schemeClr val="bg1"/>
              </a:solidFill>
            </a:endParaRPr>
          </a:p>
          <a:p>
            <a:pPr marL="0" indent="0">
              <a:buNone/>
            </a:pPr>
            <a:r>
              <a:rPr lang="en-US" dirty="0" smtClean="0">
                <a:solidFill>
                  <a:schemeClr val="bg1"/>
                </a:solidFill>
              </a:rPr>
              <a:t>Selector</a:t>
            </a:r>
            <a:endParaRPr lang="en-US" dirty="0">
              <a:solidFill>
                <a:schemeClr val="bg1"/>
              </a:solidFill>
            </a:endParaRPr>
          </a:p>
          <a:p>
            <a:r>
              <a:rPr lang="en-US" dirty="0" smtClean="0">
                <a:solidFill>
                  <a:schemeClr val="bg1"/>
                </a:solidFill>
              </a:rPr>
              <a:t>The </a:t>
            </a:r>
            <a:r>
              <a:rPr lang="en-US" dirty="0">
                <a:solidFill>
                  <a:schemeClr val="bg1"/>
                </a:solidFill>
              </a:rPr>
              <a:t>selector points to the HTML element you want to </a:t>
            </a:r>
            <a:r>
              <a:rPr lang="en-US" dirty="0" smtClean="0">
                <a:solidFill>
                  <a:schemeClr val="bg1"/>
                </a:solidFill>
              </a:rPr>
              <a:t>style. </a:t>
            </a:r>
            <a:r>
              <a:rPr lang="en-US" dirty="0" err="1" smtClean="0">
                <a:solidFill>
                  <a:schemeClr val="bg1"/>
                </a:solidFill>
              </a:rPr>
              <a:t>Eg</a:t>
            </a:r>
            <a:r>
              <a:rPr lang="en-US" dirty="0" smtClean="0">
                <a:solidFill>
                  <a:schemeClr val="bg1"/>
                </a:solidFill>
              </a:rPr>
              <a:t>. h1.</a:t>
            </a:r>
            <a:endParaRPr lang="en-US" dirty="0">
              <a:solidFill>
                <a:schemeClr val="bg1"/>
              </a:solidFill>
            </a:endParaRPr>
          </a:p>
          <a:p>
            <a:r>
              <a:rPr lang="en-US" dirty="0">
                <a:solidFill>
                  <a:schemeClr val="bg1"/>
                </a:solidFill>
              </a:rPr>
              <a:t>The declaration block contains one or more declarations separated by semicolons</a:t>
            </a:r>
            <a:r>
              <a:rPr lang="en-US" dirty="0" smtClean="0">
                <a:solidFill>
                  <a:schemeClr val="bg1"/>
                </a:solidFill>
              </a:rPr>
              <a:t>.</a:t>
            </a:r>
            <a:endParaRPr lang="en-US" dirty="0">
              <a:solidFill>
                <a:schemeClr val="bg1"/>
              </a:solidFill>
            </a:endParaRPr>
          </a:p>
          <a:p>
            <a:r>
              <a:rPr lang="en-US" dirty="0">
                <a:solidFill>
                  <a:schemeClr val="bg1"/>
                </a:solidFill>
              </a:rPr>
              <a:t>Each declaration includes a CSS property name and a value, separated by a colon</a:t>
            </a:r>
            <a:r>
              <a:rPr lang="en-US" dirty="0" smtClean="0">
                <a:solidFill>
                  <a:schemeClr val="bg1"/>
                </a:solidFill>
              </a:rPr>
              <a:t>.</a:t>
            </a:r>
            <a:endParaRPr lang="en-US" dirty="0">
              <a:solidFill>
                <a:schemeClr val="bg1"/>
              </a:solidFill>
            </a:endParaRPr>
          </a:p>
          <a:p>
            <a:r>
              <a:rPr lang="en-US" dirty="0">
                <a:solidFill>
                  <a:schemeClr val="bg1"/>
                </a:solidFill>
              </a:rPr>
              <a:t>Multiple CSS declarations are separated with semicolons, and declaration blocks are surrounded by curly braces.</a:t>
            </a:r>
          </a:p>
        </p:txBody>
      </p:sp>
      <p:sp>
        <p:nvSpPr>
          <p:cNvPr id="5" name="Down Arrow 4"/>
          <p:cNvSpPr/>
          <p:nvPr/>
        </p:nvSpPr>
        <p:spPr>
          <a:xfrm>
            <a:off x="1519311" y="1899138"/>
            <a:ext cx="168812" cy="267287"/>
          </a:xfrm>
          <a:prstGeom prst="downArrow">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79581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chemeClr val="bg1"/>
                </a:solidFill>
              </a:rPr>
              <a:t>CSS</a:t>
            </a:r>
            <a:endParaRPr lang="en-US" dirty="0">
              <a:solidFill>
                <a:schemeClr val="bg1"/>
              </a:solidFill>
            </a:endParaRPr>
          </a:p>
        </p:txBody>
      </p:sp>
      <p:sp>
        <p:nvSpPr>
          <p:cNvPr id="3" name="Content Placeholder 2"/>
          <p:cNvSpPr>
            <a:spLocks noGrp="1"/>
          </p:cNvSpPr>
          <p:nvPr>
            <p:ph idx="1"/>
          </p:nvPr>
        </p:nvSpPr>
        <p:spPr>
          <a:xfrm>
            <a:off x="1141412" y="1478570"/>
            <a:ext cx="10281554" cy="5379430"/>
          </a:xfrm>
        </p:spPr>
        <p:txBody>
          <a:bodyPr>
            <a:normAutofit/>
          </a:bodyPr>
          <a:lstStyle/>
          <a:p>
            <a:r>
              <a:rPr lang="en-US" dirty="0">
                <a:solidFill>
                  <a:schemeClr val="bg1"/>
                </a:solidFill>
              </a:rPr>
              <a:t>External style sheets can be referenced with a full URL or with a path relative to the current web </a:t>
            </a:r>
            <a:r>
              <a:rPr lang="en-US" dirty="0" smtClean="0">
                <a:solidFill>
                  <a:schemeClr val="bg1"/>
                </a:solidFill>
              </a:rPr>
              <a:t>page.</a:t>
            </a:r>
          </a:p>
          <a:p>
            <a:r>
              <a:rPr lang="en-US" dirty="0">
                <a:solidFill>
                  <a:schemeClr val="bg1"/>
                </a:solidFill>
              </a:rPr>
              <a:t>The CSS border property defines a border around an HTML element</a:t>
            </a:r>
            <a:r>
              <a:rPr lang="en-US" dirty="0" smtClean="0">
                <a:solidFill>
                  <a:schemeClr val="bg1"/>
                </a:solidFill>
              </a:rPr>
              <a:t>.</a:t>
            </a:r>
            <a:endParaRPr lang="en-US" dirty="0">
              <a:solidFill>
                <a:schemeClr val="bg1"/>
              </a:solidFill>
            </a:endParaRPr>
          </a:p>
          <a:p>
            <a:pPr marL="0" indent="0">
              <a:buNone/>
            </a:pPr>
            <a:r>
              <a:rPr lang="en-US" dirty="0">
                <a:solidFill>
                  <a:schemeClr val="bg1"/>
                </a:solidFill>
              </a:rPr>
              <a:t>Tip: You can define a border for nearly all HTML elements</a:t>
            </a:r>
            <a:r>
              <a:rPr lang="en-US" dirty="0" smtClean="0">
                <a:solidFill>
                  <a:schemeClr val="bg1"/>
                </a:solidFill>
              </a:rPr>
              <a:t>.</a:t>
            </a:r>
          </a:p>
          <a:p>
            <a:r>
              <a:rPr lang="en-US" dirty="0">
                <a:solidFill>
                  <a:schemeClr val="bg1"/>
                </a:solidFill>
              </a:rPr>
              <a:t>The CSS padding property defines a padding (space) between the text and the border</a:t>
            </a:r>
            <a:r>
              <a:rPr lang="en-US" dirty="0" smtClean="0">
                <a:solidFill>
                  <a:schemeClr val="bg1"/>
                </a:solidFill>
              </a:rPr>
              <a:t>.</a:t>
            </a:r>
          </a:p>
          <a:p>
            <a:r>
              <a:rPr lang="en-US" dirty="0">
                <a:solidFill>
                  <a:schemeClr val="bg1"/>
                </a:solidFill>
              </a:rPr>
              <a:t>The CSS margin property defines a margin (space) outside the border</a:t>
            </a:r>
            <a:r>
              <a:rPr lang="en-US" dirty="0" smtClean="0">
                <a:solidFill>
                  <a:schemeClr val="bg1"/>
                </a:solidFill>
              </a:rPr>
              <a:t>.</a:t>
            </a:r>
          </a:p>
          <a:p>
            <a:pPr marL="0" indent="0">
              <a:buNone/>
            </a:pPr>
            <a:r>
              <a:rPr lang="en-US" dirty="0" err="1" smtClean="0">
                <a:solidFill>
                  <a:schemeClr val="bg1"/>
                </a:solidFill>
              </a:rPr>
              <a:t>Eg</a:t>
            </a:r>
            <a:r>
              <a:rPr lang="en-US" dirty="0">
                <a:solidFill>
                  <a:schemeClr val="bg1"/>
                </a:solidFill>
              </a:rPr>
              <a:t>. p </a:t>
            </a:r>
            <a:r>
              <a:rPr lang="en-US" dirty="0" smtClean="0">
                <a:solidFill>
                  <a:schemeClr val="bg1"/>
                </a:solidFill>
              </a:rPr>
              <a:t>{border</a:t>
            </a:r>
            <a:r>
              <a:rPr lang="en-US" dirty="0">
                <a:solidFill>
                  <a:schemeClr val="bg1"/>
                </a:solidFill>
              </a:rPr>
              <a:t>: 2px solid </a:t>
            </a:r>
            <a:r>
              <a:rPr lang="en-US" dirty="0" err="1" smtClean="0">
                <a:solidFill>
                  <a:schemeClr val="bg1"/>
                </a:solidFill>
              </a:rPr>
              <a:t>powderblue</a:t>
            </a:r>
            <a:r>
              <a:rPr lang="en-US" dirty="0" smtClean="0">
                <a:solidFill>
                  <a:schemeClr val="bg1"/>
                </a:solidFill>
              </a:rPr>
              <a:t>; padding</a:t>
            </a:r>
            <a:r>
              <a:rPr lang="en-US" dirty="0">
                <a:solidFill>
                  <a:schemeClr val="bg1"/>
                </a:solidFill>
              </a:rPr>
              <a:t>: 30px; margin: 50px;}</a:t>
            </a:r>
            <a:endParaRPr lang="en-US" dirty="0" smtClean="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1158760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1413" y="270718"/>
            <a:ext cx="9905998" cy="1478570"/>
          </a:xfrm>
        </p:spPr>
        <p:txBody>
          <a:bodyPr/>
          <a:lstStyle/>
          <a:p>
            <a:r>
              <a:rPr lang="en-US" dirty="0" smtClean="0"/>
              <a:t>REFERENCES</a:t>
            </a:r>
            <a:endParaRPr lang="en-US" dirty="0"/>
          </a:p>
        </p:txBody>
      </p:sp>
      <p:sp>
        <p:nvSpPr>
          <p:cNvPr id="3" name="Content Placeholder 2"/>
          <p:cNvSpPr>
            <a:spLocks noGrp="1"/>
          </p:cNvSpPr>
          <p:nvPr>
            <p:ph idx="1"/>
          </p:nvPr>
        </p:nvSpPr>
        <p:spPr>
          <a:xfrm>
            <a:off x="1141413" y="1749288"/>
            <a:ext cx="10242204" cy="5108712"/>
          </a:xfrm>
          <a:noFill/>
        </p:spPr>
        <p:txBody>
          <a:bodyPr>
            <a:normAutofit/>
          </a:bodyPr>
          <a:lstStyle/>
          <a:p>
            <a:r>
              <a:rPr lang="en-US" dirty="0" smtClean="0">
                <a:solidFill>
                  <a:schemeClr val="bg1"/>
                </a:solidFill>
                <a:hlinkClick r:id="rId2"/>
              </a:rPr>
              <a:t>https</a:t>
            </a:r>
            <a:r>
              <a:rPr lang="en-US" dirty="0">
                <a:hlinkClick r:id="rId2"/>
              </a:rPr>
              <a:t>://</a:t>
            </a:r>
            <a:r>
              <a:rPr lang="en-US" dirty="0" smtClean="0">
                <a:hlinkClick r:id="rId2"/>
              </a:rPr>
              <a:t>alison.com/course/web-development-with-html-and-css-for-beginners</a:t>
            </a:r>
            <a:endParaRPr lang="en-US" dirty="0" smtClean="0"/>
          </a:p>
          <a:p>
            <a:r>
              <a:rPr lang="en-US" dirty="0">
                <a:solidFill>
                  <a:schemeClr val="bg1"/>
                </a:solidFill>
                <a:hlinkClick r:id="rId3"/>
              </a:rPr>
              <a:t>https://www.w3schools.com/html</a:t>
            </a:r>
            <a:r>
              <a:rPr lang="en-US" dirty="0" smtClean="0">
                <a:solidFill>
                  <a:schemeClr val="bg1"/>
                </a:solidFill>
                <a:hlinkClick r:id="rId3"/>
              </a:rPr>
              <a:t>/</a:t>
            </a:r>
            <a:endParaRPr lang="en-US" dirty="0" smtClean="0">
              <a:solidFill>
                <a:schemeClr val="bg1"/>
              </a:solidFill>
            </a:endParaRPr>
          </a:p>
          <a:p>
            <a:r>
              <a:rPr lang="en-US" dirty="0"/>
              <a:t>https://</a:t>
            </a:r>
            <a:r>
              <a:rPr lang="en-US" dirty="0" smtClean="0"/>
              <a:t>www.w3schools.com/css/</a:t>
            </a:r>
            <a:endParaRPr lang="en-US" dirty="0"/>
          </a:p>
        </p:txBody>
      </p:sp>
    </p:spTree>
    <p:extLst>
      <p:ext uri="{BB962C8B-B14F-4D97-AF65-F5344CB8AC3E}">
        <p14:creationId xmlns:p14="http://schemas.microsoft.com/office/powerpoint/2010/main" val="12307407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975</TotalTime>
  <Words>1515</Words>
  <Application>Microsoft Office PowerPoint</Application>
  <PresentationFormat>Widescreen</PresentationFormat>
  <Paragraphs>162</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Trebuchet MS</vt:lpstr>
      <vt:lpstr>Tw Cen MT</vt:lpstr>
      <vt:lpstr>Wingdings</vt:lpstr>
      <vt:lpstr>Circuit</vt:lpstr>
      <vt:lpstr>HTML AND CSS</vt:lpstr>
      <vt:lpstr>WHAT IS HTML?</vt:lpstr>
      <vt:lpstr>WHAT IS CSS?</vt:lpstr>
      <vt:lpstr>HTML</vt:lpstr>
      <vt:lpstr>HTML ELEMENTS</vt:lpstr>
      <vt:lpstr>HTML ELEMENTS</vt:lpstr>
      <vt:lpstr>HTML ELEMENTS</vt:lpstr>
      <vt:lpstr>HTML Attributes</vt:lpstr>
      <vt:lpstr>HTML Attributes</vt:lpstr>
      <vt:lpstr>HTML Attributes</vt:lpstr>
      <vt:lpstr>HTML Attributes</vt:lpstr>
      <vt:lpstr>HTML Attributes</vt:lpstr>
      <vt:lpstr>HTML</vt:lpstr>
      <vt:lpstr>HTML</vt:lpstr>
      <vt:lpstr>HTML FORMATTING</vt:lpstr>
      <vt:lpstr>HTML QUOTATIONS</vt:lpstr>
      <vt:lpstr>HTML QUOTATIONS</vt:lpstr>
      <vt:lpstr>HTML COMMENTS</vt:lpstr>
      <vt:lpstr>HTML CSS</vt:lpstr>
      <vt:lpstr>HTML CSS</vt:lpstr>
      <vt:lpstr>HTML CSS</vt:lpstr>
      <vt:lpstr>CSS SYNTAX</vt:lpstr>
      <vt:lpstr>CSS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AND CSS</dc:title>
  <dc:creator>Esther Agyemang</dc:creator>
  <cp:lastModifiedBy>Esther Agyemang</cp:lastModifiedBy>
  <cp:revision>29</cp:revision>
  <dcterms:created xsi:type="dcterms:W3CDTF">2023-03-21T17:37:18Z</dcterms:created>
  <dcterms:modified xsi:type="dcterms:W3CDTF">2023-03-22T09:53:17Z</dcterms:modified>
</cp:coreProperties>
</file>