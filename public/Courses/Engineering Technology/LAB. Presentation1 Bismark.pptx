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9" r:id="rId2"/>
    <p:sldId id="264" r:id="rId3"/>
    <p:sldId id="263" r:id="rId4"/>
    <p:sldId id="312" r:id="rId5"/>
    <p:sldId id="313" r:id="rId6"/>
    <p:sldId id="314" r:id="rId7"/>
    <p:sldId id="281" r:id="rId8"/>
    <p:sldId id="260" r:id="rId9"/>
    <p:sldId id="279" r:id="rId10"/>
    <p:sldId id="315" r:id="rId11"/>
    <p:sldId id="316" r:id="rId12"/>
    <p:sldId id="317" r:id="rId13"/>
    <p:sldId id="320" r:id="rId14"/>
    <p:sldId id="318" r:id="rId15"/>
    <p:sldId id="290" r:id="rId16"/>
    <p:sldId id="269" r:id="rId17"/>
    <p:sldId id="304" r:id="rId18"/>
    <p:sldId id="319" r:id="rId19"/>
    <p:sldId id="291" r:id="rId20"/>
    <p:sldId id="323" r:id="rId21"/>
    <p:sldId id="321" r:id="rId22"/>
    <p:sldId id="322" r:id="rId23"/>
    <p:sldId id="270" r:id="rId24"/>
    <p:sldId id="324" r:id="rId25"/>
    <p:sldId id="271" r:id="rId26"/>
    <p:sldId id="326" r:id="rId27"/>
    <p:sldId id="327" r:id="rId28"/>
    <p:sldId id="328" r:id="rId29"/>
    <p:sldId id="329" r:id="rId30"/>
    <p:sldId id="265" r:id="rId31"/>
    <p:sldId id="330" r:id="rId32"/>
    <p:sldId id="331" r:id="rId33"/>
    <p:sldId id="332" r:id="rId34"/>
    <p:sldId id="333" r:id="rId35"/>
    <p:sldId id="334" r:id="rId36"/>
    <p:sldId id="335" r:id="rId37"/>
    <p:sldId id="295" r:id="rId38"/>
    <p:sldId id="336" r:id="rId39"/>
    <p:sldId id="337" r:id="rId40"/>
    <p:sldId id="297" r:id="rId41"/>
    <p:sldId id="298" r:id="rId42"/>
    <p:sldId id="309" r:id="rId43"/>
    <p:sldId id="261" r:id="rId44"/>
    <p:sldId id="284" r:id="rId45"/>
    <p:sldId id="288" r:id="rId46"/>
    <p:sldId id="338" r:id="rId47"/>
    <p:sldId id="339" r:id="rId48"/>
    <p:sldId id="277" r:id="rId49"/>
    <p:sldId id="278" r:id="rId50"/>
    <p:sldId id="300" r:id="rId51"/>
    <p:sldId id="301" r:id="rId52"/>
    <p:sldId id="305" r:id="rId53"/>
    <p:sldId id="306" r:id="rId54"/>
    <p:sldId id="307" r:id="rId55"/>
    <p:sldId id="308" r:id="rId56"/>
    <p:sldId id="310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9" autoAdjust="0"/>
    <p:restoredTop sz="95407" autoAdjust="0"/>
  </p:normalViewPr>
  <p:slideViewPr>
    <p:cSldViewPr>
      <p:cViewPr varScale="1">
        <p:scale>
          <a:sx n="86" d="100"/>
          <a:sy n="86" d="100"/>
        </p:scale>
        <p:origin x="1458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83020-BA25-4EB1-866F-83252D6314F0}" type="datetimeFigureOut">
              <a:rPr lang="en-US" smtClean="0"/>
              <a:pPr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ECE0-F323-448E-B737-3B417F97FF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35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83020-BA25-4EB1-866F-83252D6314F0}" type="datetimeFigureOut">
              <a:rPr lang="en-US" smtClean="0"/>
              <a:pPr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ECE0-F323-448E-B737-3B417F97FF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3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83020-BA25-4EB1-866F-83252D6314F0}" type="datetimeFigureOut">
              <a:rPr lang="en-US" smtClean="0"/>
              <a:pPr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ECE0-F323-448E-B737-3B417F97FF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27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83020-BA25-4EB1-866F-83252D6314F0}" type="datetimeFigureOut">
              <a:rPr lang="en-US" smtClean="0"/>
              <a:pPr/>
              <a:t>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ECE0-F323-448E-B737-3B417F97FF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38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83020-BA25-4EB1-866F-83252D6314F0}" type="datetimeFigureOut">
              <a:rPr lang="en-US" smtClean="0"/>
              <a:pPr/>
              <a:t>2/5/2023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ECE0-F323-448E-B737-3B417F97FF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8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83020-BA25-4EB1-866F-83252D6314F0}" type="datetimeFigureOut">
              <a:rPr lang="en-US" smtClean="0"/>
              <a:pPr/>
              <a:t>2/5/2023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ECE0-F323-448E-B737-3B417F97FF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82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83020-BA25-4EB1-866F-83252D6314F0}" type="datetimeFigureOut">
              <a:rPr lang="en-US" smtClean="0"/>
              <a:pPr/>
              <a:t>2/5/2023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ECE0-F323-448E-B737-3B417F97FF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54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83020-BA25-4EB1-866F-83252D6314F0}" type="datetimeFigureOut">
              <a:rPr lang="en-US" smtClean="0"/>
              <a:pPr/>
              <a:t>2/5/2023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ECE0-F323-448E-B737-3B417F97FF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78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83020-BA25-4EB1-866F-83252D6314F0}" type="datetimeFigureOut">
              <a:rPr lang="en-US" smtClean="0"/>
              <a:pPr/>
              <a:t>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ECE0-F323-448E-B737-3B417F97FF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5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83020-BA25-4EB1-866F-83252D6314F0}" type="datetimeFigureOut">
              <a:rPr lang="en-US" smtClean="0"/>
              <a:pPr/>
              <a:t>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ECE0-F323-448E-B737-3B417F97FF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1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83020-BA25-4EB1-866F-83252D6314F0}" type="datetimeFigureOut">
              <a:rPr lang="en-US" smtClean="0"/>
              <a:pPr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ECE0-F323-448E-B737-3B417F97FF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22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83020-BA25-4EB1-866F-83252D6314F0}" type="datetimeFigureOut">
              <a:rPr lang="en-US" smtClean="0"/>
              <a:pPr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ECE0-F323-448E-B737-3B417F97FF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9604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83020-BA25-4EB1-866F-83252D6314F0}" type="datetimeFigureOut">
              <a:rPr lang="en-US" smtClean="0"/>
              <a:pPr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ECE0-F323-448E-B737-3B417F97FF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152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83020-BA25-4EB1-866F-83252D6314F0}" type="datetimeFigureOut">
              <a:rPr lang="en-US" smtClean="0"/>
              <a:pPr/>
              <a:t>2/5/2023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ECE0-F323-448E-B737-3B417F97FF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10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83020-BA25-4EB1-866F-83252D6314F0}" type="datetimeFigureOut">
              <a:rPr lang="en-US" smtClean="0"/>
              <a:pPr/>
              <a:t>2/5/2023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ECE0-F323-448E-B737-3B417F97FF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856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83020-BA25-4EB1-866F-83252D6314F0}" type="datetimeFigureOut">
              <a:rPr lang="en-US" smtClean="0"/>
              <a:pPr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ECE0-F323-448E-B737-3B417F97FF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32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83020-BA25-4EB1-866F-83252D6314F0}" type="datetimeFigureOut">
              <a:rPr lang="en-US" smtClean="0"/>
              <a:pPr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ECE0-F323-448E-B737-3B417F97FF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67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0383020-BA25-4EB1-866F-83252D6314F0}" type="datetimeFigureOut">
              <a:rPr lang="en-US" smtClean="0"/>
              <a:pPr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9ECE0-F323-448E-B737-3B417F97FF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867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066800"/>
            <a:ext cx="8229600" cy="1676400"/>
          </a:xfrm>
        </p:spPr>
        <p:txBody>
          <a:bodyPr>
            <a:normAutofit fontScale="90000"/>
          </a:bodyPr>
          <a:lstStyle/>
          <a:p>
            <a:r>
              <a:rPr lang="en-US" sz="6000" dirty="0"/>
              <a:t>BASIC ELECTRONIC LAB.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935480"/>
            <a:ext cx="8077200" cy="400812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4000" b="1" dirty="0"/>
              <a:t>LAB. OUTLINE</a:t>
            </a:r>
          </a:p>
          <a:p>
            <a:r>
              <a:rPr lang="en-US" sz="4000" dirty="0"/>
              <a:t>ELECTRONIC COMPONENTS</a:t>
            </a:r>
          </a:p>
          <a:p>
            <a:r>
              <a:rPr lang="en-US" sz="4000" dirty="0"/>
              <a:t>ELECTRONIC CIRCUIT</a:t>
            </a:r>
          </a:p>
          <a:p>
            <a:r>
              <a:rPr lang="en-US" sz="4000" dirty="0"/>
              <a:t>SOLDERING</a:t>
            </a:r>
          </a:p>
          <a:p>
            <a:r>
              <a:rPr lang="en-US" sz="4000" dirty="0"/>
              <a:t>PROJECT WORK</a:t>
            </a:r>
          </a:p>
          <a:p>
            <a:r>
              <a:rPr lang="en-US" sz="4000" dirty="0"/>
              <a:t>ASSIGNMENTS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1067" y="4425718"/>
            <a:ext cx="6400800" cy="381000"/>
          </a:xfrm>
        </p:spPr>
        <p:txBody>
          <a:bodyPr>
            <a:normAutofit lnSpcReduction="10000"/>
          </a:bodyPr>
          <a:lstStyle/>
          <a:p>
            <a:pPr algn="l"/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11FDF5-95A8-1D2E-0C1F-2F221C64F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68602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458200" cy="1447800"/>
          </a:xfrm>
        </p:spPr>
        <p:txBody>
          <a:bodyPr>
            <a:normAutofit/>
          </a:bodyPr>
          <a:lstStyle/>
          <a:p>
            <a:r>
              <a:rPr lang="en-US" sz="2400" b="1" dirty="0"/>
              <a:t>An electronic  component  is  any  basic  discrete  device  or  physical entity  in  an  electronic  system used  to affect  electrons  or  their associated fields.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F7B2AA2-B3C8-8054-4743-97D03C59D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05000"/>
            <a:ext cx="8229600" cy="4572000"/>
          </a:xfrm>
        </p:spPr>
      </p:pic>
    </p:spTree>
    <p:extLst>
      <p:ext uri="{BB962C8B-B14F-4D97-AF65-F5344CB8AC3E}">
        <p14:creationId xmlns:p14="http://schemas.microsoft.com/office/powerpoint/2010/main" val="597808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E11A-5204-ADDA-172C-E999A92CF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A55347B-6584-DC4B-0268-91DE68CC9F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52718"/>
            <a:ext cx="8839200" cy="6024281"/>
          </a:xfrm>
        </p:spPr>
      </p:pic>
    </p:spTree>
    <p:extLst>
      <p:ext uri="{BB962C8B-B14F-4D97-AF65-F5344CB8AC3E}">
        <p14:creationId xmlns:p14="http://schemas.microsoft.com/office/powerpoint/2010/main" val="3289873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0ABC9-0AFC-81A7-81DD-6585DE65F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9A4399-7D4E-9AE8-8F33-4920547AC0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81000"/>
            <a:ext cx="8839200" cy="6024282"/>
          </a:xfrm>
        </p:spPr>
      </p:pic>
    </p:spTree>
    <p:extLst>
      <p:ext uri="{BB962C8B-B14F-4D97-AF65-F5344CB8AC3E}">
        <p14:creationId xmlns:p14="http://schemas.microsoft.com/office/powerpoint/2010/main" val="4193271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38CE1-EF95-C00A-3105-C6210AD32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F76009-4E41-DF56-67D2-DD9077012B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"/>
            <a:ext cx="8763000" cy="6176682"/>
          </a:xfrm>
        </p:spPr>
      </p:pic>
    </p:spTree>
    <p:extLst>
      <p:ext uri="{BB962C8B-B14F-4D97-AF65-F5344CB8AC3E}">
        <p14:creationId xmlns:p14="http://schemas.microsoft.com/office/powerpoint/2010/main" val="916301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4" name="Picture 2" descr="C:\Users\Wabis\Pictures\resistor definiton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4910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 descr="C:\Users\Wabis\Pictures\resist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9144000" cy="6629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5767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1" descr="C:\Users\Wabis\Pictures\resistor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811" y="0"/>
            <a:ext cx="9132189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68233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0AF2-B121-82C5-C2AF-87B52FAC7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B45C94-CBA6-7FDC-5060-C500464595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4000"/>
            <a:ext cx="8763000" cy="6031812"/>
          </a:xfrm>
        </p:spPr>
      </p:pic>
    </p:spTree>
    <p:extLst>
      <p:ext uri="{BB962C8B-B14F-4D97-AF65-F5344CB8AC3E}">
        <p14:creationId xmlns:p14="http://schemas.microsoft.com/office/powerpoint/2010/main" val="1379459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E1DC3-B8A0-D768-C1F6-DF6AE2D68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7DE39B-63F9-E3C5-4A4F-2E9365F0AF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04" y="228600"/>
            <a:ext cx="8809696" cy="6400800"/>
          </a:xfrm>
        </p:spPr>
      </p:pic>
    </p:spTree>
    <p:extLst>
      <p:ext uri="{BB962C8B-B14F-4D97-AF65-F5344CB8AC3E}">
        <p14:creationId xmlns:p14="http://schemas.microsoft.com/office/powerpoint/2010/main" val="4240136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F615-AD70-1B64-7831-E07F6949F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5958874"/>
            <a:ext cx="11042718" cy="842682"/>
          </a:xfrm>
        </p:spPr>
        <p:txBody>
          <a:bodyPr/>
          <a:lstStyle/>
          <a:p>
            <a:r>
              <a:rPr lang="en-GB" dirty="0"/>
              <a:t>Find the value of these resistors.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36728F-B941-C5B0-FE1C-21DBB927C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1" y="8467"/>
            <a:ext cx="2867378" cy="595887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8B4FB4-BCE5-2C49-375C-2C0305B34C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540" y="0"/>
            <a:ext cx="8512460" cy="595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13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926A7-1F16-6991-D70D-04ADD0FC8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521C05-DFB0-C284-FC6F-6DAC856B1D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32" y="152400"/>
            <a:ext cx="8617867" cy="6477000"/>
          </a:xfrm>
        </p:spPr>
      </p:pic>
    </p:spTree>
    <p:extLst>
      <p:ext uri="{BB962C8B-B14F-4D97-AF65-F5344CB8AC3E}">
        <p14:creationId xmlns:p14="http://schemas.microsoft.com/office/powerpoint/2010/main" val="2334823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85BC1-02D5-816E-302C-A8E29A3D2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F4C7F6-B598-2358-5319-6811E79356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6200"/>
            <a:ext cx="8991600" cy="2734057"/>
          </a:xfrm>
        </p:spPr>
      </p:pic>
      <p:pic>
        <p:nvPicPr>
          <p:cNvPr id="6" name="Picture 2" descr="C:\Users\Wabis\Pictures\capac.JPG">
            <a:extLst>
              <a:ext uri="{FF2B5EF4-FFF2-40B4-BE49-F238E27FC236}">
                <a16:creationId xmlns:a16="http://schemas.microsoft.com/office/drawing/2014/main" id="{D6FAB90F-BBAA-0C83-EB0F-8F5DF696B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2810256"/>
            <a:ext cx="9067800" cy="404774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16171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7890" name="Picture 2" descr="C:\Users\Wabis\Pictures\Capture c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59947"/>
            <a:ext cx="9144000" cy="67153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36116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344" y="0"/>
            <a:ext cx="907565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43850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52800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How would you determine the polarity of these type of capacitors below.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95600"/>
            <a:ext cx="8686800" cy="1066800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55298" name="Picture 2" descr="C:\Users\Wabis\Pictures\Capture   Capacitor3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2667000"/>
            <a:ext cx="4800600" cy="4191000"/>
          </a:xfrm>
          <a:prstGeom prst="rect">
            <a:avLst/>
          </a:prstGeom>
          <a:noFill/>
        </p:spPr>
      </p:pic>
      <p:pic>
        <p:nvPicPr>
          <p:cNvPr id="55299" name="Picture 3" descr="C:\Users\Wabis\Pictures\Capture   ccapacitor44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9600" y="2590800"/>
            <a:ext cx="4724400" cy="4267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83163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4A8EF-79D1-9F83-D63B-F1EE5FEC6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7C27CB-7A1F-2E29-524B-E2CB6A0320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28600"/>
            <a:ext cx="8839199" cy="6477000"/>
          </a:xfrm>
        </p:spPr>
      </p:pic>
    </p:spTree>
    <p:extLst>
      <p:ext uri="{BB962C8B-B14F-4D97-AF65-F5344CB8AC3E}">
        <p14:creationId xmlns:p14="http://schemas.microsoft.com/office/powerpoint/2010/main" val="1222035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8914" name="Picture 2" descr="C:\Users\Wabis\Pictures\inductor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89251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A46AA-FDF9-7060-C550-A5B4633B4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227694-D879-B072-BA84-DE908D82E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04800"/>
            <a:ext cx="8610599" cy="6324600"/>
          </a:xfrm>
        </p:spPr>
      </p:pic>
    </p:spTree>
    <p:extLst>
      <p:ext uri="{BB962C8B-B14F-4D97-AF65-F5344CB8AC3E}">
        <p14:creationId xmlns:p14="http://schemas.microsoft.com/office/powerpoint/2010/main" val="697519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A77FC-9317-CB64-7550-30EBD6497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690282"/>
          </a:xfrm>
        </p:spPr>
        <p:txBody>
          <a:bodyPr/>
          <a:lstStyle/>
          <a:p>
            <a:r>
              <a:rPr lang="en-GB" dirty="0"/>
              <a:t>Classification of inductors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DA7448-79C3-94B5-8E03-2AB8C1E510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43000"/>
            <a:ext cx="8534400" cy="5562600"/>
          </a:xfrm>
        </p:spPr>
      </p:pic>
    </p:spTree>
    <p:extLst>
      <p:ext uri="{BB962C8B-B14F-4D97-AF65-F5344CB8AC3E}">
        <p14:creationId xmlns:p14="http://schemas.microsoft.com/office/powerpoint/2010/main" val="1953539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90E9-5237-9603-E992-074D4F4E1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201425-007A-91B4-ABE5-94F25BBD54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28600"/>
            <a:ext cx="8763000" cy="6176682"/>
          </a:xfrm>
        </p:spPr>
      </p:pic>
    </p:spTree>
    <p:extLst>
      <p:ext uri="{BB962C8B-B14F-4D97-AF65-F5344CB8AC3E}">
        <p14:creationId xmlns:p14="http://schemas.microsoft.com/office/powerpoint/2010/main" val="1951302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554" name="Picture 2" descr="C:\Users\Wabis\Pictures\ind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33455"/>
            <a:ext cx="9144000" cy="3624146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3CBEAA-7947-E58E-2C27-4F67B2DE4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2839"/>
            <a:ext cx="7055380" cy="3105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E0B05C-4311-A424-D8C7-E9E3254D4B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380" y="3592839"/>
            <a:ext cx="2086760" cy="31055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FF25DB-1A5E-E777-A853-9E5F88AE41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841" y="3733800"/>
            <a:ext cx="1790950" cy="2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35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2F621-FD23-365D-D2E0-E30FDFDEB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F9BDBC-922A-C875-0D38-A47CD10177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11" y="533400"/>
            <a:ext cx="6436534" cy="61722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1C128B-482D-3752-5025-720122F13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045" y="533851"/>
            <a:ext cx="2596133" cy="3257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BD65E5-446B-19D5-9F5B-63B08CB850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045" y="3791776"/>
            <a:ext cx="2598955" cy="291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5162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78" name="Picture 2" descr="C:\Users\Wabis\Pictures\inductors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064" y="0"/>
            <a:ext cx="9134936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26030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7C179-467A-638C-32B6-D169867B7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05AC3A-04E0-BDF1-914B-44F1B25E05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8763000" cy="6400799"/>
          </a:xfrm>
        </p:spPr>
      </p:pic>
    </p:spTree>
    <p:extLst>
      <p:ext uri="{BB962C8B-B14F-4D97-AF65-F5344CB8AC3E}">
        <p14:creationId xmlns:p14="http://schemas.microsoft.com/office/powerpoint/2010/main" val="2892973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FFF0-374E-3EA9-6AFC-082388D0B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4E808E-D523-4E6C-45CC-8348273BD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76200"/>
            <a:ext cx="8839200" cy="6514138"/>
          </a:xfrm>
        </p:spPr>
      </p:pic>
    </p:spTree>
    <p:extLst>
      <p:ext uri="{BB962C8B-B14F-4D97-AF65-F5344CB8AC3E}">
        <p14:creationId xmlns:p14="http://schemas.microsoft.com/office/powerpoint/2010/main" val="20889100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86440-C286-AF54-0B5B-47332C185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1F23B0-6447-5342-14F8-FAE84CC3E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28601"/>
            <a:ext cx="8686800" cy="6654982"/>
          </a:xfrm>
        </p:spPr>
      </p:pic>
    </p:spTree>
    <p:extLst>
      <p:ext uri="{BB962C8B-B14F-4D97-AF65-F5344CB8AC3E}">
        <p14:creationId xmlns:p14="http://schemas.microsoft.com/office/powerpoint/2010/main" val="23383373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6AF32-379D-E675-A916-8C79E0C56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3419" y="216370"/>
            <a:ext cx="4949290" cy="786448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8E2135-0B2E-27E5-8C2C-6A03E3EFFC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83" y="216370"/>
            <a:ext cx="8482362" cy="2743200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14FDAAC7-D9A9-0B27-8512-D3EB942F7A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83" y="2959570"/>
            <a:ext cx="8482361" cy="3288830"/>
          </a:xfrm>
        </p:spPr>
      </p:pic>
    </p:spTree>
    <p:extLst>
      <p:ext uri="{BB962C8B-B14F-4D97-AF65-F5344CB8AC3E}">
        <p14:creationId xmlns:p14="http://schemas.microsoft.com/office/powerpoint/2010/main" val="38708925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 descr="C:\Users\Wabis\Pictures\transis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-14149" y="0"/>
            <a:ext cx="9143171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078123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EBD17-F193-6523-552C-0DE3E20AC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4C8D0E-CA59-5D01-9C84-C27649CA6B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28601"/>
            <a:ext cx="4191000" cy="32004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888B32-041E-EB3B-085D-DD55CC4DA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38535"/>
            <a:ext cx="4724400" cy="31904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10276C-397D-F0FD-B782-B86EED4253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453804"/>
            <a:ext cx="8915400" cy="339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572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F75EF-1C31-896A-4A8D-285233C72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9467E5-5250-FE5B-E941-F967C4AEAF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4318"/>
            <a:ext cx="4267200" cy="5298281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E2C42A-022D-74F8-9242-B58E4A585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059" y="264318"/>
            <a:ext cx="4692805" cy="529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554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AC427-949E-8C12-DB08-7E40DA0B1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33DFCE9-AEC8-7321-7991-04EE9C025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04800"/>
            <a:ext cx="8610599" cy="6100481"/>
          </a:xfrm>
        </p:spPr>
      </p:pic>
    </p:spTree>
    <p:extLst>
      <p:ext uri="{BB962C8B-B14F-4D97-AF65-F5344CB8AC3E}">
        <p14:creationId xmlns:p14="http://schemas.microsoft.com/office/powerpoint/2010/main" val="2325368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91538-5DFB-3ABC-325B-EA8011835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1119DD-8766-82B1-EE8F-E178E2350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04800"/>
            <a:ext cx="8458200" cy="5791200"/>
          </a:xfrm>
        </p:spPr>
      </p:pic>
    </p:spTree>
    <p:extLst>
      <p:ext uri="{BB962C8B-B14F-4D97-AF65-F5344CB8AC3E}">
        <p14:creationId xmlns:p14="http://schemas.microsoft.com/office/powerpoint/2010/main" val="19757878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E291-C31C-A8B7-2AB3-907C8914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D37102-5124-C914-00BF-ED62AEC34E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04800"/>
            <a:ext cx="8686800" cy="6100482"/>
          </a:xfrm>
        </p:spPr>
      </p:pic>
    </p:spTree>
    <p:extLst>
      <p:ext uri="{BB962C8B-B14F-4D97-AF65-F5344CB8AC3E}">
        <p14:creationId xmlns:p14="http://schemas.microsoft.com/office/powerpoint/2010/main" val="1865185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8664D-6043-E56B-61F4-01B2F14C9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866859-1CB2-2346-EC5D-4B517D7CB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"/>
            <a:ext cx="5791200" cy="40386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1B5EDD-5C58-F892-A7AA-82605F6569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269058"/>
            <a:ext cx="5791200" cy="23603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20D6F7-8F2A-F94F-6106-4AE86E4E5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526" y="4267200"/>
            <a:ext cx="3107474" cy="23465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AA7CAA-1BB8-9C7F-2218-E7E4535D50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224" y="244221"/>
            <a:ext cx="3129776" cy="23447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7548AE-1D9F-C3BF-88A5-923067AF5B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678" y="2588943"/>
            <a:ext cx="3107475" cy="190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8889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3010" name="Picture 2" descr="C:\Users\Wabis\Pictures\ic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711" y="0"/>
            <a:ext cx="9133289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43023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4C0A7-798D-3862-C558-17A3F2678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D5E3DD-498A-C6FA-395F-9B19075ADA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81000"/>
            <a:ext cx="8762999" cy="6024282"/>
          </a:xfrm>
        </p:spPr>
      </p:pic>
    </p:spTree>
    <p:extLst>
      <p:ext uri="{BB962C8B-B14F-4D97-AF65-F5344CB8AC3E}">
        <p14:creationId xmlns:p14="http://schemas.microsoft.com/office/powerpoint/2010/main" val="39711830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D94CF-5DDC-5A54-1EA8-D8C2DF571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5AF82C-B1CC-097A-6D83-58E6CCC5D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52718"/>
            <a:ext cx="8686800" cy="5952564"/>
          </a:xfrm>
        </p:spPr>
      </p:pic>
    </p:spTree>
    <p:extLst>
      <p:ext uri="{BB962C8B-B14F-4D97-AF65-F5344CB8AC3E}">
        <p14:creationId xmlns:p14="http://schemas.microsoft.com/office/powerpoint/2010/main" val="24013503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6082" name="Picture 2" descr="C:\Users\Wabis\Pictures\ic  s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-29741"/>
            <a:ext cx="9143999" cy="68877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260248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7106" name="Picture 2" descr="C:\Users\Wabis\Pictures\icccc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257440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6322" name="Picture 2" descr="C:\Users\Wabis\Pictures\ua 741   2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5486400" cy="5410200"/>
          </a:xfrm>
          <a:prstGeom prst="rect">
            <a:avLst/>
          </a:prstGeom>
          <a:noFill/>
        </p:spPr>
      </p:pic>
      <p:pic>
        <p:nvPicPr>
          <p:cNvPr id="56323" name="Picture 3" descr="C:\Users\Wabis\Pictures\chip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0200" y="304800"/>
            <a:ext cx="3733800" cy="6400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405944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1151" y="3124200"/>
            <a:ext cx="9296400" cy="5715000"/>
          </a:xfrm>
        </p:spPr>
        <p:txBody>
          <a:bodyPr>
            <a:normAutofit/>
          </a:bodyPr>
          <a:lstStyle/>
          <a:p>
            <a:r>
              <a:rPr lang="en-US" sz="2800" b="1" dirty="0"/>
              <a:t>An electronic circuit is a structure that directs and controls electric current to perform various functions including signal amplification, computation, and data transfer. It comprises several different components  such as resistors , transistors, capacitors, inductors, diodes, and ICs. </a:t>
            </a:r>
            <a:r>
              <a:rPr lang="en-US" sz="2800" b="1" dirty="0" err="1"/>
              <a:t>Eg</a:t>
            </a:r>
            <a:r>
              <a:rPr lang="en-US" sz="2800" b="1" dirty="0"/>
              <a:t> Touch sensor </a:t>
            </a:r>
            <a:r>
              <a:rPr lang="en-US" sz="2800" b="1" dirty="0" err="1"/>
              <a:t>cct</a:t>
            </a:r>
            <a:r>
              <a:rPr lang="en-US" sz="2800" b="1" dirty="0"/>
              <a:t>. diagram.</a:t>
            </a:r>
          </a:p>
          <a:p>
            <a:endParaRPr lang="en-US" sz="2800" b="1" dirty="0"/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ADA3C4-BFC4-8472-2E49-A7AA463E1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"/>
            <a:ext cx="8610600" cy="271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344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95F915E-AF80-B688-B177-C9BFCE9A38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28600"/>
            <a:ext cx="4420132" cy="426720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B2E7F9-371B-5C1C-DCA2-5F95C5DDBC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68" y="228600"/>
            <a:ext cx="4420132" cy="426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858A31-D6C2-1B0C-5291-0BBA5D6940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04" y="4525537"/>
            <a:ext cx="8810527" cy="96720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8430690" cy="995082"/>
          </a:xfrm>
        </p:spPr>
        <p:txBody>
          <a:bodyPr/>
          <a:lstStyle/>
          <a:p>
            <a:r>
              <a:rPr lang="en-US" dirty="0"/>
              <a:t>Identifier all the symbols in the </a:t>
            </a:r>
            <a:r>
              <a:rPr lang="en-US" dirty="0" err="1"/>
              <a:t>cct</a:t>
            </a:r>
            <a:r>
              <a:rPr lang="en-US" dirty="0"/>
              <a:t>. below.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B62F49-0754-D11E-880E-FC0A039DB8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144364"/>
            <a:ext cx="8763000" cy="4485036"/>
          </a:xfr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6F4EC-664A-2BC0-3EE9-7303992EF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147482"/>
          </a:xfrm>
        </p:spPr>
        <p:txBody>
          <a:bodyPr/>
          <a:lstStyle/>
          <a:p>
            <a:r>
              <a:rPr lang="en-GB" sz="2000" dirty="0"/>
              <a:t>What is the function of this circuit below?</a:t>
            </a:r>
            <a:br>
              <a:rPr lang="en-GB" sz="2000" dirty="0"/>
            </a:br>
            <a:r>
              <a:rPr lang="en-GB" sz="2000" dirty="0"/>
              <a:t>List all the components for the circuit below.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9BA966-9C23-232E-8C56-19C4182EB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853248"/>
            <a:ext cx="8686799" cy="4395152"/>
          </a:xfrm>
        </p:spPr>
      </p:pic>
    </p:spTree>
    <p:extLst>
      <p:ext uri="{BB962C8B-B14F-4D97-AF65-F5344CB8AC3E}">
        <p14:creationId xmlns:p14="http://schemas.microsoft.com/office/powerpoint/2010/main" val="41603707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C8631-A0DC-63E4-14D9-FC8A40D9D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9A849C-884B-A60C-6333-E26D2AF25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2400"/>
            <a:ext cx="5638800" cy="64008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11BB2A-5A63-7846-4570-75962465D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52400"/>
            <a:ext cx="3019846" cy="625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678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C:\Users\Wabis\Pictures\ss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9154" name="Picture 2" descr="C:\Users\Wabis\Pictures\sold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697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0178" name="Picture 2" descr="C:\Users\Wabis\Pictures\pcc 6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02" name="Picture 2" descr="C:\Users\Wabis\Pictures\pcb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9218" y="0"/>
            <a:ext cx="9094781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66800"/>
            <a:ext cx="8229600" cy="16002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With these components below design a simple strobe circuit.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895600"/>
            <a:ext cx="8229600" cy="4389120"/>
          </a:xfrm>
        </p:spPr>
        <p:txBody>
          <a:bodyPr/>
          <a:lstStyle/>
          <a:p>
            <a:r>
              <a:rPr lang="en-US" dirty="0"/>
              <a:t>Transistor- (BC 547)</a:t>
            </a:r>
          </a:p>
          <a:p>
            <a:r>
              <a:rPr lang="en-US" dirty="0"/>
              <a:t>Capacitor</a:t>
            </a:r>
          </a:p>
          <a:p>
            <a:r>
              <a:rPr lang="en-US" dirty="0"/>
              <a:t>LED</a:t>
            </a:r>
          </a:p>
          <a:p>
            <a:r>
              <a:rPr lang="en-US" dirty="0"/>
              <a:t>Resistor (One K)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A75281-4D15-51DE-3937-A1EA1AEB5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2895599"/>
            <a:ext cx="3748430" cy="350561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990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With these components below design an LED chaser circuit.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971800"/>
            <a:ext cx="9144000" cy="4495800"/>
          </a:xfrm>
        </p:spPr>
        <p:txBody>
          <a:bodyPr/>
          <a:lstStyle/>
          <a:p>
            <a:r>
              <a:rPr lang="en-US" dirty="0"/>
              <a:t>Transistor- C9014</a:t>
            </a:r>
          </a:p>
          <a:p>
            <a:r>
              <a:rPr lang="en-US" dirty="0"/>
              <a:t>LED</a:t>
            </a:r>
          </a:p>
          <a:p>
            <a:r>
              <a:rPr lang="en-US" dirty="0"/>
              <a:t>Capacitor</a:t>
            </a:r>
          </a:p>
          <a:p>
            <a:r>
              <a:rPr lang="en-US" dirty="0"/>
              <a:t>Resistor- 10K,560 ohm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59" y="-304800"/>
            <a:ext cx="9144000" cy="12954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With these components below design a Non-inverting amplifier.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  <a:ext cx="8686800" cy="3886200"/>
          </a:xfrm>
        </p:spPr>
        <p:txBody>
          <a:bodyPr/>
          <a:lstStyle/>
          <a:p>
            <a:r>
              <a:rPr lang="en-US" dirty="0"/>
              <a:t>IC- UA 741</a:t>
            </a:r>
          </a:p>
          <a:p>
            <a:r>
              <a:rPr lang="en-US" dirty="0"/>
              <a:t>Resistor – 10K, 47K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9394" name="Picture 2" descr="C:\Users\Wabis\Pictures\opppp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95600"/>
            <a:ext cx="9144000" cy="3962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With these components below design an inverting amplifier.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6000"/>
            <a:ext cx="8686800" cy="4038600"/>
          </a:xfrm>
        </p:spPr>
        <p:txBody>
          <a:bodyPr/>
          <a:lstStyle/>
          <a:p>
            <a:r>
              <a:rPr lang="en-US" dirty="0"/>
              <a:t>IC- UA 741</a:t>
            </a:r>
          </a:p>
          <a:p>
            <a:r>
              <a:rPr lang="en-US" dirty="0"/>
              <a:t>Resistor – 10K, 47K</a:t>
            </a:r>
          </a:p>
          <a:p>
            <a:endParaRPr lang="en-US" dirty="0"/>
          </a:p>
        </p:txBody>
      </p:sp>
      <p:pic>
        <p:nvPicPr>
          <p:cNvPr id="58370" name="Picture 2" descr="C:\Users\Wabis\Pictures\741  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05200"/>
            <a:ext cx="9144000" cy="3352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819400"/>
            <a:ext cx="5181600" cy="1066800"/>
          </a:xfrm>
        </p:spPr>
        <p:txBody>
          <a:bodyPr>
            <a:noAutofit/>
          </a:bodyPr>
          <a:lstStyle/>
          <a:p>
            <a:r>
              <a:rPr lang="en-US" sz="8000" dirty="0">
                <a:latin typeface="Algerian" pitchFamily="82" charset="0"/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7030</TotalTime>
  <Words>230</Words>
  <Application>Microsoft Office PowerPoint</Application>
  <PresentationFormat>On-screen Show (4:3)</PresentationFormat>
  <Paragraphs>32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Algerian</vt:lpstr>
      <vt:lpstr>Arial</vt:lpstr>
      <vt:lpstr>Century Gothic</vt:lpstr>
      <vt:lpstr>Wingdings 3</vt:lpstr>
      <vt:lpstr>Ion</vt:lpstr>
      <vt:lpstr>BASIC ELECTRONIC LAB.  </vt:lpstr>
      <vt:lpstr>PowerPoint Presentation</vt:lpstr>
      <vt:lpstr>An electronic  component  is  any  basic  discrete  device  or  physical entity  in  an  electronic  system used  to affect  electrons  or  their associated fields.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 the value of these resistors.</vt:lpstr>
      <vt:lpstr>PowerPoint Presentation</vt:lpstr>
      <vt:lpstr>PowerPoint Presentation</vt:lpstr>
      <vt:lpstr>PowerPoint Presentation</vt:lpstr>
      <vt:lpstr>PowerPoint Presentation</vt:lpstr>
      <vt:lpstr> How would you determine the polarity of these type of capacitors below. </vt:lpstr>
      <vt:lpstr>PowerPoint Presentation</vt:lpstr>
      <vt:lpstr>PowerPoint Presentation</vt:lpstr>
      <vt:lpstr>PowerPoint Presentation</vt:lpstr>
      <vt:lpstr>Classification of inductors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Identifier all the symbols in the cct. below.</vt:lpstr>
      <vt:lpstr>What is the function of this circuit below? List all the components for the circuit below.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With these components below design a simple strobe circuit. </vt:lpstr>
      <vt:lpstr>With these components below design an LED chaser circuit.</vt:lpstr>
      <vt:lpstr> With these components below design a Non-inverting amplifier.</vt:lpstr>
      <vt:lpstr>  With these components below design an inverting amplifier.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Wabis</dc:creator>
  <cp:lastModifiedBy>TME</cp:lastModifiedBy>
  <cp:revision>14</cp:revision>
  <dcterms:created xsi:type="dcterms:W3CDTF">2021-01-13T18:31:54Z</dcterms:created>
  <dcterms:modified xsi:type="dcterms:W3CDTF">2023-02-05T15:41:52Z</dcterms:modified>
</cp:coreProperties>
</file>